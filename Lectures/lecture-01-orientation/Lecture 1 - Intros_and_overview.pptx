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Roboto Mono Light"/>
      <p:regular r:id="rId43"/>
      <p:bold r:id="rId44"/>
      <p:italic r:id="rId45"/>
      <p:boldItalic r:id="rId46"/>
    </p:embeddedFont>
    <p:embeddedFont>
      <p:font typeface="Roboto Light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RobotoMonoLight-bold.fntdata"/><Relationship Id="rId43" Type="http://schemas.openxmlformats.org/officeDocument/2006/relationships/font" Target="fonts/RobotoMonoLight-regular.fntdata"/><Relationship Id="rId46" Type="http://schemas.openxmlformats.org/officeDocument/2006/relationships/font" Target="fonts/RobotoMonoLight-boldItalic.fntdata"/><Relationship Id="rId45" Type="http://schemas.openxmlformats.org/officeDocument/2006/relationships/font" Target="fonts/RobotoMono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Light-bold.fntdata"/><Relationship Id="rId47" Type="http://schemas.openxmlformats.org/officeDocument/2006/relationships/font" Target="fonts/RobotoLight-regular.fntdata"/><Relationship Id="rId49" Type="http://schemas.openxmlformats.org/officeDocument/2006/relationships/font" Target="fonts/Roboto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Roboto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Roboto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818d14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818d14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818d14a4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818d14a4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935d4e666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935d4e66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935d4e666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935d4e666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935d4e666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935d4e666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935d4e666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935d4e666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935d4e66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935d4e66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935d4e666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935d4e666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935d4e66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935d4e66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935d4e666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935d4e666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935d4e666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935d4e666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35d4e66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935d4e66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935d4e666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935d4e666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935d4e666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935d4e666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935d4e666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935d4e666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935d4e666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935d4e666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935d4e666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935d4e666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935d4e66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935d4e66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935d4e666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935d4e666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935d4e666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b935d4e666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935d4e666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935d4e666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935d4e666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935d4e66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935d4e66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935d4e66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935d4e666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b935d4e666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935d4e666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935d4e666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935d4e666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b935d4e666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935d4e666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b935d4e66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935d4e666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935d4e666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935d4e666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b935d4e666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935d4e666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935d4e666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935d4e666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935d4e666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935d4e666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935d4e666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_1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8" y="363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04600" y="24650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804500" y="28231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796664" y="31159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481314" y="3186725"/>
            <a:ext cx="217200" cy="160400"/>
            <a:chOff x="481314" y="3186725"/>
            <a:chExt cx="217200" cy="160400"/>
          </a:xfrm>
        </p:grpSpPr>
        <p:sp>
          <p:nvSpPr>
            <p:cNvPr id="14" name="Google Shape;14;p2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481325" y="2878175"/>
            <a:ext cx="217200" cy="192637"/>
            <a:chOff x="481175" y="2886675"/>
            <a:chExt cx="217200" cy="192637"/>
          </a:xfrm>
        </p:grpSpPr>
        <p:sp>
          <p:nvSpPr>
            <p:cNvPr id="19" name="Google Shape;19;p2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" name="Google Shape;21;p2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" name="Google Shape;23;p2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" name="Google Shape;24;p2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" name="Google Shape;34;p2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35" name="Google Shape;35;p2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" name="Google Shape;38;p2"/>
          <p:cNvGrpSpPr/>
          <p:nvPr/>
        </p:nvGrpSpPr>
        <p:grpSpPr>
          <a:xfrm>
            <a:off x="481334" y="2533056"/>
            <a:ext cx="217170" cy="213486"/>
            <a:chOff x="997925" y="1292537"/>
            <a:chExt cx="703500" cy="691563"/>
          </a:xfrm>
        </p:grpSpPr>
        <p:sp>
          <p:nvSpPr>
            <p:cNvPr id="39" name="Google Shape;39;p2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2"/>
          <p:cNvSpPr txBox="1"/>
          <p:nvPr>
            <p:ph idx="4" type="subTitle"/>
          </p:nvPr>
        </p:nvSpPr>
        <p:spPr>
          <a:xfrm>
            <a:off x="804589" y="3418613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pic>
        <p:nvPicPr>
          <p:cNvPr id="43" name="Google Shape;4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7575" y="3466780"/>
            <a:ext cx="181600" cy="164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2"/>
          <p:cNvGrpSpPr/>
          <p:nvPr/>
        </p:nvGrpSpPr>
        <p:grpSpPr>
          <a:xfrm>
            <a:off x="537347" y="3483320"/>
            <a:ext cx="214913" cy="189849"/>
            <a:chOff x="577506" y="3463050"/>
            <a:chExt cx="214913" cy="189849"/>
          </a:xfrm>
        </p:grpSpPr>
        <p:pic>
          <p:nvPicPr>
            <p:cNvPr id="45" name="Google Shape;45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506" y="3463050"/>
              <a:ext cx="214913" cy="189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4164" y="3477775"/>
              <a:ext cx="181597" cy="16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1_1_2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ctrTitle"/>
          </p:nvPr>
        </p:nvSpPr>
        <p:spPr>
          <a:xfrm>
            <a:off x="311708" y="668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804600" y="27698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" name="Google Shape;50;p3"/>
          <p:cNvSpPr txBox="1"/>
          <p:nvPr>
            <p:ph idx="2" type="subTitle"/>
          </p:nvPr>
        </p:nvSpPr>
        <p:spPr>
          <a:xfrm>
            <a:off x="804500" y="31279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1" name="Google Shape;51;p3"/>
          <p:cNvSpPr txBox="1"/>
          <p:nvPr>
            <p:ph idx="3" type="subTitle"/>
          </p:nvPr>
        </p:nvSpPr>
        <p:spPr>
          <a:xfrm>
            <a:off x="796664" y="34207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52" name="Google Shape;52;p3"/>
          <p:cNvGrpSpPr/>
          <p:nvPr/>
        </p:nvGrpSpPr>
        <p:grpSpPr>
          <a:xfrm>
            <a:off x="481314" y="3491525"/>
            <a:ext cx="217200" cy="160400"/>
            <a:chOff x="481314" y="3186725"/>
            <a:chExt cx="217200" cy="160400"/>
          </a:xfrm>
        </p:grpSpPr>
        <p:sp>
          <p:nvSpPr>
            <p:cNvPr id="53" name="Google Shape;53;p3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7" name="Google Shape;57;p3"/>
          <p:cNvGrpSpPr/>
          <p:nvPr/>
        </p:nvGrpSpPr>
        <p:grpSpPr>
          <a:xfrm>
            <a:off x="481325" y="3182975"/>
            <a:ext cx="217200" cy="192637"/>
            <a:chOff x="481175" y="2886675"/>
            <a:chExt cx="217200" cy="192637"/>
          </a:xfrm>
        </p:grpSpPr>
        <p:sp>
          <p:nvSpPr>
            <p:cNvPr id="58" name="Google Shape;58;p3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" name="Google Shape;60;p3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61" name="Google Shape;61;p3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2" name="Google Shape;62;p3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3" name="Google Shape;63;p3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64" name="Google Shape;64;p3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3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67" name="Google Shape;67;p3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" name="Google Shape;73;p3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" name="Google Shape;77;p3"/>
          <p:cNvGrpSpPr/>
          <p:nvPr/>
        </p:nvGrpSpPr>
        <p:grpSpPr>
          <a:xfrm>
            <a:off x="481334" y="2837856"/>
            <a:ext cx="217170" cy="213486"/>
            <a:chOff x="997925" y="1292537"/>
            <a:chExt cx="703500" cy="691563"/>
          </a:xfrm>
        </p:grpSpPr>
        <p:sp>
          <p:nvSpPr>
            <p:cNvPr id="78" name="Google Shape;78;p3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" name="Google Shape;81;p3"/>
          <p:cNvPicPr preferRelativeResize="0"/>
          <p:nvPr/>
        </p:nvPicPr>
        <p:blipFill rotWithShape="1">
          <a:blip r:embed="rId2">
            <a:alphaModFix/>
          </a:blip>
          <a:srcRect b="11004" l="0" r="0" t="11011"/>
          <a:stretch/>
        </p:blipFill>
        <p:spPr>
          <a:xfrm>
            <a:off x="141596" y="4681554"/>
            <a:ext cx="3154850" cy="382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1_1_1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25" y="3857251"/>
            <a:ext cx="990648" cy="99064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 txBox="1"/>
          <p:nvPr>
            <p:ph type="ctrTitle"/>
          </p:nvPr>
        </p:nvSpPr>
        <p:spPr>
          <a:xfrm>
            <a:off x="311708" y="363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" name="Google Shape;85;p4"/>
          <p:cNvSpPr txBox="1"/>
          <p:nvPr>
            <p:ph idx="1" type="subTitle"/>
          </p:nvPr>
        </p:nvSpPr>
        <p:spPr>
          <a:xfrm>
            <a:off x="804600" y="24650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4"/>
          <p:cNvSpPr txBox="1"/>
          <p:nvPr>
            <p:ph idx="2" type="subTitle"/>
          </p:nvPr>
        </p:nvSpPr>
        <p:spPr>
          <a:xfrm>
            <a:off x="804500" y="28231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7" name="Google Shape;87;p4"/>
          <p:cNvSpPr txBox="1"/>
          <p:nvPr>
            <p:ph idx="3" type="subTitle"/>
          </p:nvPr>
        </p:nvSpPr>
        <p:spPr>
          <a:xfrm>
            <a:off x="796664" y="31159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88" name="Google Shape;88;p4"/>
          <p:cNvGrpSpPr/>
          <p:nvPr/>
        </p:nvGrpSpPr>
        <p:grpSpPr>
          <a:xfrm>
            <a:off x="481314" y="3186725"/>
            <a:ext cx="217200" cy="160400"/>
            <a:chOff x="481314" y="3186725"/>
            <a:chExt cx="217200" cy="160400"/>
          </a:xfrm>
        </p:grpSpPr>
        <p:sp>
          <p:nvSpPr>
            <p:cNvPr id="89" name="Google Shape;89;p4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93" name="Google Shape;93;p4"/>
          <p:cNvGrpSpPr/>
          <p:nvPr/>
        </p:nvGrpSpPr>
        <p:grpSpPr>
          <a:xfrm>
            <a:off x="481325" y="2878175"/>
            <a:ext cx="217200" cy="192637"/>
            <a:chOff x="481175" y="2886675"/>
            <a:chExt cx="217200" cy="192637"/>
          </a:xfrm>
        </p:grpSpPr>
        <p:sp>
          <p:nvSpPr>
            <p:cNvPr id="94" name="Google Shape;94;p4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4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97" name="Google Shape;97;p4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8" name="Google Shape;98;p4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9" name="Google Shape;99;p4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100" name="Google Shape;100;p4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" name="Google Shape;102;p4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103" name="Google Shape;103;p4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4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106" name="Google Shape;106;p4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" name="Google Shape;109;p4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110" name="Google Shape;110;p4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3" name="Google Shape;113;p4"/>
          <p:cNvGrpSpPr/>
          <p:nvPr/>
        </p:nvGrpSpPr>
        <p:grpSpPr>
          <a:xfrm>
            <a:off x="481334" y="2533056"/>
            <a:ext cx="217170" cy="213486"/>
            <a:chOff x="997925" y="1292537"/>
            <a:chExt cx="703500" cy="691563"/>
          </a:xfrm>
        </p:grpSpPr>
        <p:sp>
          <p:nvSpPr>
            <p:cNvPr id="114" name="Google Shape;114;p4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11004" l="0" r="0" t="11011"/>
          <a:stretch/>
        </p:blipFill>
        <p:spPr>
          <a:xfrm>
            <a:off x="5888196" y="4667404"/>
            <a:ext cx="3154850" cy="38239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>
            <p:ph idx="4" type="subTitle"/>
          </p:nvPr>
        </p:nvSpPr>
        <p:spPr>
          <a:xfrm>
            <a:off x="804589" y="3418613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pic>
        <p:nvPicPr>
          <p:cNvPr id="119" name="Google Shape;11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575" y="3466780"/>
            <a:ext cx="181600" cy="164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4"/>
          <p:cNvGrpSpPr/>
          <p:nvPr/>
        </p:nvGrpSpPr>
        <p:grpSpPr>
          <a:xfrm>
            <a:off x="537347" y="3483320"/>
            <a:ext cx="214913" cy="189849"/>
            <a:chOff x="577506" y="3463050"/>
            <a:chExt cx="214913" cy="189849"/>
          </a:xfrm>
        </p:grpSpPr>
        <p:pic>
          <p:nvPicPr>
            <p:cNvPr id="121" name="Google Shape;121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506" y="3463050"/>
              <a:ext cx="214913" cy="189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94164" y="3477775"/>
              <a:ext cx="181597" cy="16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41" name="Google Shape;1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2" name="Google Shape;1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3" name="Google Shape;1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>
                <a:solidFill>
                  <a:schemeClr val="accent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2" name="Google Shape;152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3" name="Google Shape;15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A">
  <p:cSld name="CUSTOM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>
            <p:ph idx="2" type="pic"/>
          </p:nvPr>
        </p:nvSpPr>
        <p:spPr>
          <a:xfrm>
            <a:off x="3035838" y="1471024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256050" y="253350"/>
            <a:ext cx="8631900" cy="8505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/>
        </p:nvSpPr>
        <p:spPr>
          <a:xfrm>
            <a:off x="256062" y="120584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256062" y="330896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6382542" y="120512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1088166" y="1250719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3" type="body"/>
          </p:nvPr>
        </p:nvSpPr>
        <p:spPr>
          <a:xfrm>
            <a:off x="7223790" y="1249991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" name="Google Shape;162;p16"/>
          <p:cNvSpPr txBox="1"/>
          <p:nvPr>
            <p:ph idx="4" type="body"/>
          </p:nvPr>
        </p:nvSpPr>
        <p:spPr>
          <a:xfrm>
            <a:off x="7223790" y="3353111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63" name="Google Shape;163;p16"/>
          <p:cNvCxnSpPr/>
          <p:nvPr/>
        </p:nvCxnSpPr>
        <p:spPr>
          <a:xfrm>
            <a:off x="628506" y="140695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6"/>
          <p:cNvCxnSpPr/>
          <p:nvPr/>
        </p:nvCxnSpPr>
        <p:spPr>
          <a:xfrm>
            <a:off x="628506" y="3509382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6"/>
          <p:cNvCxnSpPr/>
          <p:nvPr/>
        </p:nvCxnSpPr>
        <p:spPr>
          <a:xfrm>
            <a:off x="6760631" y="1406288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6"/>
          <p:cNvCxnSpPr/>
          <p:nvPr/>
        </p:nvCxnSpPr>
        <p:spPr>
          <a:xfrm>
            <a:off x="6760631" y="350940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6"/>
          <p:cNvSpPr txBox="1"/>
          <p:nvPr/>
        </p:nvSpPr>
        <p:spPr>
          <a:xfrm>
            <a:off x="6382546" y="330823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8" name="Google Shape;168;p16"/>
          <p:cNvSpPr txBox="1"/>
          <p:nvPr>
            <p:ph idx="5" type="body"/>
          </p:nvPr>
        </p:nvSpPr>
        <p:spPr>
          <a:xfrm>
            <a:off x="1088166" y="3353839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3" name="Google Shape;173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4" name="Google Shape;174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Text">
  <p:cSld name="1 Column 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493775" y="976232"/>
            <a:ext cx="57960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44444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type="title"/>
          </p:nvPr>
        </p:nvSpPr>
        <p:spPr>
          <a:xfrm>
            <a:off x="493775" y="227102"/>
            <a:ext cx="78867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4F91"/>
              </a:buClr>
              <a:buSzPts val="2700"/>
              <a:buFont typeface="Arial"/>
              <a:buNone/>
              <a:defRPr b="0" i="0" sz="2700">
                <a:solidFill>
                  <a:srgbClr val="1D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493776" y="2889721"/>
            <a:ext cx="49788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19"/>
          <p:cNvSpPr txBox="1"/>
          <p:nvPr>
            <p:ph type="ctrTitle"/>
          </p:nvPr>
        </p:nvSpPr>
        <p:spPr>
          <a:xfrm>
            <a:off x="493776" y="1022130"/>
            <a:ext cx="4978800" cy="17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rm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rgbClr val="1D4F91"/>
              </a:buClr>
              <a:buSzPts val="4500"/>
              <a:buFont typeface="Arial"/>
              <a:buNone/>
              <a:defRPr b="0" i="0" sz="4500" cap="none">
                <a:solidFill>
                  <a:srgbClr val="1D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>
            <p:ph idx="2" type="body"/>
          </p:nvPr>
        </p:nvSpPr>
        <p:spPr>
          <a:xfrm>
            <a:off x="493777" y="3714749"/>
            <a:ext cx="49788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i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0"/>
          <p:cNvSpPr txBox="1"/>
          <p:nvPr>
            <p:ph idx="1" type="subTitle"/>
          </p:nvPr>
        </p:nvSpPr>
        <p:spPr>
          <a:xfrm>
            <a:off x="311700" y="4663225"/>
            <a:ext cx="852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●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●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BINF 4002</a:t>
            </a:r>
            <a:endParaRPr/>
          </a:p>
        </p:txBody>
      </p:sp>
      <p:sp>
        <p:nvSpPr>
          <p:cNvPr id="191" name="Google Shape;19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Class</a:t>
            </a:r>
            <a:endParaRPr/>
          </a:p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Introductions!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Course Logistics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Goals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~ Syllabus / Assignments / Exams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Activity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203" name="Google Shape;20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Lectures Tue/Thu, 9-10:15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Recitations Mondays 9-10am (starting next week)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There will be 3 assignments, a Paper / Paper Discussion, and a Final Exam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Platforms: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Courseworks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Ed / Slack / canvas / harmonize / piazza </a:t>
            </a:r>
            <a:r>
              <a:rPr lang="en"/>
              <a:t>(poll?)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43146" t="0"/>
          <a:stretch/>
        </p:blipFill>
        <p:spPr>
          <a:xfrm>
            <a:off x="152400" y="152400"/>
            <a:ext cx="3788175" cy="251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725" y="152400"/>
            <a:ext cx="3941886" cy="48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Lectures Tue/Thu, 9-10:15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Recitations Mondays 9-10am (starting next week)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There will be 3 assignments, a Paper / Paper Discussion, and a Final Exam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Platforms: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Courseworks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Ed / Slack / canvas / harmonize / piazza (poll?)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Question: Flipped classroom?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Goals &amp; Expectations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It is </a:t>
            </a:r>
            <a:r>
              <a:rPr i="1" lang="en"/>
              <a:t>not</a:t>
            </a:r>
            <a:r>
              <a:rPr lang="en"/>
              <a:t> my goal with this course to give you the most direct path to practical readiness.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Expectations</a:t>
            </a:r>
            <a:endParaRPr/>
          </a:p>
        </p:txBody>
      </p:sp>
      <p:sp>
        <p:nvSpPr>
          <p:cNvPr id="227" name="Google Shape;22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</a:t>
            </a:r>
            <a:r>
              <a:rPr i="1" lang="en"/>
              <a:t>not</a:t>
            </a:r>
            <a:r>
              <a:rPr lang="en"/>
              <a:t> my goal with this course to give you the most direct path to practical readiness.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because that path changes rapidly as technology changes, and intuition/understanding will serve you better in the long term.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Expectations</a:t>
            </a:r>
            <a:endParaRPr/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My goal is to give you sufficient mathematical and computational understanding to have an effective intuition and a </a:t>
            </a:r>
            <a:r>
              <a:rPr i="1" lang="en"/>
              <a:t>health epistemic uncertainty</a:t>
            </a:r>
            <a:r>
              <a:rPr lang="en"/>
              <a:t> about topics in ML/AI.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Expectations</a:t>
            </a:r>
            <a:endParaRPr/>
          </a:p>
        </p:txBody>
      </p:sp>
      <p:sp>
        <p:nvSpPr>
          <p:cNvPr id="239" name="Google Shape;23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goal is to give you sufficient mathematical and computational understanding to have an effective intuition and a </a:t>
            </a:r>
            <a:r>
              <a:rPr i="1" lang="en"/>
              <a:t>health epistemic uncertainty</a:t>
            </a:r>
            <a:r>
              <a:rPr lang="en"/>
              <a:t> about topics in ML/AI.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And secondarily, to have you appreciate why ML/AI for health/biomedicine is different than other areas of ML/AI.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Expectations</a:t>
            </a:r>
            <a:endParaRPr/>
          </a:p>
        </p:txBody>
      </p:sp>
      <p:sp>
        <p:nvSpPr>
          <p:cNvPr id="245" name="Google Shape;24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It is my expectation that you will learn independently, outside of class.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Expectations</a:t>
            </a:r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my expectation that you will learn independently, outside of class.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because (a) we have too much background material to cover and (b) ChatGPT &amp; other tools have lowered the barrier to independent learning.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Goals &amp; Expectations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 will be presenting my views on this field, not necessarily the field consensus.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Expectations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be presenting my views on this field, not necessarily the field consensus.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because I’m teaching the course so I get to.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Expectations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It is my intent to be organized and proactive with this course.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Expectations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It is my </a:t>
            </a:r>
            <a:r>
              <a:rPr i="1" lang="en"/>
              <a:t>intent</a:t>
            </a:r>
            <a:r>
              <a:rPr lang="en"/>
              <a:t> to be organized and proactive with this course.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Expectations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 will treat all of you as though you are here to learn in good faith, and ask that you assume that I and the teaching staff are here to teach in good faith.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Expectations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Columbia policies trump anything I or others in the teaching staff say at any time.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Approximate Syllabus</a:t>
            </a:r>
            <a:endParaRPr/>
          </a:p>
        </p:txBody>
      </p:sp>
      <p:sp>
        <p:nvSpPr>
          <p:cNvPr id="293" name="Google Shape;29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Through February: Math background refresh.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Through spring break: ML Fundamentals refresh.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After spring break: ML for health specifically.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Approximate Syllabus</a:t>
            </a:r>
            <a:endParaRPr/>
          </a:p>
        </p:txBody>
      </p:sp>
      <p:sp>
        <p:nvSpPr>
          <p:cNvPr id="299" name="Google Shape;29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Through February: Math background refresh.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Linear algebra, probability, calculus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Through spring break: ML Fundamentals refresh.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Optimization, ML evaluation, training, development, data types, losses, models, and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After spring break: ML for health specifically.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Health data differences, health model differences, health deployments.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Assignments &amp; exams</a:t>
            </a:r>
            <a:endParaRPr/>
          </a:p>
        </p:txBody>
      </p:sp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Likely 3 assignments, colab notebooks including coding and mathematical (latex) components.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team paper on a deep dive of an ML topic (e.g., model type) and its current usage, followed by a discussion / oral exam on that paper.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final exam.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311700" y="445025"/>
            <a:ext cx="8520600" cy="1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Activity: Epistemic Humility</a:t>
            </a:r>
            <a:br>
              <a:rPr lang="en"/>
            </a:br>
            <a:r>
              <a:rPr i="1" lang="en" sz="2200"/>
              <a:t>a</a:t>
            </a:r>
            <a:r>
              <a:rPr i="1" lang="en" sz="2200"/>
              <a:t>.k.a. be confidently uncertain, be happy to be wrong</a:t>
            </a:r>
            <a:endParaRPr i="1" sz="2200"/>
          </a:p>
        </p:txBody>
      </p:sp>
      <p:cxnSp>
        <p:nvCxnSpPr>
          <p:cNvPr id="311" name="Google Shape;311;p41"/>
          <p:cNvCxnSpPr/>
          <p:nvPr/>
        </p:nvCxnSpPr>
        <p:spPr>
          <a:xfrm>
            <a:off x="1902375" y="4054025"/>
            <a:ext cx="2281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41"/>
          <p:cNvCxnSpPr/>
          <p:nvPr/>
        </p:nvCxnSpPr>
        <p:spPr>
          <a:xfrm rot="10800000">
            <a:off x="2054775" y="2165525"/>
            <a:ext cx="0" cy="204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41"/>
          <p:cNvSpPr txBox="1"/>
          <p:nvPr/>
        </p:nvSpPr>
        <p:spPr>
          <a:xfrm>
            <a:off x="194475" y="2165525"/>
            <a:ext cx="17826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Ice cream sales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14" name="Google Shape;314;p41"/>
          <p:cNvSpPr txBox="1"/>
          <p:nvPr/>
        </p:nvSpPr>
        <p:spPr>
          <a:xfrm>
            <a:off x="1902375" y="4054025"/>
            <a:ext cx="228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Drowning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15" name="Google Shape;315;p41"/>
          <p:cNvSpPr txBox="1"/>
          <p:nvPr/>
        </p:nvSpPr>
        <p:spPr>
          <a:xfrm>
            <a:off x="2054775" y="2165525"/>
            <a:ext cx="2128800" cy="18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?</a:t>
            </a:r>
            <a:endParaRPr sz="9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16" name="Google Shape;316;p41"/>
          <p:cNvSpPr txBox="1"/>
          <p:nvPr/>
        </p:nvSpPr>
        <p:spPr>
          <a:xfrm>
            <a:off x="5068875" y="2286475"/>
            <a:ext cx="35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Fact: What’s the shape?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17" name="Google Shape;317;p41"/>
          <p:cNvSpPr txBox="1"/>
          <p:nvPr/>
        </p:nvSpPr>
        <p:spPr>
          <a:xfrm>
            <a:off x="5068875" y="2878925"/>
            <a:ext cx="35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Argument: Why that shape?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18" name="Google Shape;318;p41"/>
          <p:cNvSpPr txBox="1"/>
          <p:nvPr/>
        </p:nvSpPr>
        <p:spPr>
          <a:xfrm>
            <a:off x="5068875" y="3471375"/>
            <a:ext cx="35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Plausibility: Why that argument?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319" name="Google Shape;319;p41"/>
          <p:cNvCxnSpPr>
            <a:stCxn id="315" idx="3"/>
            <a:endCxn id="316" idx="1"/>
          </p:cNvCxnSpPr>
          <p:nvPr/>
        </p:nvCxnSpPr>
        <p:spPr>
          <a:xfrm flipH="1" rot="10800000">
            <a:off x="4183575" y="2517275"/>
            <a:ext cx="885300" cy="5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41"/>
          <p:cNvCxnSpPr>
            <a:stCxn id="315" idx="3"/>
            <a:endCxn id="317" idx="1"/>
          </p:cNvCxnSpPr>
          <p:nvPr/>
        </p:nvCxnSpPr>
        <p:spPr>
          <a:xfrm>
            <a:off x="4183575" y="3109775"/>
            <a:ext cx="88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1"/>
          <p:cNvCxnSpPr>
            <a:stCxn id="315" idx="3"/>
            <a:endCxn id="318" idx="1"/>
          </p:cNvCxnSpPr>
          <p:nvPr/>
        </p:nvCxnSpPr>
        <p:spPr>
          <a:xfrm>
            <a:off x="4183575" y="3109775"/>
            <a:ext cx="885300" cy="5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Activity! Initial assessment</a:t>
            </a:r>
            <a:endParaRPr/>
          </a:p>
        </p:txBody>
      </p:sp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11 concepts / questions, 90 seconds per concept, one page per concept.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“Concept” will actually be set of related 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each concept / question, attempt to (NOT IN ORDER):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Define the concept (formally, mathematically, operationally)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Describe the concept (qualitatively, with examples) and its key properties / related concepts.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Draw the concept (with a simple cartoon)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Not graded, not expecting you to finish everything. The goal of this is to calibrate the teaching staff on what you know.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AutoNum type="arabicPeriod"/>
            </a:pPr>
            <a:r>
              <a:rPr lang="en"/>
              <a:t>Vector / Vector Space / Linear Operator / Matrix?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AutoNum type="arabicPeriod" startAt="2"/>
            </a:pPr>
            <a:r>
              <a:rPr lang="en"/>
              <a:t>Random variable / PDF / PMF / Expectation?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AutoNum type="arabicPeriod" startAt="3"/>
            </a:pPr>
            <a:r>
              <a:rPr lang="en"/>
              <a:t>Joint / Conditional / Marginal Random variable?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AutoNum type="arabicPeriod" startAt="4"/>
            </a:pPr>
            <a:r>
              <a:rPr lang="en"/>
              <a:t>Information content, Entropy, Mutual information?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7"/>
          <p:cNvSpPr txBox="1"/>
          <p:nvPr>
            <p:ph type="title"/>
          </p:nvPr>
        </p:nvSpPr>
        <p:spPr>
          <a:xfrm>
            <a:off x="490250" y="450150"/>
            <a:ext cx="7483200" cy="134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-5029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5"/>
            </a:pPr>
            <a:r>
              <a:rPr lang="en"/>
              <a:t>Gradient?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56"/>
              <a:t>Also draw the gradient on this function at the indicated points</a:t>
            </a:r>
            <a:endParaRPr sz="3356"/>
          </a:p>
        </p:txBody>
      </p:sp>
      <p:cxnSp>
        <p:nvCxnSpPr>
          <p:cNvPr id="353" name="Google Shape;353;p47"/>
          <p:cNvCxnSpPr/>
          <p:nvPr/>
        </p:nvCxnSpPr>
        <p:spPr>
          <a:xfrm>
            <a:off x="2973979" y="2190325"/>
            <a:ext cx="0" cy="2647500"/>
          </a:xfrm>
          <a:prstGeom prst="straightConnector1">
            <a:avLst/>
          </a:prstGeom>
          <a:noFill/>
          <a:ln cap="flat" cmpd="sng" w="11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47"/>
          <p:cNvCxnSpPr/>
          <p:nvPr/>
        </p:nvCxnSpPr>
        <p:spPr>
          <a:xfrm>
            <a:off x="2597600" y="4643178"/>
            <a:ext cx="3911700" cy="0"/>
          </a:xfrm>
          <a:prstGeom prst="straightConnector1">
            <a:avLst/>
          </a:prstGeom>
          <a:noFill/>
          <a:ln cap="flat" cmpd="sng" w="11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47"/>
          <p:cNvSpPr/>
          <p:nvPr/>
        </p:nvSpPr>
        <p:spPr>
          <a:xfrm>
            <a:off x="2981090" y="2622982"/>
            <a:ext cx="3565311" cy="1775736"/>
          </a:xfrm>
          <a:custGeom>
            <a:rect b="b" l="l" r="r" t="t"/>
            <a:pathLst>
              <a:path extrusionOk="0" h="60430" w="121331">
                <a:moveTo>
                  <a:pt x="0" y="60431"/>
                </a:moveTo>
                <a:cubicBezTo>
                  <a:pt x="9330" y="56045"/>
                  <a:pt x="8424" y="40543"/>
                  <a:pt x="16703" y="34399"/>
                </a:cubicBezTo>
                <a:cubicBezTo>
                  <a:pt x="19837" y="32073"/>
                  <a:pt x="23745" y="37772"/>
                  <a:pt x="27185" y="39616"/>
                </a:cubicBezTo>
                <a:cubicBezTo>
                  <a:pt x="31186" y="41760"/>
                  <a:pt x="36842" y="41073"/>
                  <a:pt x="40778" y="38813"/>
                </a:cubicBezTo>
                <a:cubicBezTo>
                  <a:pt x="48401" y="34437"/>
                  <a:pt x="52188" y="25384"/>
                  <a:pt x="57029" y="18048"/>
                </a:cubicBezTo>
                <a:cubicBezTo>
                  <a:pt x="61696" y="10976"/>
                  <a:pt x="68559" y="5030"/>
                  <a:pt x="76189" y="1346"/>
                </a:cubicBezTo>
                <a:cubicBezTo>
                  <a:pt x="83528" y="-2197"/>
                  <a:pt x="93419" y="1894"/>
                  <a:pt x="100064" y="6612"/>
                </a:cubicBezTo>
                <a:cubicBezTo>
                  <a:pt x="106595" y="11249"/>
                  <a:pt x="113593" y="19865"/>
                  <a:pt x="121331" y="17797"/>
                </a:cubicBezTo>
              </a:path>
            </a:pathLst>
          </a:custGeom>
          <a:noFill/>
          <a:ln cap="flat" cmpd="sng" w="11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56" name="Google Shape;356;p47"/>
          <p:cNvSpPr/>
          <p:nvPr/>
        </p:nvSpPr>
        <p:spPr>
          <a:xfrm>
            <a:off x="3325970" y="3739887"/>
            <a:ext cx="60300" cy="60300"/>
          </a:xfrm>
          <a:prstGeom prst="ellipse">
            <a:avLst/>
          </a:prstGeom>
          <a:solidFill>
            <a:srgbClr val="0000FF"/>
          </a:solidFill>
          <a:ln cap="flat" cmpd="sng" w="11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450" lIns="107450" spcFirstLastPara="1" rIns="107450" wrap="square" tIns="10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357" name="Google Shape;357;p47"/>
          <p:cNvSpPr/>
          <p:nvPr/>
        </p:nvSpPr>
        <p:spPr>
          <a:xfrm>
            <a:off x="3804282" y="3780466"/>
            <a:ext cx="60300" cy="60300"/>
          </a:xfrm>
          <a:prstGeom prst="ellipse">
            <a:avLst/>
          </a:prstGeom>
          <a:solidFill>
            <a:srgbClr val="980000"/>
          </a:solidFill>
          <a:ln cap="flat" cmpd="sng" w="112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450" lIns="107450" spcFirstLastPara="1" rIns="107450" wrap="square" tIns="10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358" name="Google Shape;358;p47"/>
          <p:cNvSpPr/>
          <p:nvPr/>
        </p:nvSpPr>
        <p:spPr>
          <a:xfrm>
            <a:off x="5368801" y="2588918"/>
            <a:ext cx="60300" cy="60300"/>
          </a:xfrm>
          <a:prstGeom prst="ellipse">
            <a:avLst/>
          </a:prstGeom>
          <a:solidFill>
            <a:srgbClr val="00FF00"/>
          </a:solidFill>
          <a:ln cap="flat" cmpd="sng" w="11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450" lIns="107450" spcFirstLastPara="1" rIns="107450" wrap="square" tIns="10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AutoNum type="arabicPeriod" startAt="6"/>
            </a:pPr>
            <a:r>
              <a:rPr lang="en"/>
              <a:t>Stationary point, inflection point, local vs. global minima vs maxima, saddle point?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9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AutoNum type="arabicPeriod" startAt="7"/>
            </a:pPr>
            <a:r>
              <a:rPr lang="en"/>
              <a:t>Gradient descent / stochastic gradient descent?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AutoNum type="arabicPeriod" startAt="8"/>
            </a:pPr>
            <a:r>
              <a:rPr lang="en"/>
              <a:t>Latent variable, expectation maximization?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AutoNum type="arabicPeriod" startAt="9"/>
            </a:pPr>
            <a:r>
              <a:rPr lang="en"/>
              <a:t>Binary classification, confusion matrix, AUROC?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type="title"/>
          </p:nvPr>
        </p:nvSpPr>
        <p:spPr>
          <a:xfrm>
            <a:off x="490250" y="450150"/>
            <a:ext cx="7483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AutoNum type="arabicPeriod" startAt="10"/>
            </a:pPr>
            <a:r>
              <a:rPr lang="en"/>
              <a:t>k</a:t>
            </a:r>
            <a:r>
              <a:rPr lang="en"/>
              <a:t>-nn, logistic regression, decision tree, ensemble method, neural network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type="title"/>
          </p:nvPr>
        </p:nvSpPr>
        <p:spPr>
          <a:xfrm>
            <a:off x="490250" y="450150"/>
            <a:ext cx="8499300" cy="465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-502920" lvl="0" marL="457200" rtl="0" algn="l">
              <a:spcBef>
                <a:spcPts val="0"/>
              </a:spcBef>
              <a:spcAft>
                <a:spcPts val="0"/>
              </a:spcAft>
              <a:buSzPct val="153192"/>
              <a:buAutoNum type="arabicPeriod" startAt="11"/>
            </a:pPr>
            <a:r>
              <a:rPr lang="en"/>
              <a:t>Data types: Tabular data, regular grid data, ordinal sequences, time series, temporal point process/event stream.</a:t>
            </a:r>
            <a:br>
              <a:rPr lang="en"/>
            </a:br>
            <a:r>
              <a:rPr lang="en" sz="3133"/>
              <a:t>Also highlight models useful for these data types.</a:t>
            </a:r>
            <a:endParaRPr sz="3133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thew McDermott Research Slid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9BAEBC"/>
      </a:lt2>
      <a:accent1>
        <a:srgbClr val="87B0CD"/>
      </a:accent1>
      <a:accent2>
        <a:srgbClr val="1B303D"/>
      </a:accent2>
      <a:accent3>
        <a:srgbClr val="677987"/>
      </a:accent3>
      <a:accent4>
        <a:srgbClr val="3C2734"/>
      </a:accent4>
      <a:accent5>
        <a:srgbClr val="6C5563"/>
      </a:accent5>
      <a:accent6>
        <a:srgbClr val="EB9928"/>
      </a:accent6>
      <a:hlink>
        <a:srgbClr val="00A3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