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Roboto"/>
      <p:regular r:id="rId56"/>
      <p:bold r:id="rId57"/>
      <p:italic r:id="rId58"/>
      <p:boldItalic r:id="rId59"/>
    </p:embeddedFont>
    <p:embeddedFont>
      <p:font typeface="Roboto Mono Light"/>
      <p:regular r:id="rId60"/>
      <p:bold r:id="rId61"/>
      <p:italic r:id="rId62"/>
      <p:boldItalic r:id="rId63"/>
    </p:embeddedFont>
    <p:embeddedFont>
      <p:font typeface="Roboto SemiBold"/>
      <p:regular r:id="rId64"/>
      <p:bold r:id="rId65"/>
      <p:italic r:id="rId66"/>
      <p:boldItalic r:id="rId67"/>
    </p:embeddedFont>
    <p:embeddedFont>
      <p:font typeface="Roboto Light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Light-boldItalic.fntdata"/><Relationship Id="rId70" Type="http://schemas.openxmlformats.org/officeDocument/2006/relationships/font" Target="fonts/RobotoLight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onoLight-italic.fntdata"/><Relationship Id="rId61" Type="http://schemas.openxmlformats.org/officeDocument/2006/relationships/font" Target="fonts/RobotoMonoLight-bold.fntdata"/><Relationship Id="rId20" Type="http://schemas.openxmlformats.org/officeDocument/2006/relationships/slide" Target="slides/slide15.xml"/><Relationship Id="rId64" Type="http://schemas.openxmlformats.org/officeDocument/2006/relationships/font" Target="fonts/RobotoSemiBold-regular.fntdata"/><Relationship Id="rId63" Type="http://schemas.openxmlformats.org/officeDocument/2006/relationships/font" Target="fonts/RobotoMonoLight-boldItalic.fntdata"/><Relationship Id="rId22" Type="http://schemas.openxmlformats.org/officeDocument/2006/relationships/slide" Target="slides/slide17.xml"/><Relationship Id="rId66" Type="http://schemas.openxmlformats.org/officeDocument/2006/relationships/font" Target="fonts/RobotoSemiBold-italic.fntdata"/><Relationship Id="rId21" Type="http://schemas.openxmlformats.org/officeDocument/2006/relationships/slide" Target="slides/slide16.xml"/><Relationship Id="rId65" Type="http://schemas.openxmlformats.org/officeDocument/2006/relationships/font" Target="fonts/RobotoSemiBold-bold.fntdata"/><Relationship Id="rId24" Type="http://schemas.openxmlformats.org/officeDocument/2006/relationships/slide" Target="slides/slide19.xml"/><Relationship Id="rId68" Type="http://schemas.openxmlformats.org/officeDocument/2006/relationships/font" Target="fonts/RobotoLight-regular.fntdata"/><Relationship Id="rId23" Type="http://schemas.openxmlformats.org/officeDocument/2006/relationships/slide" Target="slides/slide18.xml"/><Relationship Id="rId67" Type="http://schemas.openxmlformats.org/officeDocument/2006/relationships/font" Target="fonts/RobotoSemiBold-boldItalic.fntdata"/><Relationship Id="rId60" Type="http://schemas.openxmlformats.org/officeDocument/2006/relationships/font" Target="fonts/RobotoMonoLigh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Ligh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-bold.fntdata"/><Relationship Id="rId12" Type="http://schemas.openxmlformats.org/officeDocument/2006/relationships/slide" Target="slides/slide7.xml"/><Relationship Id="rId56" Type="http://schemas.openxmlformats.org/officeDocument/2006/relationships/font" Target="fonts/Roboto-regular.fntdata"/><Relationship Id="rId15" Type="http://schemas.openxmlformats.org/officeDocument/2006/relationships/slide" Target="slides/slide10.xml"/><Relationship Id="rId59" Type="http://schemas.openxmlformats.org/officeDocument/2006/relationships/font" Target="fonts/Roboto-boldItalic.fntdata"/><Relationship Id="rId14" Type="http://schemas.openxmlformats.org/officeDocument/2006/relationships/slide" Target="slides/slide9.xml"/><Relationship Id="rId58" Type="http://schemas.openxmlformats.org/officeDocument/2006/relationships/font" Target="fonts/Robo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935d4e66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935d4e66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9fd9f7e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9fd9f7e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2f8b5cdb4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2f8b5cdb4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2f8b5cdb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2f8b5cd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2f8b5cdb4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2f8b5cdb4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2f8b5cdb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2f8b5cdb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2f8b5cdb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2f8b5cdb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2f8b5cdb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92f8b5cdb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2f8b5cd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2f8b5cd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2f8b5cdb4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2f8b5cdb4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2f8b5cdb4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2f8b5cdb4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2f8b5cdb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2f8b5cdb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2f8b5cdb4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2f8b5cdb4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2f8b5cdb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92f8b5cdb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2f8b5cdb4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92f8b5cdb4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2f8b5cdb4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2f8b5cdb4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92f8b5cdb4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92f8b5cdb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92f8b5cdb4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92f8b5cdb4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92f8b5cdb4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92f8b5cdb4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92f8b5cdb4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92f8b5cdb4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92f8b5cdb4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92f8b5cdb4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92f8b5cdb4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92f8b5cdb4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92f8b5cdb4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92f8b5cdb4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92f8b5cdb4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92f8b5cdb4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92f8b5cdb4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92f8b5cdb4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92f8b5cdb4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92f8b5cdb4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92f8b5cdb4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92f8b5cdb4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92f8b5cdb4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92f8b5cdb4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92f8b5cdb4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92f8b5cdb4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2f8b5cdb4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92f8b5cdb4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92f8b5cdb4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92f8b5cdb4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92f8b5cdb4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92f8b5cdb4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92f8b5cdb4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92f8b5cdb4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92f8b5cdb4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92f8b5cdb4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92f8b5cdb4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92f8b5cdb4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92f8b5cdb4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92f8b5cdb4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92f8b5cdb4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92f8b5cdb4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92f8b5cdb4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92f8b5cdb4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92f8b5cdb4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92f8b5cdb4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92f8b5cdb4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92f8b5cdb4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92f8b5cdb4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92f8b5cdb4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92f8b5cdb4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92f8b5cdb4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92f8b5cdb4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92f8b5cdb4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92f8b5cdb4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92f8b5cdb4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92f8b5cdb4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92f8b5cdb4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92f8b5cdb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92f8b5cdb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92f8b5cdb4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92f8b5cdb4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92f8b5cdb4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92f8b5cdb4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92f8b5cdb4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92f8b5cdb4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14" name="Google Shape;14;p2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19" name="Google Shape;19;p2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" name="Google Shape;23;p2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" name="Google Shape;24;p2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" name="Google Shape;34;p2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" name="Google Shape;38;p2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39" name="Google Shape;39;p2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2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43" name="Google Shape;4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2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45" name="Google Shape;4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1_1_2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ctrTitle"/>
          </p:nvPr>
        </p:nvSpPr>
        <p:spPr>
          <a:xfrm>
            <a:off x="311708" y="668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804600" y="27698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2" type="subTitle"/>
          </p:nvPr>
        </p:nvSpPr>
        <p:spPr>
          <a:xfrm>
            <a:off x="804500" y="31279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3"/>
          <p:cNvSpPr txBox="1"/>
          <p:nvPr>
            <p:ph idx="3" type="subTitle"/>
          </p:nvPr>
        </p:nvSpPr>
        <p:spPr>
          <a:xfrm>
            <a:off x="796664" y="34207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52" name="Google Shape;52;p3"/>
          <p:cNvGrpSpPr/>
          <p:nvPr/>
        </p:nvGrpSpPr>
        <p:grpSpPr>
          <a:xfrm>
            <a:off x="481314" y="3491525"/>
            <a:ext cx="217200" cy="160400"/>
            <a:chOff x="481314" y="3186725"/>
            <a:chExt cx="217200" cy="160400"/>
          </a:xfrm>
        </p:grpSpPr>
        <p:sp>
          <p:nvSpPr>
            <p:cNvPr id="53" name="Google Shape;53;p3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7" name="Google Shape;57;p3"/>
          <p:cNvGrpSpPr/>
          <p:nvPr/>
        </p:nvGrpSpPr>
        <p:grpSpPr>
          <a:xfrm>
            <a:off x="481325" y="3182975"/>
            <a:ext cx="217200" cy="192637"/>
            <a:chOff x="481175" y="2886675"/>
            <a:chExt cx="217200" cy="192637"/>
          </a:xfrm>
        </p:grpSpPr>
        <p:sp>
          <p:nvSpPr>
            <p:cNvPr id="58" name="Google Shape;58;p3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" name="Google Shape;60;p3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61" name="Google Shape;61;p3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2" name="Google Shape;62;p3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3" name="Google Shape;63;p3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3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67" name="Google Shape;67;p3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" name="Google Shape;73;p3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" name="Google Shape;77;p3"/>
          <p:cNvGrpSpPr/>
          <p:nvPr/>
        </p:nvGrpSpPr>
        <p:grpSpPr>
          <a:xfrm>
            <a:off x="481334" y="2837856"/>
            <a:ext cx="217170" cy="213486"/>
            <a:chOff x="997925" y="1292537"/>
            <a:chExt cx="703500" cy="691563"/>
          </a:xfrm>
        </p:grpSpPr>
        <p:sp>
          <p:nvSpPr>
            <p:cNvPr id="78" name="Google Shape;78;p3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" name="Google Shape;81;p3"/>
          <p:cNvPicPr preferRelativeResize="0"/>
          <p:nvPr/>
        </p:nvPicPr>
        <p:blipFill rotWithShape="1">
          <a:blip r:embed="rId2">
            <a:alphaModFix/>
          </a:blip>
          <a:srcRect b="11004" l="0" r="0" t="11011"/>
          <a:stretch/>
        </p:blipFill>
        <p:spPr>
          <a:xfrm>
            <a:off x="141596" y="4681554"/>
            <a:ext cx="3154850" cy="38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1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25" y="3857251"/>
            <a:ext cx="990648" cy="99064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4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4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4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88" name="Google Shape;88;p4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89" name="Google Shape;89;p4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93" name="Google Shape;93;p4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94" name="Google Shape;94;p4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4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8" name="Google Shape;98;p4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9" name="Google Shape;99;p4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p4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4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110" name="Google Shape;110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114" name="Google Shape;114;p4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11004" l="0" r="0" t="11011"/>
          <a:stretch/>
        </p:blipFill>
        <p:spPr>
          <a:xfrm>
            <a:off x="5888196" y="4667404"/>
            <a:ext cx="3154850" cy="38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119" name="Google Shape;11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4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121" name="Google Shape;12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41" name="Google Shape;1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3" name="Google Shape;1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>
                <a:solidFill>
                  <a:schemeClr val="accent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A">
  <p:cSld name="CUSTOM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>
            <p:ph idx="2" type="pic"/>
          </p:nvPr>
        </p:nvSpPr>
        <p:spPr>
          <a:xfrm>
            <a:off x="3035838" y="1471024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256050" y="253350"/>
            <a:ext cx="8631900" cy="850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/>
        </p:nvSpPr>
        <p:spPr>
          <a:xfrm>
            <a:off x="256062" y="120584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256062" y="330896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382542" y="120512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088166" y="125071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3" type="body"/>
          </p:nvPr>
        </p:nvSpPr>
        <p:spPr>
          <a:xfrm>
            <a:off x="7223790" y="124999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4" type="body"/>
          </p:nvPr>
        </p:nvSpPr>
        <p:spPr>
          <a:xfrm>
            <a:off x="7223790" y="335311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63" name="Google Shape;163;p16"/>
          <p:cNvCxnSpPr/>
          <p:nvPr/>
        </p:nvCxnSpPr>
        <p:spPr>
          <a:xfrm>
            <a:off x="628506" y="140695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6"/>
          <p:cNvCxnSpPr/>
          <p:nvPr/>
        </p:nvCxnSpPr>
        <p:spPr>
          <a:xfrm>
            <a:off x="628506" y="3509382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6"/>
          <p:cNvCxnSpPr/>
          <p:nvPr/>
        </p:nvCxnSpPr>
        <p:spPr>
          <a:xfrm>
            <a:off x="6760631" y="1406288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6"/>
          <p:cNvCxnSpPr/>
          <p:nvPr/>
        </p:nvCxnSpPr>
        <p:spPr>
          <a:xfrm>
            <a:off x="6760631" y="350940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6"/>
          <p:cNvSpPr txBox="1"/>
          <p:nvPr/>
        </p:nvSpPr>
        <p:spPr>
          <a:xfrm>
            <a:off x="6382546" y="330823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16"/>
          <p:cNvSpPr txBox="1"/>
          <p:nvPr>
            <p:ph idx="5" type="body"/>
          </p:nvPr>
        </p:nvSpPr>
        <p:spPr>
          <a:xfrm>
            <a:off x="1088166" y="335383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3" name="Google Shape;173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">
  <p:cSld name="1 Column 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493775" y="976232"/>
            <a:ext cx="57960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44444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493775" y="227102"/>
            <a:ext cx="7886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2700"/>
              <a:buFont typeface="Arial"/>
              <a:buNone/>
              <a:defRPr b="0" i="0" sz="2700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493776" y="2889721"/>
            <a:ext cx="4978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type="ctrTitle"/>
          </p:nvPr>
        </p:nvSpPr>
        <p:spPr>
          <a:xfrm>
            <a:off x="493776" y="1022130"/>
            <a:ext cx="49788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rm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4500"/>
              <a:buFont typeface="Arial"/>
              <a:buNone/>
              <a:defRPr b="0" i="0" sz="4500" cap="none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2" type="body"/>
          </p:nvPr>
        </p:nvSpPr>
        <p:spPr>
          <a:xfrm>
            <a:off x="493777" y="3714749"/>
            <a:ext cx="49788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i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0"/>
          <p:cNvSpPr txBox="1"/>
          <p:nvPr>
            <p:ph idx="1" type="subTitle"/>
          </p:nvPr>
        </p:nvSpPr>
        <p:spPr>
          <a:xfrm>
            <a:off x="311700" y="4663225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BINF 4002</a:t>
            </a:r>
            <a:endParaRPr/>
          </a:p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3: Probability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Class: Probability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are random variables?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Expectation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Joint random variables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i="1" lang="en"/>
              <a:t>Probability Triple</a:t>
            </a:r>
            <a:r>
              <a:rPr lang="en"/>
              <a:t> is samples, events, and a measure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Formally, a probability triple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(𝑋, 𝛴, 𝑃)</a:t>
            </a:r>
            <a:r>
              <a:rPr lang="en"/>
              <a:t> is a tuple of three things: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set of possible samples the random variable can take: 𝑋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i="1" lang="en"/>
              <a:t>Probability Triple</a:t>
            </a:r>
            <a:r>
              <a:rPr lang="en"/>
              <a:t> is samples, events, and a measure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Formally, a probability triple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𝑋, 𝛴, 𝑃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)</a:t>
            </a:r>
            <a:r>
              <a:rPr lang="en"/>
              <a:t> </a:t>
            </a:r>
            <a:r>
              <a:rPr lang="en"/>
              <a:t>is a tuple of three things: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set of possible samples the random variable can take: 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set of possible “events” that you are allowed to consider over these samples: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𝛴 ⊆ 2</a:t>
            </a:r>
            <a:r>
              <a:rPr baseline="30000"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i="1" lang="en"/>
              <a:t>Probability Triple</a:t>
            </a:r>
            <a:r>
              <a:rPr lang="en"/>
              <a:t> is samples, events, and a measure</a:t>
            </a:r>
            <a:endParaRPr/>
          </a:p>
        </p:txBody>
      </p:sp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Formally, a probability triple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(𝑋, 𝛴, 𝑃)</a:t>
            </a:r>
            <a:r>
              <a:rPr lang="en"/>
              <a:t> is a tuple of three things: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set of possible samples the random variable can take: 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set of possible “events” that you are allowed to consider over these samples: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𝛴 ⊆ 2</a:t>
            </a:r>
            <a:r>
              <a:rPr baseline="30000"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baseline="30000">
              <a:latin typeface="Droid Serif"/>
              <a:ea typeface="Droid Serif"/>
              <a:cs typeface="Droid Serif"/>
              <a:sym typeface="Droid Serif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measure over these samples and events that is a valid probability measure: 𝑃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: 𝛴 → [0, 1]</a:t>
            </a:r>
            <a:r>
              <a:rPr lang="en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𝑃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(𝑋) = 1</a:t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For disjoint 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𝐴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𝑖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∈𝛴</a:t>
            </a:r>
            <a:r>
              <a:rPr lang="en"/>
              <a:t>, 𝑃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(⋃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𝑖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𝐴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𝑖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) = ∑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𝑖 </a:t>
            </a:r>
            <a:r>
              <a:rPr lang="en"/>
              <a:t>𝑃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(𝐴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𝑖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triples: Coin flips!</a:t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229" name="Google Shape;229;p27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triples: Coin flips!</a:t>
            </a:r>
            <a:endParaRPr/>
          </a:p>
        </p:txBody>
      </p:sp>
      <p:sp>
        <p:nvSpPr>
          <p:cNvPr id="236" name="Google Shape;236;p28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240" name="Google Shape;240;p28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241" name="Google Shape;241;p28"/>
          <p:cNvGrpSpPr/>
          <p:nvPr/>
        </p:nvGrpSpPr>
        <p:grpSpPr>
          <a:xfrm>
            <a:off x="2493000" y="2022875"/>
            <a:ext cx="1762425" cy="1258800"/>
            <a:chOff x="2493000" y="2022875"/>
            <a:chExt cx="1762425" cy="1258800"/>
          </a:xfrm>
        </p:grpSpPr>
        <p:sp>
          <p:nvSpPr>
            <p:cNvPr id="242" name="Google Shape;242;p28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600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44" name="Google Shape;244;p28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45" name="Google Shape;245;p28"/>
          <p:cNvGrpSpPr/>
          <p:nvPr/>
        </p:nvGrpSpPr>
        <p:grpSpPr>
          <a:xfrm>
            <a:off x="2493000" y="3451700"/>
            <a:ext cx="1762425" cy="1275000"/>
            <a:chOff x="2493000" y="3451700"/>
            <a:chExt cx="1762425" cy="1275000"/>
          </a:xfrm>
        </p:grpSpPr>
        <p:grpSp>
          <p:nvGrpSpPr>
            <p:cNvPr id="246" name="Google Shape;246;p28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247" name="Google Shape;247;p28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248" name="Google Shape;248;p28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600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249" name="Google Shape;249;p28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0" name="Google Shape;250;p28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51" name="Google Shape;251;p28"/>
          <p:cNvGrpSpPr/>
          <p:nvPr/>
        </p:nvGrpSpPr>
        <p:grpSpPr>
          <a:xfrm>
            <a:off x="4433638" y="2022875"/>
            <a:ext cx="1762425" cy="1258800"/>
            <a:chOff x="4433638" y="2022875"/>
            <a:chExt cx="1762425" cy="1258800"/>
          </a:xfrm>
        </p:grpSpPr>
        <p:sp>
          <p:nvSpPr>
            <p:cNvPr id="252" name="Google Shape;252;p28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4" name="Google Shape;254;p28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55" name="Google Shape;255;p28"/>
          <p:cNvGrpSpPr/>
          <p:nvPr/>
        </p:nvGrpSpPr>
        <p:grpSpPr>
          <a:xfrm>
            <a:off x="5027338" y="3459800"/>
            <a:ext cx="575025" cy="1258800"/>
            <a:chOff x="5027338" y="3459800"/>
            <a:chExt cx="575025" cy="1258800"/>
          </a:xfrm>
        </p:grpSpPr>
        <p:sp>
          <p:nvSpPr>
            <p:cNvPr id="256" name="Google Shape;256;p28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7" name="Google Shape;257;p28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triples: Coin flips!</a:t>
            </a:r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65" name="Google Shape;265;p29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266" name="Google Shape;266;p29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268" name="Google Shape;268;p29"/>
          <p:cNvGrpSpPr/>
          <p:nvPr/>
        </p:nvGrpSpPr>
        <p:grpSpPr>
          <a:xfrm>
            <a:off x="2493000" y="2022875"/>
            <a:ext cx="1762425" cy="1258800"/>
            <a:chOff x="2493000" y="2022875"/>
            <a:chExt cx="1762425" cy="1258800"/>
          </a:xfrm>
        </p:grpSpPr>
        <p:sp>
          <p:nvSpPr>
            <p:cNvPr id="269" name="Google Shape;269;p29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600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1" name="Google Shape;271;p29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72" name="Google Shape;272;p29"/>
          <p:cNvGrpSpPr/>
          <p:nvPr/>
        </p:nvGrpSpPr>
        <p:grpSpPr>
          <a:xfrm>
            <a:off x="2493000" y="3451700"/>
            <a:ext cx="1762425" cy="1275000"/>
            <a:chOff x="2493000" y="3451700"/>
            <a:chExt cx="1762425" cy="1275000"/>
          </a:xfrm>
        </p:grpSpPr>
        <p:grpSp>
          <p:nvGrpSpPr>
            <p:cNvPr id="273" name="Google Shape;273;p29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274" name="Google Shape;274;p29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275" name="Google Shape;275;p29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600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276" name="Google Shape;276;p29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7" name="Google Shape;277;p29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78" name="Google Shape;278;p29"/>
          <p:cNvGrpSpPr/>
          <p:nvPr/>
        </p:nvGrpSpPr>
        <p:grpSpPr>
          <a:xfrm>
            <a:off x="4433638" y="2022875"/>
            <a:ext cx="1762425" cy="1258800"/>
            <a:chOff x="4433638" y="2022875"/>
            <a:chExt cx="1762425" cy="1258800"/>
          </a:xfrm>
        </p:grpSpPr>
        <p:sp>
          <p:nvSpPr>
            <p:cNvPr id="279" name="Google Shape;279;p29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81" name="Google Shape;281;p29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82" name="Google Shape;282;p29"/>
          <p:cNvGrpSpPr/>
          <p:nvPr/>
        </p:nvGrpSpPr>
        <p:grpSpPr>
          <a:xfrm>
            <a:off x="5027338" y="3459800"/>
            <a:ext cx="575025" cy="1258800"/>
            <a:chOff x="5027338" y="3459800"/>
            <a:chExt cx="575025" cy="1258800"/>
          </a:xfrm>
        </p:grpSpPr>
        <p:sp>
          <p:nvSpPr>
            <p:cNvPr id="283" name="Google Shape;283;p29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84" name="Google Shape;284;p29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6657082" y="2022887"/>
            <a:ext cx="801903" cy="572754"/>
            <a:chOff x="2493000" y="2022875"/>
            <a:chExt cx="1762425" cy="1258800"/>
          </a:xfrm>
        </p:grpSpPr>
        <p:sp>
          <p:nvSpPr>
            <p:cNvPr id="286" name="Google Shape;286;p29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273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88" name="Google Shape;288;p29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89" name="Google Shape;289;p29"/>
          <p:cNvGrpSpPr/>
          <p:nvPr/>
        </p:nvGrpSpPr>
        <p:grpSpPr>
          <a:xfrm>
            <a:off x="6656995" y="2759891"/>
            <a:ext cx="801903" cy="572754"/>
            <a:chOff x="4433638" y="2022875"/>
            <a:chExt cx="1762425" cy="1258800"/>
          </a:xfrm>
        </p:grpSpPr>
        <p:sp>
          <p:nvSpPr>
            <p:cNvPr id="290" name="Google Shape;290;p29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273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2" name="Google Shape;292;p29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93" name="Google Shape;293;p29"/>
          <p:cNvGrpSpPr/>
          <p:nvPr/>
        </p:nvGrpSpPr>
        <p:grpSpPr>
          <a:xfrm>
            <a:off x="6657080" y="3496907"/>
            <a:ext cx="801903" cy="580125"/>
            <a:chOff x="2493000" y="3451700"/>
            <a:chExt cx="1762425" cy="1275000"/>
          </a:xfrm>
        </p:grpSpPr>
        <p:grpSp>
          <p:nvGrpSpPr>
            <p:cNvPr id="294" name="Google Shape;294;p29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295" name="Google Shape;295;p29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296" name="Google Shape;296;p29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273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297" name="Google Shape;297;p29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8" name="Google Shape;298;p29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99" name="Google Shape;299;p29"/>
          <p:cNvGrpSpPr/>
          <p:nvPr/>
        </p:nvGrpSpPr>
        <p:grpSpPr>
          <a:xfrm>
            <a:off x="6927209" y="4241273"/>
            <a:ext cx="261636" cy="572754"/>
            <a:chOff x="5027338" y="3459800"/>
            <a:chExt cx="575025" cy="1258800"/>
          </a:xfrm>
        </p:grpSpPr>
        <p:sp>
          <p:nvSpPr>
            <p:cNvPr id="300" name="Google Shape;300;p29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02" name="Google Shape;302;p29"/>
          <p:cNvSpPr txBox="1"/>
          <p:nvPr>
            <p:ph idx="1" type="body"/>
          </p:nvPr>
        </p:nvSpPr>
        <p:spPr>
          <a:xfrm>
            <a:off x="8056800" y="202290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03" name="Google Shape;303;p29"/>
          <p:cNvSpPr txBox="1"/>
          <p:nvPr>
            <p:ph idx="1" type="body"/>
          </p:nvPr>
        </p:nvSpPr>
        <p:spPr>
          <a:xfrm>
            <a:off x="8056800" y="2759929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04" name="Google Shape;304;p29"/>
          <p:cNvSpPr txBox="1"/>
          <p:nvPr>
            <p:ph idx="1" type="body"/>
          </p:nvPr>
        </p:nvSpPr>
        <p:spPr>
          <a:xfrm>
            <a:off x="8056800" y="350062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05" name="Google Shape;305;p29"/>
          <p:cNvSpPr txBox="1"/>
          <p:nvPr>
            <p:ph idx="1" type="body"/>
          </p:nvPr>
        </p:nvSpPr>
        <p:spPr>
          <a:xfrm>
            <a:off x="8056800" y="4241324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6617700" y="202295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6617700" y="275992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6617775" y="350060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6617775" y="424127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310" name="Google Shape;310;p29"/>
          <p:cNvCxnSpPr>
            <a:stCxn id="306" idx="3"/>
            <a:endCxn id="302" idx="1"/>
          </p:cNvCxnSpPr>
          <p:nvPr/>
        </p:nvCxnSpPr>
        <p:spPr>
          <a:xfrm>
            <a:off x="7498200" y="230930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29"/>
          <p:cNvCxnSpPr>
            <a:stCxn id="307" idx="3"/>
            <a:endCxn id="303" idx="1"/>
          </p:cNvCxnSpPr>
          <p:nvPr/>
        </p:nvCxnSpPr>
        <p:spPr>
          <a:xfrm>
            <a:off x="7498200" y="304627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9"/>
          <p:cNvCxnSpPr>
            <a:stCxn id="308" idx="3"/>
            <a:endCxn id="304" idx="1"/>
          </p:cNvCxnSpPr>
          <p:nvPr/>
        </p:nvCxnSpPr>
        <p:spPr>
          <a:xfrm>
            <a:off x="7498275" y="378695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29"/>
          <p:cNvCxnSpPr>
            <a:stCxn id="309" idx="3"/>
            <a:endCxn id="305" idx="1"/>
          </p:cNvCxnSpPr>
          <p:nvPr/>
        </p:nvCxnSpPr>
        <p:spPr>
          <a:xfrm>
            <a:off x="7498275" y="452762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</a:t>
            </a:r>
            <a:endParaRPr/>
          </a:p>
        </p:txBody>
      </p:sp>
      <p:sp>
        <p:nvSpPr>
          <p:cNvPr id="319" name="Google Shape;31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Formally, a random variable 𝗑 is a </a:t>
            </a:r>
            <a:r>
              <a:rPr i="1" lang="en"/>
              <a:t>function</a:t>
            </a:r>
            <a:r>
              <a:rPr lang="en"/>
              <a:t> from the sample space </a:t>
            </a:r>
            <a:r>
              <a:rPr lang="en"/>
              <a:t>𝑋 </a:t>
            </a:r>
            <a:r>
              <a:rPr lang="en"/>
              <a:t>of a probability triple to a measurable space 𝐸 of the observations of </a:t>
            </a:r>
            <a:r>
              <a:rPr lang="en"/>
              <a:t>𝗑</a:t>
            </a:r>
            <a:r>
              <a:rPr lang="en"/>
              <a:t>.</a:t>
            </a:r>
            <a:endParaRPr baseline="-25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/>
          <p:nvPr>
            <p:ph type="title"/>
          </p:nvPr>
        </p:nvSpPr>
        <p:spPr>
          <a:xfrm>
            <a:off x="490250" y="450150"/>
            <a:ext cx="8071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/>
              <a:t>Any probability triple defines a random variable under the identity function, and any random variable induces a probability triple over 𝐸...</a:t>
            </a:r>
            <a:br>
              <a:rPr lang="en" sz="3720"/>
            </a:br>
            <a:br>
              <a:rPr lang="en" sz="3720"/>
            </a:br>
            <a:r>
              <a:rPr lang="en" sz="3720">
                <a:solidFill>
                  <a:schemeClr val="lt1"/>
                </a:solidFill>
              </a:rPr>
              <a:t>So you can think of these two concepts as ~equivalent.</a:t>
            </a:r>
            <a:endParaRPr sz="37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/>
          <p:nvPr>
            <p:ph type="title"/>
          </p:nvPr>
        </p:nvSpPr>
        <p:spPr>
          <a:xfrm>
            <a:off x="490250" y="450150"/>
            <a:ext cx="8071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/>
              <a:t>Any probability triple defines a random variable under the identity function, and any random variable induces a probability triple over 𝐸...</a:t>
            </a:r>
            <a:br>
              <a:rPr lang="en" sz="3720"/>
            </a:br>
            <a:br>
              <a:rPr lang="en" sz="3720"/>
            </a:br>
            <a:r>
              <a:rPr lang="en" sz="3720"/>
              <a:t>So you can think of these two concepts as more or less equivalent.</a:t>
            </a:r>
            <a:endParaRPr sz="37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/>
          <p:nvPr>
            <p:ph type="title"/>
          </p:nvPr>
        </p:nvSpPr>
        <p:spPr>
          <a:xfrm>
            <a:off x="490250" y="450150"/>
            <a:ext cx="8071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/>
              <a:t>Any probability triple defines a random variable under the identity function, and any random variable induces a probability triple over 𝐸...</a:t>
            </a:r>
            <a:br>
              <a:rPr lang="en" sz="3720"/>
            </a:br>
            <a:br>
              <a:rPr lang="en" sz="3720"/>
            </a:br>
            <a:r>
              <a:rPr lang="en" sz="3720"/>
              <a:t>So you can think of these two concepts as more or less equivalent.</a:t>
            </a:r>
            <a:endParaRPr sz="3720"/>
          </a:p>
        </p:txBody>
      </p:sp>
      <p:sp>
        <p:nvSpPr>
          <p:cNvPr id="335" name="Google Shape;335;p33"/>
          <p:cNvSpPr/>
          <p:nvPr/>
        </p:nvSpPr>
        <p:spPr>
          <a:xfrm>
            <a:off x="324700" y="368275"/>
            <a:ext cx="8316600" cy="44028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1958250" y="1485875"/>
            <a:ext cx="5227500" cy="27675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Roboto Light"/>
                <a:ea typeface="Roboto Light"/>
                <a:cs typeface="Roboto Light"/>
                <a:sym typeface="Roboto Light"/>
              </a:rPr>
              <a:t>Warning!</a:t>
            </a:r>
            <a:endParaRPr sz="48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3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Traditionally, these two things are not conflated. </a:t>
            </a:r>
            <a:endParaRPr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triples: Coin flips!</a:t>
            </a:r>
            <a:endParaRPr/>
          </a:p>
        </p:txBody>
      </p:sp>
      <p:sp>
        <p:nvSpPr>
          <p:cNvPr id="342" name="Google Shape;342;p34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44" name="Google Shape;344;p34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45" name="Google Shape;345;p34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46" name="Google Shape;346;p34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347" name="Google Shape;347;p34"/>
          <p:cNvGrpSpPr/>
          <p:nvPr/>
        </p:nvGrpSpPr>
        <p:grpSpPr>
          <a:xfrm>
            <a:off x="2493000" y="2022875"/>
            <a:ext cx="1762425" cy="1258800"/>
            <a:chOff x="2493000" y="2022875"/>
            <a:chExt cx="1762425" cy="1258800"/>
          </a:xfrm>
        </p:grpSpPr>
        <p:sp>
          <p:nvSpPr>
            <p:cNvPr id="348" name="Google Shape;348;p34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600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349" name="Google Shape;349;p34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0" name="Google Shape;350;p34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51" name="Google Shape;351;p34"/>
          <p:cNvGrpSpPr/>
          <p:nvPr/>
        </p:nvGrpSpPr>
        <p:grpSpPr>
          <a:xfrm>
            <a:off x="2493000" y="3451700"/>
            <a:ext cx="1762425" cy="1275000"/>
            <a:chOff x="2493000" y="3451700"/>
            <a:chExt cx="1762425" cy="1275000"/>
          </a:xfrm>
        </p:grpSpPr>
        <p:grpSp>
          <p:nvGrpSpPr>
            <p:cNvPr id="352" name="Google Shape;352;p34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353" name="Google Shape;353;p34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354" name="Google Shape;354;p34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600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355" name="Google Shape;355;p34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56" name="Google Shape;356;p34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57" name="Google Shape;357;p34"/>
          <p:cNvGrpSpPr/>
          <p:nvPr/>
        </p:nvGrpSpPr>
        <p:grpSpPr>
          <a:xfrm>
            <a:off x="4433638" y="2022875"/>
            <a:ext cx="1762425" cy="1258800"/>
            <a:chOff x="4433638" y="2022875"/>
            <a:chExt cx="1762425" cy="1258800"/>
          </a:xfrm>
        </p:grpSpPr>
        <p:sp>
          <p:nvSpPr>
            <p:cNvPr id="358" name="Google Shape;358;p34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60" name="Google Shape;360;p34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61" name="Google Shape;361;p34"/>
          <p:cNvGrpSpPr/>
          <p:nvPr/>
        </p:nvGrpSpPr>
        <p:grpSpPr>
          <a:xfrm>
            <a:off x="5027338" y="3459800"/>
            <a:ext cx="575025" cy="1258800"/>
            <a:chOff x="5027338" y="3459800"/>
            <a:chExt cx="575025" cy="1258800"/>
          </a:xfrm>
        </p:grpSpPr>
        <p:sp>
          <p:nvSpPr>
            <p:cNvPr id="362" name="Google Shape;362;p34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63" name="Google Shape;363;p34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64" name="Google Shape;364;p34"/>
          <p:cNvGrpSpPr/>
          <p:nvPr/>
        </p:nvGrpSpPr>
        <p:grpSpPr>
          <a:xfrm>
            <a:off x="6657082" y="2022887"/>
            <a:ext cx="801903" cy="572754"/>
            <a:chOff x="2493000" y="2022875"/>
            <a:chExt cx="1762425" cy="1258800"/>
          </a:xfrm>
        </p:grpSpPr>
        <p:sp>
          <p:nvSpPr>
            <p:cNvPr id="365" name="Google Shape;365;p34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273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67" name="Google Shape;367;p34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68" name="Google Shape;368;p34"/>
          <p:cNvGrpSpPr/>
          <p:nvPr/>
        </p:nvGrpSpPr>
        <p:grpSpPr>
          <a:xfrm>
            <a:off x="6656995" y="2759891"/>
            <a:ext cx="801903" cy="572754"/>
            <a:chOff x="4433638" y="2022875"/>
            <a:chExt cx="1762425" cy="1258800"/>
          </a:xfrm>
        </p:grpSpPr>
        <p:sp>
          <p:nvSpPr>
            <p:cNvPr id="369" name="Google Shape;369;p34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273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71" name="Google Shape;371;p34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72" name="Google Shape;372;p34"/>
          <p:cNvGrpSpPr/>
          <p:nvPr/>
        </p:nvGrpSpPr>
        <p:grpSpPr>
          <a:xfrm>
            <a:off x="6657080" y="3496907"/>
            <a:ext cx="801903" cy="580125"/>
            <a:chOff x="2493000" y="3451700"/>
            <a:chExt cx="1762425" cy="1275000"/>
          </a:xfrm>
        </p:grpSpPr>
        <p:grpSp>
          <p:nvGrpSpPr>
            <p:cNvPr id="373" name="Google Shape;373;p34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374" name="Google Shape;374;p34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375" name="Google Shape;375;p34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273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376" name="Google Shape;376;p34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77" name="Google Shape;377;p34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78" name="Google Shape;378;p34"/>
          <p:cNvGrpSpPr/>
          <p:nvPr/>
        </p:nvGrpSpPr>
        <p:grpSpPr>
          <a:xfrm>
            <a:off x="6927209" y="4241273"/>
            <a:ext cx="261636" cy="572754"/>
            <a:chOff x="5027338" y="3459800"/>
            <a:chExt cx="575025" cy="1258800"/>
          </a:xfrm>
        </p:grpSpPr>
        <p:sp>
          <p:nvSpPr>
            <p:cNvPr id="379" name="Google Shape;379;p34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80" name="Google Shape;380;p34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8056800" y="202290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82" name="Google Shape;382;p34"/>
          <p:cNvSpPr txBox="1"/>
          <p:nvPr>
            <p:ph idx="1" type="body"/>
          </p:nvPr>
        </p:nvSpPr>
        <p:spPr>
          <a:xfrm>
            <a:off x="8056800" y="2759929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8056800" y="350062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84" name="Google Shape;384;p34"/>
          <p:cNvSpPr txBox="1"/>
          <p:nvPr>
            <p:ph idx="1" type="body"/>
          </p:nvPr>
        </p:nvSpPr>
        <p:spPr>
          <a:xfrm>
            <a:off x="8056800" y="4241324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6617700" y="202295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6617700" y="275992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6617775" y="350060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6617775" y="424127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389" name="Google Shape;389;p34"/>
          <p:cNvCxnSpPr>
            <a:stCxn id="385" idx="3"/>
            <a:endCxn id="381" idx="1"/>
          </p:cNvCxnSpPr>
          <p:nvPr/>
        </p:nvCxnSpPr>
        <p:spPr>
          <a:xfrm>
            <a:off x="7498200" y="230930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34"/>
          <p:cNvCxnSpPr>
            <a:stCxn id="386" idx="3"/>
            <a:endCxn id="382" idx="1"/>
          </p:cNvCxnSpPr>
          <p:nvPr/>
        </p:nvCxnSpPr>
        <p:spPr>
          <a:xfrm>
            <a:off x="7498200" y="304627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34"/>
          <p:cNvCxnSpPr>
            <a:stCxn id="387" idx="3"/>
            <a:endCxn id="383" idx="1"/>
          </p:cNvCxnSpPr>
          <p:nvPr/>
        </p:nvCxnSpPr>
        <p:spPr>
          <a:xfrm>
            <a:off x="7498275" y="378695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34"/>
          <p:cNvCxnSpPr>
            <a:stCxn id="388" idx="3"/>
            <a:endCxn id="384" idx="1"/>
          </p:cNvCxnSpPr>
          <p:nvPr/>
        </p:nvCxnSpPr>
        <p:spPr>
          <a:xfrm>
            <a:off x="7498275" y="452762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Discrete probability triples: Dice rolls!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35"/>
          <p:cNvGrpSpPr/>
          <p:nvPr/>
        </p:nvGrpSpPr>
        <p:grpSpPr>
          <a:xfrm>
            <a:off x="2369725" y="2571750"/>
            <a:ext cx="651300" cy="651300"/>
            <a:chOff x="915350" y="2344950"/>
            <a:chExt cx="651300" cy="651300"/>
          </a:xfrm>
        </p:grpSpPr>
        <p:sp>
          <p:nvSpPr>
            <p:cNvPr id="399" name="Google Shape;399;p35"/>
            <p:cNvSpPr/>
            <p:nvPr/>
          </p:nvSpPr>
          <p:spPr>
            <a:xfrm>
              <a:off x="915350" y="2344950"/>
              <a:ext cx="651300" cy="65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00" name="Google Shape;400;p35"/>
            <p:cNvSpPr/>
            <p:nvPr/>
          </p:nvSpPr>
          <p:spPr>
            <a:xfrm>
              <a:off x="1180350" y="26099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01" name="Google Shape;401;p35"/>
          <p:cNvGrpSpPr/>
          <p:nvPr/>
        </p:nvGrpSpPr>
        <p:grpSpPr>
          <a:xfrm>
            <a:off x="3120375" y="2571850"/>
            <a:ext cx="651300" cy="651300"/>
            <a:chOff x="1666000" y="2345050"/>
            <a:chExt cx="651300" cy="651300"/>
          </a:xfrm>
        </p:grpSpPr>
        <p:sp>
          <p:nvSpPr>
            <p:cNvPr id="402" name="Google Shape;402;p35"/>
            <p:cNvSpPr/>
            <p:nvPr/>
          </p:nvSpPr>
          <p:spPr>
            <a:xfrm>
              <a:off x="1666000" y="2345050"/>
              <a:ext cx="651300" cy="65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03" name="Google Shape;403;p35"/>
            <p:cNvSpPr/>
            <p:nvPr/>
          </p:nvSpPr>
          <p:spPr>
            <a:xfrm>
              <a:off x="1778600" y="24576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2083400" y="27624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05" name="Google Shape;405;p35"/>
          <p:cNvGrpSpPr/>
          <p:nvPr/>
        </p:nvGrpSpPr>
        <p:grpSpPr>
          <a:xfrm>
            <a:off x="3871025" y="2571850"/>
            <a:ext cx="651300" cy="651300"/>
            <a:chOff x="2416650" y="2345050"/>
            <a:chExt cx="651300" cy="651300"/>
          </a:xfrm>
        </p:grpSpPr>
        <p:sp>
          <p:nvSpPr>
            <p:cNvPr id="406" name="Google Shape;406;p35"/>
            <p:cNvSpPr/>
            <p:nvPr/>
          </p:nvSpPr>
          <p:spPr>
            <a:xfrm>
              <a:off x="2416650" y="2345050"/>
              <a:ext cx="651300" cy="65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07" name="Google Shape;407;p35"/>
            <p:cNvSpPr/>
            <p:nvPr/>
          </p:nvSpPr>
          <p:spPr>
            <a:xfrm flipH="1">
              <a:off x="2834050" y="24576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08" name="Google Shape;408;p35"/>
            <p:cNvSpPr/>
            <p:nvPr/>
          </p:nvSpPr>
          <p:spPr>
            <a:xfrm flipH="1">
              <a:off x="2529250" y="27624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09" name="Google Shape;409;p35"/>
            <p:cNvSpPr/>
            <p:nvPr/>
          </p:nvSpPr>
          <p:spPr>
            <a:xfrm flipH="1">
              <a:off x="2681650" y="26100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10" name="Google Shape;410;p35"/>
          <p:cNvGrpSpPr/>
          <p:nvPr/>
        </p:nvGrpSpPr>
        <p:grpSpPr>
          <a:xfrm>
            <a:off x="4621675" y="2571750"/>
            <a:ext cx="651300" cy="651300"/>
            <a:chOff x="3167300" y="2344950"/>
            <a:chExt cx="651300" cy="651300"/>
          </a:xfrm>
        </p:grpSpPr>
        <p:sp>
          <p:nvSpPr>
            <p:cNvPr id="411" name="Google Shape;411;p35"/>
            <p:cNvSpPr/>
            <p:nvPr/>
          </p:nvSpPr>
          <p:spPr>
            <a:xfrm>
              <a:off x="3167300" y="2344950"/>
              <a:ext cx="651300" cy="65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3279900" y="24575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3584700" y="27623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4" name="Google Shape;414;p35"/>
            <p:cNvSpPr/>
            <p:nvPr/>
          </p:nvSpPr>
          <p:spPr>
            <a:xfrm flipH="1" rot="10800000">
              <a:off x="3279900" y="27623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5" name="Google Shape;415;p35"/>
            <p:cNvSpPr/>
            <p:nvPr/>
          </p:nvSpPr>
          <p:spPr>
            <a:xfrm flipH="1" rot="10800000">
              <a:off x="3584700" y="24575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16" name="Google Shape;416;p35"/>
          <p:cNvGrpSpPr/>
          <p:nvPr/>
        </p:nvGrpSpPr>
        <p:grpSpPr>
          <a:xfrm>
            <a:off x="5372325" y="2571750"/>
            <a:ext cx="651300" cy="651300"/>
            <a:chOff x="3917950" y="2344950"/>
            <a:chExt cx="651300" cy="651300"/>
          </a:xfrm>
        </p:grpSpPr>
        <p:sp>
          <p:nvSpPr>
            <p:cNvPr id="417" name="Google Shape;417;p35"/>
            <p:cNvSpPr/>
            <p:nvPr/>
          </p:nvSpPr>
          <p:spPr>
            <a:xfrm>
              <a:off x="3917950" y="2344950"/>
              <a:ext cx="651300" cy="65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4030550" y="24575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4335350" y="27623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0" name="Google Shape;420;p35"/>
            <p:cNvSpPr/>
            <p:nvPr/>
          </p:nvSpPr>
          <p:spPr>
            <a:xfrm flipH="1" rot="10800000">
              <a:off x="4030550" y="27623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1" name="Google Shape;421;p35"/>
            <p:cNvSpPr/>
            <p:nvPr/>
          </p:nvSpPr>
          <p:spPr>
            <a:xfrm flipH="1" rot="10800000">
              <a:off x="4335350" y="24575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4182750" y="26100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23" name="Google Shape;423;p35"/>
          <p:cNvGrpSpPr/>
          <p:nvPr/>
        </p:nvGrpSpPr>
        <p:grpSpPr>
          <a:xfrm>
            <a:off x="6122975" y="2571750"/>
            <a:ext cx="651300" cy="651300"/>
            <a:chOff x="4668600" y="2344950"/>
            <a:chExt cx="651300" cy="651300"/>
          </a:xfrm>
        </p:grpSpPr>
        <p:sp>
          <p:nvSpPr>
            <p:cNvPr id="424" name="Google Shape;424;p35"/>
            <p:cNvSpPr/>
            <p:nvPr/>
          </p:nvSpPr>
          <p:spPr>
            <a:xfrm>
              <a:off x="4668600" y="2344950"/>
              <a:ext cx="651300" cy="651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4781200" y="24575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5086000" y="27623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7" name="Google Shape;427;p35"/>
            <p:cNvSpPr/>
            <p:nvPr/>
          </p:nvSpPr>
          <p:spPr>
            <a:xfrm flipH="1" rot="10800000">
              <a:off x="4781200" y="27623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8" name="Google Shape;428;p35"/>
            <p:cNvSpPr/>
            <p:nvPr/>
          </p:nvSpPr>
          <p:spPr>
            <a:xfrm flipH="1" rot="10800000">
              <a:off x="5086000" y="24575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5086000" y="26099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30" name="Google Shape;430;p35"/>
            <p:cNvSpPr/>
            <p:nvPr/>
          </p:nvSpPr>
          <p:spPr>
            <a:xfrm flipH="1" rot="10800000">
              <a:off x="4781200" y="2609950"/>
              <a:ext cx="121500" cy="1215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triples: Coin flips!</a:t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38" name="Google Shape;438;p36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39" name="Google Shape;439;p36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40" name="Google Shape;440;p36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441" name="Google Shape;441;p36"/>
          <p:cNvGrpSpPr/>
          <p:nvPr/>
        </p:nvGrpSpPr>
        <p:grpSpPr>
          <a:xfrm>
            <a:off x="2493000" y="2022875"/>
            <a:ext cx="1762425" cy="1258800"/>
            <a:chOff x="2493000" y="2022875"/>
            <a:chExt cx="1762425" cy="1258800"/>
          </a:xfrm>
        </p:grpSpPr>
        <p:sp>
          <p:nvSpPr>
            <p:cNvPr id="442" name="Google Shape;442;p36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600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44" name="Google Shape;444;p36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45" name="Google Shape;445;p36"/>
          <p:cNvGrpSpPr/>
          <p:nvPr/>
        </p:nvGrpSpPr>
        <p:grpSpPr>
          <a:xfrm>
            <a:off x="2493000" y="3451700"/>
            <a:ext cx="1762425" cy="1275000"/>
            <a:chOff x="2493000" y="3451700"/>
            <a:chExt cx="1762425" cy="1275000"/>
          </a:xfrm>
        </p:grpSpPr>
        <p:grpSp>
          <p:nvGrpSpPr>
            <p:cNvPr id="446" name="Google Shape;446;p36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447" name="Google Shape;447;p36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448" name="Google Shape;448;p36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600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449" name="Google Shape;449;p36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0" name="Google Shape;450;p36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51" name="Google Shape;451;p36"/>
          <p:cNvGrpSpPr/>
          <p:nvPr/>
        </p:nvGrpSpPr>
        <p:grpSpPr>
          <a:xfrm>
            <a:off x="4433638" y="2022875"/>
            <a:ext cx="1762425" cy="1258800"/>
            <a:chOff x="4433638" y="2022875"/>
            <a:chExt cx="1762425" cy="1258800"/>
          </a:xfrm>
        </p:grpSpPr>
        <p:sp>
          <p:nvSpPr>
            <p:cNvPr id="452" name="Google Shape;452;p36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4" name="Google Shape;454;p36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55" name="Google Shape;455;p36"/>
          <p:cNvGrpSpPr/>
          <p:nvPr/>
        </p:nvGrpSpPr>
        <p:grpSpPr>
          <a:xfrm>
            <a:off x="5027338" y="3459800"/>
            <a:ext cx="575025" cy="1258800"/>
            <a:chOff x="5027338" y="3459800"/>
            <a:chExt cx="575025" cy="1258800"/>
          </a:xfrm>
        </p:grpSpPr>
        <p:sp>
          <p:nvSpPr>
            <p:cNvPr id="456" name="Google Shape;456;p36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7" name="Google Shape;457;p36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58" name="Google Shape;458;p36"/>
          <p:cNvGrpSpPr/>
          <p:nvPr/>
        </p:nvGrpSpPr>
        <p:grpSpPr>
          <a:xfrm>
            <a:off x="6657082" y="2022887"/>
            <a:ext cx="801903" cy="572754"/>
            <a:chOff x="2493000" y="2022875"/>
            <a:chExt cx="1762425" cy="1258800"/>
          </a:xfrm>
        </p:grpSpPr>
        <p:sp>
          <p:nvSpPr>
            <p:cNvPr id="459" name="Google Shape;459;p36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273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61" name="Google Shape;461;p36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2" name="Google Shape;462;p36"/>
          <p:cNvGrpSpPr/>
          <p:nvPr/>
        </p:nvGrpSpPr>
        <p:grpSpPr>
          <a:xfrm>
            <a:off x="6656995" y="2759891"/>
            <a:ext cx="801903" cy="572754"/>
            <a:chOff x="4433638" y="2022875"/>
            <a:chExt cx="1762425" cy="1258800"/>
          </a:xfrm>
        </p:grpSpPr>
        <p:sp>
          <p:nvSpPr>
            <p:cNvPr id="463" name="Google Shape;463;p36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273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65" name="Google Shape;465;p36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6657080" y="3496907"/>
            <a:ext cx="801903" cy="580125"/>
            <a:chOff x="2493000" y="3451700"/>
            <a:chExt cx="1762425" cy="1275000"/>
          </a:xfrm>
        </p:grpSpPr>
        <p:grpSp>
          <p:nvGrpSpPr>
            <p:cNvPr id="467" name="Google Shape;467;p36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468" name="Google Shape;468;p36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469" name="Google Shape;469;p36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273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470" name="Google Shape;470;p36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71" name="Google Shape;471;p36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6927209" y="4241273"/>
            <a:ext cx="261636" cy="572754"/>
            <a:chOff x="5027338" y="3459800"/>
            <a:chExt cx="575025" cy="1258800"/>
          </a:xfrm>
        </p:grpSpPr>
        <p:sp>
          <p:nvSpPr>
            <p:cNvPr id="473" name="Google Shape;473;p36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74" name="Google Shape;474;p36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75" name="Google Shape;475;p36"/>
          <p:cNvSpPr txBox="1"/>
          <p:nvPr>
            <p:ph idx="1" type="body"/>
          </p:nvPr>
        </p:nvSpPr>
        <p:spPr>
          <a:xfrm>
            <a:off x="8056800" y="202290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76" name="Google Shape;476;p36"/>
          <p:cNvSpPr txBox="1"/>
          <p:nvPr>
            <p:ph idx="1" type="body"/>
          </p:nvPr>
        </p:nvSpPr>
        <p:spPr>
          <a:xfrm>
            <a:off x="8056800" y="2759929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77" name="Google Shape;477;p36"/>
          <p:cNvSpPr txBox="1"/>
          <p:nvPr>
            <p:ph idx="1" type="body"/>
          </p:nvPr>
        </p:nvSpPr>
        <p:spPr>
          <a:xfrm>
            <a:off x="8056800" y="350062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78" name="Google Shape;478;p36"/>
          <p:cNvSpPr txBox="1"/>
          <p:nvPr>
            <p:ph idx="1" type="body"/>
          </p:nvPr>
        </p:nvSpPr>
        <p:spPr>
          <a:xfrm>
            <a:off x="8056800" y="4241324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6617700" y="202295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6617700" y="275992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6617775" y="350060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6617775" y="424127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483" name="Google Shape;483;p36"/>
          <p:cNvCxnSpPr>
            <a:stCxn id="479" idx="3"/>
            <a:endCxn id="475" idx="1"/>
          </p:cNvCxnSpPr>
          <p:nvPr/>
        </p:nvCxnSpPr>
        <p:spPr>
          <a:xfrm>
            <a:off x="7498200" y="230930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36"/>
          <p:cNvCxnSpPr>
            <a:stCxn id="480" idx="3"/>
            <a:endCxn id="476" idx="1"/>
          </p:cNvCxnSpPr>
          <p:nvPr/>
        </p:nvCxnSpPr>
        <p:spPr>
          <a:xfrm>
            <a:off x="7498200" y="304627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36"/>
          <p:cNvCxnSpPr>
            <a:stCxn id="481" idx="3"/>
            <a:endCxn id="477" idx="1"/>
          </p:cNvCxnSpPr>
          <p:nvPr/>
        </p:nvCxnSpPr>
        <p:spPr>
          <a:xfrm>
            <a:off x="7498275" y="378695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36"/>
          <p:cNvCxnSpPr>
            <a:stCxn id="482" idx="3"/>
            <a:endCxn id="478" idx="1"/>
          </p:cNvCxnSpPr>
          <p:nvPr/>
        </p:nvCxnSpPr>
        <p:spPr>
          <a:xfrm>
            <a:off x="7498275" y="452762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triples: Coin flips!</a:t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3" name="Google Shape;493;p37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94" name="Google Shape;494;p37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95" name="Google Shape;495;p37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96" name="Google Shape;496;p37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497" name="Google Shape;497;p37"/>
          <p:cNvGrpSpPr/>
          <p:nvPr/>
        </p:nvGrpSpPr>
        <p:grpSpPr>
          <a:xfrm>
            <a:off x="2493000" y="2022875"/>
            <a:ext cx="1762425" cy="1258800"/>
            <a:chOff x="2493000" y="2022875"/>
            <a:chExt cx="1762425" cy="1258800"/>
          </a:xfrm>
        </p:grpSpPr>
        <p:sp>
          <p:nvSpPr>
            <p:cNvPr id="498" name="Google Shape;498;p37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600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00" name="Google Shape;500;p37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01" name="Google Shape;501;p37"/>
          <p:cNvGrpSpPr/>
          <p:nvPr/>
        </p:nvGrpSpPr>
        <p:grpSpPr>
          <a:xfrm>
            <a:off x="2493000" y="3451700"/>
            <a:ext cx="1762425" cy="1275000"/>
            <a:chOff x="2493000" y="3451700"/>
            <a:chExt cx="1762425" cy="1275000"/>
          </a:xfrm>
        </p:grpSpPr>
        <p:grpSp>
          <p:nvGrpSpPr>
            <p:cNvPr id="502" name="Google Shape;502;p37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503" name="Google Shape;503;p37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504" name="Google Shape;504;p37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600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505" name="Google Shape;505;p37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06" name="Google Shape;506;p37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07" name="Google Shape;507;p37"/>
          <p:cNvGrpSpPr/>
          <p:nvPr/>
        </p:nvGrpSpPr>
        <p:grpSpPr>
          <a:xfrm>
            <a:off x="4433638" y="2022875"/>
            <a:ext cx="1762425" cy="1258800"/>
            <a:chOff x="4433638" y="2022875"/>
            <a:chExt cx="1762425" cy="1258800"/>
          </a:xfrm>
        </p:grpSpPr>
        <p:sp>
          <p:nvSpPr>
            <p:cNvPr id="508" name="Google Shape;508;p37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0" name="Google Shape;510;p37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11" name="Google Shape;511;p37"/>
          <p:cNvGrpSpPr/>
          <p:nvPr/>
        </p:nvGrpSpPr>
        <p:grpSpPr>
          <a:xfrm>
            <a:off x="5027338" y="3459800"/>
            <a:ext cx="575025" cy="1258800"/>
            <a:chOff x="5027338" y="3459800"/>
            <a:chExt cx="575025" cy="1258800"/>
          </a:xfrm>
        </p:grpSpPr>
        <p:sp>
          <p:nvSpPr>
            <p:cNvPr id="512" name="Google Shape;512;p37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3" name="Google Shape;513;p37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14" name="Google Shape;514;p37"/>
          <p:cNvGrpSpPr/>
          <p:nvPr/>
        </p:nvGrpSpPr>
        <p:grpSpPr>
          <a:xfrm>
            <a:off x="6657082" y="2022887"/>
            <a:ext cx="801903" cy="572754"/>
            <a:chOff x="2493000" y="2022875"/>
            <a:chExt cx="1762425" cy="1258800"/>
          </a:xfrm>
        </p:grpSpPr>
        <p:sp>
          <p:nvSpPr>
            <p:cNvPr id="515" name="Google Shape;515;p37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273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17" name="Google Shape;517;p37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18" name="Google Shape;518;p37"/>
          <p:cNvGrpSpPr/>
          <p:nvPr/>
        </p:nvGrpSpPr>
        <p:grpSpPr>
          <a:xfrm>
            <a:off x="6656995" y="2759891"/>
            <a:ext cx="801903" cy="572754"/>
            <a:chOff x="4433638" y="2022875"/>
            <a:chExt cx="1762425" cy="1258800"/>
          </a:xfrm>
        </p:grpSpPr>
        <p:sp>
          <p:nvSpPr>
            <p:cNvPr id="519" name="Google Shape;519;p37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273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1" name="Google Shape;521;p37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22" name="Google Shape;522;p37"/>
          <p:cNvGrpSpPr/>
          <p:nvPr/>
        </p:nvGrpSpPr>
        <p:grpSpPr>
          <a:xfrm>
            <a:off x="6657080" y="3496907"/>
            <a:ext cx="801903" cy="580125"/>
            <a:chOff x="2493000" y="3451700"/>
            <a:chExt cx="1762425" cy="1275000"/>
          </a:xfrm>
        </p:grpSpPr>
        <p:grpSp>
          <p:nvGrpSpPr>
            <p:cNvPr id="523" name="Google Shape;523;p37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524" name="Google Shape;524;p37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525" name="Google Shape;525;p37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273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526" name="Google Shape;526;p37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7" name="Google Shape;527;p37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28" name="Google Shape;528;p37"/>
          <p:cNvGrpSpPr/>
          <p:nvPr/>
        </p:nvGrpSpPr>
        <p:grpSpPr>
          <a:xfrm>
            <a:off x="6927209" y="4241273"/>
            <a:ext cx="261636" cy="572754"/>
            <a:chOff x="5027338" y="3459800"/>
            <a:chExt cx="575025" cy="1258800"/>
          </a:xfrm>
        </p:grpSpPr>
        <p:sp>
          <p:nvSpPr>
            <p:cNvPr id="529" name="Google Shape;529;p37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30" name="Google Shape;530;p37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531" name="Google Shape;531;p37"/>
          <p:cNvSpPr txBox="1"/>
          <p:nvPr>
            <p:ph idx="1" type="body"/>
          </p:nvPr>
        </p:nvSpPr>
        <p:spPr>
          <a:xfrm>
            <a:off x="8056800" y="202290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32" name="Google Shape;532;p37"/>
          <p:cNvSpPr txBox="1"/>
          <p:nvPr>
            <p:ph idx="1" type="body"/>
          </p:nvPr>
        </p:nvSpPr>
        <p:spPr>
          <a:xfrm>
            <a:off x="8056800" y="2759929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33" name="Google Shape;533;p37"/>
          <p:cNvSpPr txBox="1"/>
          <p:nvPr>
            <p:ph idx="1" type="body"/>
          </p:nvPr>
        </p:nvSpPr>
        <p:spPr>
          <a:xfrm>
            <a:off x="8056800" y="350062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34" name="Google Shape;534;p37"/>
          <p:cNvSpPr txBox="1"/>
          <p:nvPr>
            <p:ph idx="1" type="body"/>
          </p:nvPr>
        </p:nvSpPr>
        <p:spPr>
          <a:xfrm>
            <a:off x="8056800" y="4241324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6617700" y="202295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6" name="Google Shape;536;p37"/>
          <p:cNvSpPr/>
          <p:nvPr/>
        </p:nvSpPr>
        <p:spPr>
          <a:xfrm>
            <a:off x="6617700" y="275992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7" name="Google Shape;537;p37"/>
          <p:cNvSpPr/>
          <p:nvPr/>
        </p:nvSpPr>
        <p:spPr>
          <a:xfrm>
            <a:off x="6617775" y="350060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6617775" y="424127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39" name="Google Shape;539;p37"/>
          <p:cNvCxnSpPr>
            <a:stCxn id="535" idx="3"/>
            <a:endCxn id="531" idx="1"/>
          </p:cNvCxnSpPr>
          <p:nvPr/>
        </p:nvCxnSpPr>
        <p:spPr>
          <a:xfrm>
            <a:off x="7498200" y="230930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37"/>
          <p:cNvCxnSpPr>
            <a:stCxn id="536" idx="3"/>
            <a:endCxn id="532" idx="1"/>
          </p:cNvCxnSpPr>
          <p:nvPr/>
        </p:nvCxnSpPr>
        <p:spPr>
          <a:xfrm>
            <a:off x="7498200" y="304627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7"/>
          <p:cNvCxnSpPr>
            <a:stCxn id="537" idx="3"/>
            <a:endCxn id="533" idx="1"/>
          </p:cNvCxnSpPr>
          <p:nvPr/>
        </p:nvCxnSpPr>
        <p:spPr>
          <a:xfrm>
            <a:off x="7498275" y="378695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37"/>
          <p:cNvCxnSpPr>
            <a:stCxn id="538" idx="3"/>
            <a:endCxn id="534" idx="1"/>
          </p:cNvCxnSpPr>
          <p:nvPr/>
        </p:nvCxnSpPr>
        <p:spPr>
          <a:xfrm>
            <a:off x="7498275" y="452762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37"/>
          <p:cNvSpPr/>
          <p:nvPr/>
        </p:nvSpPr>
        <p:spPr>
          <a:xfrm>
            <a:off x="637650" y="937150"/>
            <a:ext cx="5767800" cy="40614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4" name="Google Shape;544;p37"/>
          <p:cNvSpPr/>
          <p:nvPr/>
        </p:nvSpPr>
        <p:spPr>
          <a:xfrm>
            <a:off x="6493736" y="1084250"/>
            <a:ext cx="2455800" cy="39144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"/>
          <p:cNvSpPr/>
          <p:nvPr/>
        </p:nvSpPr>
        <p:spPr>
          <a:xfrm>
            <a:off x="6617775" y="1944200"/>
            <a:ext cx="2240700" cy="14478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0" name="Google Shape;55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𝑃</a:t>
            </a:r>
            <a:r>
              <a:rPr lang="en"/>
              <a:t> is defined by its value under elements of </a:t>
            </a:r>
            <a:r>
              <a:rPr lang="en"/>
              <a:t>𝑋</a:t>
            </a:r>
            <a:r>
              <a:rPr lang="en"/>
              <a:t>!</a:t>
            </a:r>
            <a:endParaRPr/>
          </a:p>
        </p:txBody>
      </p:sp>
      <p:sp>
        <p:nvSpPr>
          <p:cNvPr id="551" name="Google Shape;551;p38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52" name="Google Shape;552;p38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53" name="Google Shape;553;p38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54" name="Google Shape;554;p38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55" name="Google Shape;555;p38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556" name="Google Shape;556;p38"/>
          <p:cNvGrpSpPr/>
          <p:nvPr/>
        </p:nvGrpSpPr>
        <p:grpSpPr>
          <a:xfrm>
            <a:off x="2493000" y="2022875"/>
            <a:ext cx="1762425" cy="1258800"/>
            <a:chOff x="2493000" y="2022875"/>
            <a:chExt cx="1762425" cy="1258800"/>
          </a:xfrm>
        </p:grpSpPr>
        <p:sp>
          <p:nvSpPr>
            <p:cNvPr id="557" name="Google Shape;557;p38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600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59" name="Google Shape;559;p38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60" name="Google Shape;560;p38"/>
          <p:cNvGrpSpPr/>
          <p:nvPr/>
        </p:nvGrpSpPr>
        <p:grpSpPr>
          <a:xfrm>
            <a:off x="2493000" y="3451700"/>
            <a:ext cx="1762425" cy="1275000"/>
            <a:chOff x="2493000" y="3451700"/>
            <a:chExt cx="1762425" cy="1275000"/>
          </a:xfrm>
        </p:grpSpPr>
        <p:grpSp>
          <p:nvGrpSpPr>
            <p:cNvPr id="561" name="Google Shape;561;p38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562" name="Google Shape;562;p38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563" name="Google Shape;563;p38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600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564" name="Google Shape;564;p38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65" name="Google Shape;565;p38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66" name="Google Shape;566;p38"/>
          <p:cNvGrpSpPr/>
          <p:nvPr/>
        </p:nvGrpSpPr>
        <p:grpSpPr>
          <a:xfrm>
            <a:off x="4433638" y="2022875"/>
            <a:ext cx="1762425" cy="1258800"/>
            <a:chOff x="4433638" y="2022875"/>
            <a:chExt cx="1762425" cy="1258800"/>
          </a:xfrm>
        </p:grpSpPr>
        <p:sp>
          <p:nvSpPr>
            <p:cNvPr id="567" name="Google Shape;567;p38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69" name="Google Shape;569;p38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70" name="Google Shape;570;p38"/>
          <p:cNvGrpSpPr/>
          <p:nvPr/>
        </p:nvGrpSpPr>
        <p:grpSpPr>
          <a:xfrm>
            <a:off x="5027338" y="3459800"/>
            <a:ext cx="575025" cy="1258800"/>
            <a:chOff x="5027338" y="3459800"/>
            <a:chExt cx="575025" cy="1258800"/>
          </a:xfrm>
        </p:grpSpPr>
        <p:sp>
          <p:nvSpPr>
            <p:cNvPr id="571" name="Google Shape;571;p38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72" name="Google Shape;572;p38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73" name="Google Shape;573;p38"/>
          <p:cNvGrpSpPr/>
          <p:nvPr/>
        </p:nvGrpSpPr>
        <p:grpSpPr>
          <a:xfrm>
            <a:off x="6657082" y="2022887"/>
            <a:ext cx="801903" cy="572754"/>
            <a:chOff x="2493000" y="2022875"/>
            <a:chExt cx="1762425" cy="1258800"/>
          </a:xfrm>
        </p:grpSpPr>
        <p:sp>
          <p:nvSpPr>
            <p:cNvPr id="574" name="Google Shape;574;p38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273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76" name="Google Shape;576;p38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77" name="Google Shape;577;p38"/>
          <p:cNvGrpSpPr/>
          <p:nvPr/>
        </p:nvGrpSpPr>
        <p:grpSpPr>
          <a:xfrm>
            <a:off x="6656995" y="2759891"/>
            <a:ext cx="801903" cy="572754"/>
            <a:chOff x="4433638" y="2022875"/>
            <a:chExt cx="1762425" cy="1258800"/>
          </a:xfrm>
        </p:grpSpPr>
        <p:sp>
          <p:nvSpPr>
            <p:cNvPr id="578" name="Google Shape;578;p38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273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80" name="Google Shape;580;p38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81" name="Google Shape;581;p38"/>
          <p:cNvGrpSpPr/>
          <p:nvPr/>
        </p:nvGrpSpPr>
        <p:grpSpPr>
          <a:xfrm>
            <a:off x="6657080" y="3496907"/>
            <a:ext cx="801903" cy="580125"/>
            <a:chOff x="2493000" y="3451700"/>
            <a:chExt cx="1762425" cy="1275000"/>
          </a:xfrm>
        </p:grpSpPr>
        <p:grpSp>
          <p:nvGrpSpPr>
            <p:cNvPr id="582" name="Google Shape;582;p38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273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585" name="Google Shape;585;p38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86" name="Google Shape;586;p38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87" name="Google Shape;587;p38"/>
          <p:cNvGrpSpPr/>
          <p:nvPr/>
        </p:nvGrpSpPr>
        <p:grpSpPr>
          <a:xfrm>
            <a:off x="6927209" y="4241273"/>
            <a:ext cx="261636" cy="572754"/>
            <a:chOff x="5027338" y="3459800"/>
            <a:chExt cx="575025" cy="1258800"/>
          </a:xfrm>
        </p:grpSpPr>
        <p:sp>
          <p:nvSpPr>
            <p:cNvPr id="588" name="Google Shape;588;p38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89" name="Google Shape;589;p38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590" name="Google Shape;590;p38"/>
          <p:cNvSpPr txBox="1"/>
          <p:nvPr>
            <p:ph idx="1" type="body"/>
          </p:nvPr>
        </p:nvSpPr>
        <p:spPr>
          <a:xfrm>
            <a:off x="8056800" y="202290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91" name="Google Shape;591;p38"/>
          <p:cNvSpPr txBox="1"/>
          <p:nvPr>
            <p:ph idx="1" type="body"/>
          </p:nvPr>
        </p:nvSpPr>
        <p:spPr>
          <a:xfrm>
            <a:off x="8056800" y="2759929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92" name="Google Shape;592;p38"/>
          <p:cNvSpPr txBox="1"/>
          <p:nvPr>
            <p:ph idx="1" type="body"/>
          </p:nvPr>
        </p:nvSpPr>
        <p:spPr>
          <a:xfrm>
            <a:off x="8056800" y="350062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93" name="Google Shape;593;p38"/>
          <p:cNvSpPr txBox="1"/>
          <p:nvPr>
            <p:ph idx="1" type="body"/>
          </p:nvPr>
        </p:nvSpPr>
        <p:spPr>
          <a:xfrm>
            <a:off x="8056800" y="4241324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94" name="Google Shape;594;p38"/>
          <p:cNvSpPr/>
          <p:nvPr/>
        </p:nvSpPr>
        <p:spPr>
          <a:xfrm>
            <a:off x="6617700" y="202295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6617700" y="275992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96" name="Google Shape;596;p38"/>
          <p:cNvSpPr/>
          <p:nvPr/>
        </p:nvSpPr>
        <p:spPr>
          <a:xfrm>
            <a:off x="6617775" y="350060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6617775" y="424127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98" name="Google Shape;598;p38"/>
          <p:cNvCxnSpPr>
            <a:stCxn id="594" idx="3"/>
            <a:endCxn id="590" idx="1"/>
          </p:cNvCxnSpPr>
          <p:nvPr/>
        </p:nvCxnSpPr>
        <p:spPr>
          <a:xfrm>
            <a:off x="7498200" y="230930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38"/>
          <p:cNvCxnSpPr>
            <a:stCxn id="595" idx="3"/>
            <a:endCxn id="591" idx="1"/>
          </p:cNvCxnSpPr>
          <p:nvPr/>
        </p:nvCxnSpPr>
        <p:spPr>
          <a:xfrm>
            <a:off x="7498200" y="304627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0" name="Google Shape;600;p38"/>
          <p:cNvCxnSpPr>
            <a:stCxn id="596" idx="3"/>
            <a:endCxn id="592" idx="1"/>
          </p:cNvCxnSpPr>
          <p:nvPr/>
        </p:nvCxnSpPr>
        <p:spPr>
          <a:xfrm>
            <a:off x="7498275" y="378695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38"/>
          <p:cNvCxnSpPr>
            <a:stCxn id="597" idx="3"/>
            <a:endCxn id="593" idx="1"/>
          </p:cNvCxnSpPr>
          <p:nvPr/>
        </p:nvCxnSpPr>
        <p:spPr>
          <a:xfrm>
            <a:off x="7498275" y="452762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2" name="Google Shape;602;p38"/>
          <p:cNvSpPr/>
          <p:nvPr/>
        </p:nvSpPr>
        <p:spPr>
          <a:xfrm>
            <a:off x="637650" y="937150"/>
            <a:ext cx="5767800" cy="40614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6493736" y="1084250"/>
            <a:ext cx="2455800" cy="39144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 B</a:t>
            </a:r>
            <a:r>
              <a:rPr lang="en"/>
              <a:t>ecause unions sum!</a:t>
            </a:r>
            <a:endParaRPr/>
          </a:p>
        </p:txBody>
      </p:sp>
      <p:sp>
        <p:nvSpPr>
          <p:cNvPr id="609" name="Google Shape;60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Formally, a probability triple </a:t>
            </a:r>
            <a:r>
              <a:rPr lang="en">
                <a:solidFill>
                  <a:srgbClr val="999999"/>
                </a:solidFill>
                <a:latin typeface="Droid Serif"/>
                <a:ea typeface="Droid Serif"/>
                <a:cs typeface="Droid Serif"/>
                <a:sym typeface="Droid Serif"/>
              </a:rPr>
              <a:t>(𝑋, 𝛴, 𝑃)</a:t>
            </a:r>
            <a:r>
              <a:rPr lang="en">
                <a:solidFill>
                  <a:srgbClr val="999999"/>
                </a:solidFill>
              </a:rPr>
              <a:t> is a tuple of three things: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99999"/>
              </a:buClr>
              <a:buSzPts val="1800"/>
              <a:buAutoNum type="arabicPeriod"/>
            </a:pPr>
            <a:r>
              <a:rPr lang="en">
                <a:solidFill>
                  <a:srgbClr val="999999"/>
                </a:solidFill>
              </a:rPr>
              <a:t>A set of possible samples the random variable can take: 𝑋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AutoNum type="arabicPeriod"/>
            </a:pPr>
            <a:r>
              <a:rPr lang="en">
                <a:solidFill>
                  <a:srgbClr val="999999"/>
                </a:solidFill>
              </a:rPr>
              <a:t>The set of possible “events” that you are allowed to consider over these samples: </a:t>
            </a:r>
            <a:r>
              <a:rPr lang="en">
                <a:solidFill>
                  <a:srgbClr val="999999"/>
                </a:solidFill>
                <a:latin typeface="Droid Serif"/>
                <a:ea typeface="Droid Serif"/>
                <a:cs typeface="Droid Serif"/>
                <a:sym typeface="Droid Serif"/>
              </a:rPr>
              <a:t>𝛴 ⊆ 2</a:t>
            </a:r>
            <a:r>
              <a:rPr baseline="30000" lang="en">
                <a:solidFill>
                  <a:srgbClr val="999999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baseline="30000">
              <a:solidFill>
                <a:srgbClr val="999999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AutoNum type="arabicPeriod"/>
            </a:pPr>
            <a:r>
              <a:rPr lang="en">
                <a:solidFill>
                  <a:srgbClr val="999999"/>
                </a:solidFill>
              </a:rPr>
              <a:t>A measure over these samples and events that is a valid probability measure: 𝑃</a:t>
            </a:r>
            <a:r>
              <a:rPr lang="en">
                <a:solidFill>
                  <a:srgbClr val="999999"/>
                </a:solidFill>
                <a:latin typeface="Droid Serif"/>
                <a:ea typeface="Droid Serif"/>
                <a:cs typeface="Droid Serif"/>
                <a:sym typeface="Droid Serif"/>
              </a:rPr>
              <a:t>: 𝛴 → [0, 1]</a:t>
            </a:r>
            <a:r>
              <a:rPr lang="en">
                <a:solidFill>
                  <a:srgbClr val="999999"/>
                </a:solidFill>
              </a:rPr>
              <a:t>.</a:t>
            </a:r>
            <a:endParaRPr>
              <a:solidFill>
                <a:srgbClr val="999999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AutoNum type="alphaLcPeriod"/>
            </a:pPr>
            <a:r>
              <a:rPr lang="en">
                <a:solidFill>
                  <a:srgbClr val="999999"/>
                </a:solidFill>
              </a:rPr>
              <a:t>𝑃</a:t>
            </a:r>
            <a:r>
              <a:rPr lang="en">
                <a:solidFill>
                  <a:srgbClr val="999999"/>
                </a:solidFill>
                <a:latin typeface="Droid Serif"/>
                <a:ea typeface="Droid Serif"/>
                <a:cs typeface="Droid Serif"/>
                <a:sym typeface="Droid Serif"/>
              </a:rPr>
              <a:t>(𝑋) = 1</a:t>
            </a:r>
            <a:endParaRPr>
              <a:solidFill>
                <a:srgbClr val="999999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  <a:highlight>
                  <a:srgbClr val="FFF2CC"/>
                </a:highlight>
              </a:rPr>
              <a:t>For disjoint </a:t>
            </a:r>
            <a:r>
              <a:rPr baseline="-25000"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𝐴</a:t>
            </a:r>
            <a:r>
              <a:rPr baseline="-25000"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𝑖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∈𝛴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</a:rPr>
              <a:t>, 𝑃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(⋃</a:t>
            </a:r>
            <a:r>
              <a:rPr baseline="-25000"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𝑖 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𝐴</a:t>
            </a:r>
            <a:r>
              <a:rPr baseline="-25000"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𝑖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) = ∑</a:t>
            </a:r>
            <a:r>
              <a:rPr baseline="-25000"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𝑖 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</a:rPr>
              <a:t>𝑃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(𝐴</a:t>
            </a:r>
            <a:r>
              <a:rPr baseline="-25000"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𝑖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Problem! What about infinite 𝑋?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1"/>
          <p:cNvSpPr/>
          <p:nvPr/>
        </p:nvSpPr>
        <p:spPr>
          <a:xfrm>
            <a:off x="6617775" y="1944200"/>
            <a:ext cx="2240700" cy="14478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0" name="Google Shape;6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𝑃 is defined by its value under “atoms” of 𝑋!</a:t>
            </a:r>
            <a:endParaRPr/>
          </a:p>
        </p:txBody>
      </p:sp>
      <p:sp>
        <p:nvSpPr>
          <p:cNvPr id="621" name="Google Shape;621;p41"/>
          <p:cNvSpPr/>
          <p:nvPr/>
        </p:nvSpPr>
        <p:spPr>
          <a:xfrm>
            <a:off x="776700" y="2090975"/>
            <a:ext cx="1122600" cy="1122600"/>
          </a:xfrm>
          <a:prstGeom prst="ellipse">
            <a:avLst/>
          </a:prstGeom>
          <a:solidFill>
            <a:srgbClr val="D9D9D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Roboto SemiBold"/>
                <a:ea typeface="Roboto SemiBold"/>
                <a:cs typeface="Roboto SemiBold"/>
                <a:sym typeface="Roboto SemiBold"/>
              </a:rPr>
              <a:t>H</a:t>
            </a:r>
            <a:endParaRPr sz="6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22" name="Google Shape;622;p41"/>
          <p:cNvSpPr/>
          <p:nvPr/>
        </p:nvSpPr>
        <p:spPr>
          <a:xfrm>
            <a:off x="776700" y="3527900"/>
            <a:ext cx="1122600" cy="1122600"/>
          </a:xfrm>
          <a:prstGeom prst="ellipse">
            <a:avLst/>
          </a:prstGeom>
          <a:solidFill>
            <a:srgbClr val="6666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</a:t>
            </a:r>
            <a:endParaRPr sz="60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23" name="Google Shape;623;p41"/>
          <p:cNvSpPr txBox="1"/>
          <p:nvPr>
            <p:ph idx="1" type="body"/>
          </p:nvPr>
        </p:nvSpPr>
        <p:spPr>
          <a:xfrm>
            <a:off x="183000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24" name="Google Shape;624;p41"/>
          <p:cNvSpPr txBox="1"/>
          <p:nvPr>
            <p:ph idx="1" type="body"/>
          </p:nvPr>
        </p:nvSpPr>
        <p:spPr>
          <a:xfrm>
            <a:off x="2493000" y="1164500"/>
            <a:ext cx="37032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𝛴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25" name="Google Shape;625;p41"/>
          <p:cNvSpPr txBox="1"/>
          <p:nvPr>
            <p:ph idx="1" type="body"/>
          </p:nvPr>
        </p:nvSpPr>
        <p:spPr>
          <a:xfrm>
            <a:off x="6657075" y="1164500"/>
            <a:ext cx="2310000" cy="7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𝑃</a:t>
            </a:r>
            <a:endParaRPr sz="4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626" name="Google Shape;626;p41"/>
          <p:cNvGrpSpPr/>
          <p:nvPr/>
        </p:nvGrpSpPr>
        <p:grpSpPr>
          <a:xfrm>
            <a:off x="2493000" y="2022875"/>
            <a:ext cx="1762425" cy="1258800"/>
            <a:chOff x="2493000" y="2022875"/>
            <a:chExt cx="1762425" cy="1258800"/>
          </a:xfrm>
        </p:grpSpPr>
        <p:sp>
          <p:nvSpPr>
            <p:cNvPr id="627" name="Google Shape;627;p41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600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29" name="Google Shape;629;p41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30" name="Google Shape;630;p41"/>
          <p:cNvGrpSpPr/>
          <p:nvPr/>
        </p:nvGrpSpPr>
        <p:grpSpPr>
          <a:xfrm>
            <a:off x="2493000" y="3451700"/>
            <a:ext cx="1762425" cy="1275000"/>
            <a:chOff x="2493000" y="3451700"/>
            <a:chExt cx="1762425" cy="1275000"/>
          </a:xfrm>
        </p:grpSpPr>
        <p:grpSp>
          <p:nvGrpSpPr>
            <p:cNvPr id="631" name="Google Shape;631;p41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632" name="Google Shape;632;p41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633" name="Google Shape;633;p41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600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634" name="Google Shape;634;p41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35" name="Google Shape;635;p41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36" name="Google Shape;636;p41"/>
          <p:cNvGrpSpPr/>
          <p:nvPr/>
        </p:nvGrpSpPr>
        <p:grpSpPr>
          <a:xfrm>
            <a:off x="4433638" y="2022875"/>
            <a:ext cx="1762425" cy="1258800"/>
            <a:chOff x="4433638" y="2022875"/>
            <a:chExt cx="1762425" cy="1258800"/>
          </a:xfrm>
        </p:grpSpPr>
        <p:sp>
          <p:nvSpPr>
            <p:cNvPr id="637" name="Google Shape;637;p41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60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39" name="Google Shape;639;p41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40" name="Google Shape;640;p41"/>
          <p:cNvGrpSpPr/>
          <p:nvPr/>
        </p:nvGrpSpPr>
        <p:grpSpPr>
          <a:xfrm>
            <a:off x="5027338" y="3459800"/>
            <a:ext cx="575025" cy="1258800"/>
            <a:chOff x="5027338" y="3459800"/>
            <a:chExt cx="575025" cy="1258800"/>
          </a:xfrm>
        </p:grpSpPr>
        <p:sp>
          <p:nvSpPr>
            <p:cNvPr id="641" name="Google Shape;641;p41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42" name="Google Shape;642;p41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43" name="Google Shape;643;p41"/>
          <p:cNvGrpSpPr/>
          <p:nvPr/>
        </p:nvGrpSpPr>
        <p:grpSpPr>
          <a:xfrm>
            <a:off x="6657082" y="2022887"/>
            <a:ext cx="801903" cy="572754"/>
            <a:chOff x="2493000" y="2022875"/>
            <a:chExt cx="1762425" cy="1258800"/>
          </a:xfrm>
        </p:grpSpPr>
        <p:sp>
          <p:nvSpPr>
            <p:cNvPr id="644" name="Google Shape;644;p41"/>
            <p:cNvSpPr/>
            <p:nvPr/>
          </p:nvSpPr>
          <p:spPr>
            <a:xfrm>
              <a:off x="2812913" y="2090975"/>
              <a:ext cx="1122600" cy="1122600"/>
            </a:xfrm>
            <a:prstGeom prst="ellipse">
              <a:avLst/>
            </a:prstGeom>
            <a:solidFill>
              <a:srgbClr val="D9D9D9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latin typeface="Roboto SemiBold"/>
                  <a:ea typeface="Roboto SemiBold"/>
                  <a:cs typeface="Roboto SemiBold"/>
                  <a:sym typeface="Roboto SemiBold"/>
                </a:rPr>
                <a:t>H</a:t>
              </a:r>
              <a:endParaRPr sz="2730"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2493000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46" name="Google Shape;646;p41"/>
            <p:cNvSpPr/>
            <p:nvPr/>
          </p:nvSpPr>
          <p:spPr>
            <a:xfrm rot="10800000">
              <a:off x="4045725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47" name="Google Shape;647;p41"/>
          <p:cNvGrpSpPr/>
          <p:nvPr/>
        </p:nvGrpSpPr>
        <p:grpSpPr>
          <a:xfrm>
            <a:off x="6656995" y="2759891"/>
            <a:ext cx="801903" cy="572754"/>
            <a:chOff x="4433638" y="2022875"/>
            <a:chExt cx="1762425" cy="1258800"/>
          </a:xfrm>
        </p:grpSpPr>
        <p:sp>
          <p:nvSpPr>
            <p:cNvPr id="648" name="Google Shape;648;p41"/>
            <p:cNvSpPr/>
            <p:nvPr/>
          </p:nvSpPr>
          <p:spPr>
            <a:xfrm>
              <a:off x="4753550" y="2090975"/>
              <a:ext cx="1122600" cy="1122600"/>
            </a:xfrm>
            <a:prstGeom prst="ellipse">
              <a:avLst/>
            </a:prstGeom>
            <a:solidFill>
              <a:srgbClr val="666666"/>
            </a:solidFill>
            <a:ln cap="flat" cmpd="sng" w="130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</a:t>
              </a:r>
              <a:endParaRPr sz="273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4433638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50" name="Google Shape;650;p41"/>
            <p:cNvSpPr/>
            <p:nvPr/>
          </p:nvSpPr>
          <p:spPr>
            <a:xfrm rot="10800000">
              <a:off x="5986363" y="2022875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51" name="Google Shape;651;p41"/>
          <p:cNvGrpSpPr/>
          <p:nvPr/>
        </p:nvGrpSpPr>
        <p:grpSpPr>
          <a:xfrm>
            <a:off x="6657080" y="3496907"/>
            <a:ext cx="801903" cy="580125"/>
            <a:chOff x="2493000" y="3451700"/>
            <a:chExt cx="1762425" cy="1275000"/>
          </a:xfrm>
        </p:grpSpPr>
        <p:grpSp>
          <p:nvGrpSpPr>
            <p:cNvPr id="652" name="Google Shape;652;p41"/>
            <p:cNvGrpSpPr/>
            <p:nvPr/>
          </p:nvGrpSpPr>
          <p:grpSpPr>
            <a:xfrm>
              <a:off x="2702700" y="3451700"/>
              <a:ext cx="1338050" cy="1275000"/>
              <a:chOff x="3375025" y="3451700"/>
              <a:chExt cx="1338050" cy="1275000"/>
            </a:xfrm>
          </p:grpSpPr>
          <p:sp>
            <p:nvSpPr>
              <p:cNvPr id="653" name="Google Shape;653;p41"/>
              <p:cNvSpPr/>
              <p:nvPr/>
            </p:nvSpPr>
            <p:spPr>
              <a:xfrm>
                <a:off x="3590475" y="3604100"/>
                <a:ext cx="1122600" cy="1122600"/>
              </a:xfrm>
              <a:prstGeom prst="ellipse">
                <a:avLst/>
              </a:prstGeom>
              <a:solidFill>
                <a:srgbClr val="666666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solidFill>
                      <a:schemeClr val="lt1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T</a:t>
                </a:r>
                <a:endParaRPr sz="2730">
                  <a:solidFill>
                    <a:schemeClr val="lt1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  <p:sp>
            <p:nvSpPr>
              <p:cNvPr id="654" name="Google Shape;654;p41"/>
              <p:cNvSpPr/>
              <p:nvPr/>
            </p:nvSpPr>
            <p:spPr>
              <a:xfrm>
                <a:off x="3375025" y="3451700"/>
                <a:ext cx="1122600" cy="1122600"/>
              </a:xfrm>
              <a:prstGeom prst="ellipse">
                <a:avLst/>
              </a:prstGeom>
              <a:solidFill>
                <a:srgbClr val="D9D9D9"/>
              </a:solidFill>
              <a:ln cap="flat" cmpd="sng" w="130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1600" lIns="41600" spcFirstLastPara="1" rIns="41600" wrap="square" tIns="416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730">
                    <a:latin typeface="Roboto SemiBold"/>
                    <a:ea typeface="Roboto SemiBold"/>
                    <a:cs typeface="Roboto SemiBold"/>
                    <a:sym typeface="Roboto SemiBold"/>
                  </a:rPr>
                  <a:t>H</a:t>
                </a:r>
                <a:endParaRPr sz="2730"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  <p:sp>
          <p:nvSpPr>
            <p:cNvPr id="655" name="Google Shape;655;p41"/>
            <p:cNvSpPr/>
            <p:nvPr/>
          </p:nvSpPr>
          <p:spPr>
            <a:xfrm>
              <a:off x="2493000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56" name="Google Shape;656;p41"/>
            <p:cNvSpPr/>
            <p:nvPr/>
          </p:nvSpPr>
          <p:spPr>
            <a:xfrm rot="10800000">
              <a:off x="4045725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57" name="Google Shape;657;p41"/>
          <p:cNvGrpSpPr/>
          <p:nvPr/>
        </p:nvGrpSpPr>
        <p:grpSpPr>
          <a:xfrm>
            <a:off x="6927209" y="4241273"/>
            <a:ext cx="261636" cy="572754"/>
            <a:chOff x="5027338" y="3459800"/>
            <a:chExt cx="575025" cy="1258800"/>
          </a:xfrm>
        </p:grpSpPr>
        <p:sp>
          <p:nvSpPr>
            <p:cNvPr id="658" name="Google Shape;658;p41"/>
            <p:cNvSpPr/>
            <p:nvPr/>
          </p:nvSpPr>
          <p:spPr>
            <a:xfrm>
              <a:off x="5027338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59" name="Google Shape;659;p41"/>
            <p:cNvSpPr/>
            <p:nvPr/>
          </p:nvSpPr>
          <p:spPr>
            <a:xfrm rot="10800000">
              <a:off x="5392663" y="3459800"/>
              <a:ext cx="209700" cy="1258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7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1600" lIns="41600" spcFirstLastPara="1" rIns="41600" wrap="square" tIns="41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37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660" name="Google Shape;660;p41"/>
          <p:cNvSpPr txBox="1"/>
          <p:nvPr>
            <p:ph idx="1" type="body"/>
          </p:nvPr>
        </p:nvSpPr>
        <p:spPr>
          <a:xfrm>
            <a:off x="8056800" y="202290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61" name="Google Shape;661;p41"/>
          <p:cNvSpPr txBox="1"/>
          <p:nvPr>
            <p:ph idx="1" type="body"/>
          </p:nvPr>
        </p:nvSpPr>
        <p:spPr>
          <a:xfrm>
            <a:off x="8056800" y="2759929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1/2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62" name="Google Shape;662;p41"/>
          <p:cNvSpPr txBox="1"/>
          <p:nvPr>
            <p:ph idx="1" type="body"/>
          </p:nvPr>
        </p:nvSpPr>
        <p:spPr>
          <a:xfrm>
            <a:off x="8056800" y="3500620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63" name="Google Shape;663;p41"/>
          <p:cNvSpPr txBox="1"/>
          <p:nvPr>
            <p:ph idx="1" type="body"/>
          </p:nvPr>
        </p:nvSpPr>
        <p:spPr>
          <a:xfrm>
            <a:off x="8056800" y="4241324"/>
            <a:ext cx="801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endParaRPr sz="36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6617700" y="202295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6617700" y="275992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6617775" y="3500600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7" name="Google Shape;667;p41"/>
          <p:cNvSpPr/>
          <p:nvPr/>
        </p:nvSpPr>
        <p:spPr>
          <a:xfrm>
            <a:off x="6617775" y="4241275"/>
            <a:ext cx="88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668" name="Google Shape;668;p41"/>
          <p:cNvCxnSpPr>
            <a:stCxn id="664" idx="3"/>
            <a:endCxn id="660" idx="1"/>
          </p:cNvCxnSpPr>
          <p:nvPr/>
        </p:nvCxnSpPr>
        <p:spPr>
          <a:xfrm>
            <a:off x="7498200" y="230930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9" name="Google Shape;669;p41"/>
          <p:cNvCxnSpPr>
            <a:stCxn id="665" idx="3"/>
            <a:endCxn id="661" idx="1"/>
          </p:cNvCxnSpPr>
          <p:nvPr/>
        </p:nvCxnSpPr>
        <p:spPr>
          <a:xfrm>
            <a:off x="7498200" y="304627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0" name="Google Shape;670;p41"/>
          <p:cNvCxnSpPr>
            <a:stCxn id="666" idx="3"/>
            <a:endCxn id="662" idx="1"/>
          </p:cNvCxnSpPr>
          <p:nvPr/>
        </p:nvCxnSpPr>
        <p:spPr>
          <a:xfrm>
            <a:off x="7498275" y="3786950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41"/>
          <p:cNvCxnSpPr>
            <a:stCxn id="667" idx="3"/>
            <a:endCxn id="663" idx="1"/>
          </p:cNvCxnSpPr>
          <p:nvPr/>
        </p:nvCxnSpPr>
        <p:spPr>
          <a:xfrm>
            <a:off x="7498275" y="4527625"/>
            <a:ext cx="558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2" name="Google Shape;672;p41"/>
          <p:cNvSpPr/>
          <p:nvPr/>
        </p:nvSpPr>
        <p:spPr>
          <a:xfrm>
            <a:off x="637650" y="937150"/>
            <a:ext cx="5767800" cy="40614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6493736" y="1084250"/>
            <a:ext cx="2455800" cy="39144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“atom” for a set </a:t>
            </a:r>
            <a:r>
              <a:rPr lang="en"/>
              <a:t>𝑋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Intuitively</a:t>
            </a:r>
            <a:endParaRPr/>
          </a:p>
        </p:txBody>
      </p:sp>
      <p:sp>
        <p:nvSpPr>
          <p:cNvPr id="684" name="Google Shape;68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Atoms are the “smallest” parts of </a:t>
            </a:r>
            <a:r>
              <a:rPr lang="en"/>
              <a:t>𝑋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Anything that we can measure in </a:t>
            </a:r>
            <a:r>
              <a:rPr lang="en"/>
              <a:t>𝑋</a:t>
            </a:r>
            <a:r>
              <a:rPr lang="en"/>
              <a:t> must be made up of atoms.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Atoms all have the same “size” (not the same probability).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probability of an event consisting of any set of things in </a:t>
            </a:r>
            <a:r>
              <a:rPr lang="en"/>
              <a:t>𝑋</a:t>
            </a:r>
            <a:r>
              <a:rPr lang="en"/>
              <a:t> is the sum of the probability over the atoms making it up.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Informal use of atoms</a:t>
            </a:r>
            <a:endParaRPr/>
          </a:p>
        </p:txBody>
      </p:sp>
      <p:sp>
        <p:nvSpPr>
          <p:cNvPr id="690" name="Google Shape;69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 is some “atom”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use the notation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to refer to the probability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</a:t>
            </a:r>
            <a:r>
              <a:rPr lang="en"/>
              <a:t> of the atom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for an event 𝑆 ∈ 𝚺,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∑</a:t>
            </a:r>
            <a:r>
              <a:rPr baseline="-25000" lang="en"/>
              <a:t>𝑆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is the sum of the probabilities of all the atoms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 in 𝑆 (and thus is the “probability” of 𝑆).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∑</a:t>
            </a:r>
            <a:r>
              <a:rPr baseline="-25000" lang="en"/>
              <a:t>𝑆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 = 𝑃(S)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Infinite sums represented using integrals ∫</a:t>
            </a:r>
            <a:endParaRPr/>
          </a:p>
        </p:txBody>
      </p:sp>
      <p:sp>
        <p:nvSpPr>
          <p:cNvPr id="696" name="Google Shape;69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 is some “atom”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use the notation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to refer to the probability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</a:t>
            </a:r>
            <a:r>
              <a:rPr lang="en"/>
              <a:t> of the atom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for an event 𝑆 ∈ 𝚺,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is the sum of the probabilities of all the atoms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 in 𝑆 (and thus is the “probability” of 𝑆).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</a:t>
            </a:r>
            <a:r>
              <a:rPr baseline="-25000" lang="en"/>
              <a:t>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 = 𝑃(S)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Infinite sums represented using integrals ∫</a:t>
            </a:r>
            <a:endParaRPr/>
          </a:p>
        </p:txBody>
      </p:sp>
      <p:sp>
        <p:nvSpPr>
          <p:cNvPr id="702" name="Google Shape;70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 is some “atom”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use the notation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to refer to the probability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</a:t>
            </a:r>
            <a:r>
              <a:rPr lang="en"/>
              <a:t> of the atom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for an event 𝑆 ∈ 𝚺,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is the sum of the probabilities of all the atoms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 in 𝑆 (and thus is the “probability” of 𝑆).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>
                <a:solidFill>
                  <a:schemeClr val="dk1"/>
                </a:solidFill>
                <a:highlight>
                  <a:srgbClr val="FFF2CC"/>
                </a:highlight>
              </a:rPr>
              <a:t>𝑆 </a:t>
            </a:r>
            <a:r>
              <a:rPr lang="en">
                <a:solidFill>
                  <a:schemeClr val="dk1"/>
                </a:solidFill>
                <a:highlight>
                  <a:srgbClr val="FFF2CC"/>
                </a:highlight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 = 𝑃(S)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becomes PDFs and PMFs!</a:t>
            </a:r>
            <a:endParaRPr/>
          </a:p>
        </p:txBody>
      </p:sp>
      <p:sp>
        <p:nvSpPr>
          <p:cNvPr id="708" name="Google Shape;70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 is some “atom”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use the notation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to refer to the probability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</a:t>
            </a:r>
            <a:r>
              <a:rPr lang="en"/>
              <a:t> of the </a:t>
            </a:r>
            <a:r>
              <a:rPr lang="en"/>
              <a:t>atom</a:t>
            </a:r>
            <a:r>
              <a:rPr lang="en"/>
              <a:t>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for an event 𝑆 ∈ 𝚺,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</a:t>
            </a:r>
            <a:r>
              <a:rPr lang="en"/>
              <a:t> is the sum of the probabilities of all the atoms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 in 𝑆 (and thus is the “probability” of 𝑆).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𝑑𝑃(𝑥) = 𝑃(S)</a:t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that each atom of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/>
              <a:t> has size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𝑑𝑥</a:t>
            </a:r>
            <a:r>
              <a:rPr lang="en"/>
              <a:t>. Then I can write:</a:t>
            </a:r>
            <a:br>
              <a:rPr lang="en"/>
            </a:b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(𝑑𝑃(𝑥)/𝑑𝑥) 𝑑𝑥 = 𝑃(S)</a:t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becomes PDFs and PMFs!</a:t>
            </a:r>
            <a:endParaRPr/>
          </a:p>
        </p:txBody>
      </p:sp>
      <p:sp>
        <p:nvSpPr>
          <p:cNvPr id="714" name="Google Shape;714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use the notation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= (𝑑𝑃(𝑥)/𝑑𝑥)</a:t>
            </a:r>
            <a:r>
              <a:rPr lang="en"/>
              <a:t> to denote the PDF/PMF.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discrete random variable (𝑋 is finite),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= 𝑃({𝑥})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continuous random variable (𝑋 is infinite),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≠ 𝑃({𝑥})</a:t>
            </a:r>
            <a:r>
              <a:rPr lang="en"/>
              <a:t> in general.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together...</a:t>
            </a:r>
            <a:endParaRPr/>
          </a:p>
        </p:txBody>
      </p:sp>
      <p:sp>
        <p:nvSpPr>
          <p:cNvPr id="720" name="Google Shape;72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/>
              <a:t>Let 𝗑 be a random variable defined with PDF/PMF 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 sz="2100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(𝑥)</a:t>
            </a:r>
            <a:r>
              <a:rPr lang="en" sz="2100"/>
              <a:t>, then for any event 𝑆, 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𝑃(S)</a:t>
            </a:r>
            <a:r>
              <a:rPr lang="en" sz="2100"/>
              <a:t> 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= ∫</a:t>
            </a:r>
            <a:r>
              <a:rPr baseline="-25000" lang="en" sz="2100"/>
              <a:t>𝑆  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 sz="2100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(𝑥) 𝑑𝑥</a:t>
            </a:r>
            <a:r>
              <a:rPr lang="en" sz="2100"/>
              <a:t>.</a:t>
            </a:r>
            <a:endParaRPr sz="2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0"/>
          <p:cNvSpPr/>
          <p:nvPr/>
        </p:nvSpPr>
        <p:spPr>
          <a:xfrm>
            <a:off x="2470626" y="1549974"/>
            <a:ext cx="4778006" cy="2743955"/>
          </a:xfrm>
          <a:custGeom>
            <a:rect b="b" l="l" r="r" t="t"/>
            <a:pathLst>
              <a:path extrusionOk="0" h="73177" w="127422">
                <a:moveTo>
                  <a:pt x="0" y="73062"/>
                </a:moveTo>
                <a:cubicBezTo>
                  <a:pt x="2750" y="72394"/>
                  <a:pt x="11956" y="73922"/>
                  <a:pt x="16501" y="69052"/>
                </a:cubicBezTo>
                <a:cubicBezTo>
                  <a:pt x="21046" y="64182"/>
                  <a:pt x="22708" y="55339"/>
                  <a:pt x="27272" y="43842"/>
                </a:cubicBezTo>
                <a:cubicBezTo>
                  <a:pt x="31836" y="32345"/>
                  <a:pt x="32333" y="-1744"/>
                  <a:pt x="43887" y="70"/>
                </a:cubicBezTo>
                <a:cubicBezTo>
                  <a:pt x="55441" y="1884"/>
                  <a:pt x="82676" y="42544"/>
                  <a:pt x="96598" y="54728"/>
                </a:cubicBezTo>
                <a:cubicBezTo>
                  <a:pt x="110521" y="66913"/>
                  <a:pt x="122285" y="70102"/>
                  <a:pt x="127422" y="73177"/>
                </a:cubicBezTo>
              </a:path>
            </a:pathLst>
          </a:custGeom>
          <a:solidFill>
            <a:srgbClr val="CFE2F3"/>
          </a:solidFill>
          <a:ln cap="flat" cmpd="sng" w="142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26" name="Google Shape;726;p50"/>
          <p:cNvCxnSpPr/>
          <p:nvPr/>
        </p:nvCxnSpPr>
        <p:spPr>
          <a:xfrm>
            <a:off x="2474188" y="1161150"/>
            <a:ext cx="0" cy="3378300"/>
          </a:xfrm>
          <a:prstGeom prst="straightConnector1">
            <a:avLst/>
          </a:prstGeom>
          <a:noFill/>
          <a:ln cap="flat" cmpd="sng" w="142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50"/>
          <p:cNvCxnSpPr/>
          <p:nvPr/>
        </p:nvCxnSpPr>
        <p:spPr>
          <a:xfrm>
            <a:off x="1993881" y="4291315"/>
            <a:ext cx="4992000" cy="0"/>
          </a:xfrm>
          <a:prstGeom prst="straightConnector1">
            <a:avLst/>
          </a:prstGeom>
          <a:noFill/>
          <a:ln cap="flat" cmpd="sng" w="142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50"/>
          <p:cNvSpPr txBox="1"/>
          <p:nvPr/>
        </p:nvSpPr>
        <p:spPr>
          <a:xfrm>
            <a:off x="4029484" y="2550218"/>
            <a:ext cx="40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𝗑</a:t>
            </a:r>
            <a:endParaRPr sz="2100"/>
          </a:p>
        </p:txBody>
      </p:sp>
      <p:sp>
        <p:nvSpPr>
          <p:cNvPr id="729" name="Google Shape;729;p50"/>
          <p:cNvSpPr txBox="1"/>
          <p:nvPr/>
        </p:nvSpPr>
        <p:spPr>
          <a:xfrm>
            <a:off x="1895350" y="1161150"/>
            <a:ext cx="780300" cy="31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25" lIns="0" spcFirstLastPara="1" rIns="137125" wrap="square" tIns="137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 sz="2100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(𝑥)</a:t>
            </a:r>
            <a:endParaRPr sz="2100"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730" name="Google Shape;730;p50"/>
          <p:cNvSpPr txBox="1"/>
          <p:nvPr/>
        </p:nvSpPr>
        <p:spPr>
          <a:xfrm>
            <a:off x="2474188" y="4265209"/>
            <a:ext cx="4499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25" lIns="137125" spcFirstLastPara="1" rIns="137125" wrap="square" tIns="13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𝑥</a:t>
            </a:r>
            <a:endParaRPr sz="2100"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</a:t>
            </a:r>
            <a:r>
              <a:rPr baseline="-25000" lang="en"/>
              <a:t>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𝑑𝑥</a:t>
            </a:r>
            <a:r>
              <a:rPr lang="en"/>
              <a:t> really mean?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"/>
          <p:cNvSpPr txBox="1"/>
          <p:nvPr>
            <p:ph type="title"/>
          </p:nvPr>
        </p:nvSpPr>
        <p:spPr>
          <a:xfrm>
            <a:off x="490250" y="450150"/>
            <a:ext cx="7858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𝑑𝑥 = ∫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𝟙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𝑥∈</a:t>
            </a:r>
            <a:r>
              <a:rPr baseline="-25000" lang="en"/>
              <a:t>𝑆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</a:t>
            </a:r>
            <a:r>
              <a:rPr baseline="-25000" lang="en"/>
              <a:t>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𝑑𝑥</a:t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>
                <a:solidFill>
                  <a:schemeClr val="lt1"/>
                </a:solidFill>
              </a:rPr>
              <a:t>𝑆  </a:t>
            </a:r>
            <a:r>
              <a:rPr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(𝑥) 𝑑𝑥 = 𝟙</a:t>
            </a:r>
            <a:r>
              <a:rPr baseline="-25000"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𝑥∈</a:t>
            </a:r>
            <a:r>
              <a:rPr baseline="-25000" lang="en">
                <a:solidFill>
                  <a:schemeClr val="lt1"/>
                </a:solidFill>
              </a:rPr>
              <a:t>𝑆</a:t>
            </a:r>
            <a:r>
              <a:rPr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 ᐧ 𝑝</a:t>
            </a:r>
            <a:r>
              <a:rPr baseline="-25000"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endParaRPr>
              <a:solidFill>
                <a:schemeClr val="lt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3"/>
          <p:cNvSpPr txBox="1"/>
          <p:nvPr>
            <p:ph type="title"/>
          </p:nvPr>
        </p:nvSpPr>
        <p:spPr>
          <a:xfrm>
            <a:off x="490250" y="450150"/>
            <a:ext cx="7858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/>
              <a:t>𝑆 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𝑑𝑥 = ∫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𝑋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𝟙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𝑥∈</a:t>
            </a:r>
            <a:r>
              <a:rPr baseline="-25000" lang="en"/>
              <a:t>𝑆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</a:t>
            </a:r>
            <a:r>
              <a:rPr baseline="-25000" lang="en"/>
              <a:t>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(𝑥) 𝑑𝑥</a:t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∫</a:t>
            </a:r>
            <a:r>
              <a:rPr baseline="-25000" lang="en">
                <a:solidFill>
                  <a:schemeClr val="lt1"/>
                </a:solidFill>
              </a:rPr>
              <a:t>𝑆  </a:t>
            </a:r>
            <a:r>
              <a:rPr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(𝑥) 𝑑𝑥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 = 𝟙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𝑥∈</a:t>
            </a:r>
            <a:r>
              <a:rPr baseline="-25000" lang="en"/>
              <a:t>𝑆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 ᐧ 𝑝</a:t>
            </a:r>
            <a:r>
              <a:rPr baseline="-25000" lang="en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endParaRPr>
              <a:latin typeface="Droid Serif"/>
              <a:ea typeface="Droid Serif"/>
              <a:cs typeface="Droid Serif"/>
              <a:sym typeface="Droid Serif"/>
            </a:endParaRPr>
          </a:p>
        </p:txBody>
      </p:sp>
      <p:cxnSp>
        <p:nvCxnSpPr>
          <p:cNvPr id="746" name="Google Shape;746;p53"/>
          <p:cNvCxnSpPr/>
          <p:nvPr/>
        </p:nvCxnSpPr>
        <p:spPr>
          <a:xfrm>
            <a:off x="3860100" y="2737425"/>
            <a:ext cx="58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53"/>
          <p:cNvCxnSpPr/>
          <p:nvPr/>
        </p:nvCxnSpPr>
        <p:spPr>
          <a:xfrm>
            <a:off x="5152050" y="2879150"/>
            <a:ext cx="58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of a random variable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“definition”</a:t>
            </a:r>
            <a:endParaRPr/>
          </a:p>
        </p:txBody>
      </p:sp>
      <p:sp>
        <p:nvSpPr>
          <p:cNvPr id="758" name="Google Shape;75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expected value of a random variable is the weighted average of all the possible values it can take: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∑</a:t>
            </a:r>
            <a:r>
              <a:rPr baseline="-25000" lang="en"/>
              <a:t>𝑋 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𝑥 𝑃({𝑥})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“Expectation” operator computes the inner product of a function and the probability distribution</a:t>
            </a:r>
            <a:endParaRPr/>
          </a:p>
        </p:txBody>
      </p:sp>
      <p:sp>
        <p:nvSpPr>
          <p:cNvPr id="764" name="Google Shape;764;p56"/>
          <p:cNvSpPr txBox="1"/>
          <p:nvPr/>
        </p:nvSpPr>
        <p:spPr>
          <a:xfrm>
            <a:off x="583575" y="1562825"/>
            <a:ext cx="6058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Let 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𝑓 : 𝑋 → ℝ</a:t>
            </a:r>
            <a:endParaRPr sz="3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𝔼</a:t>
            </a:r>
            <a:r>
              <a:rPr baseline="-25000"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[ 𝑓 ] = ∫</a:t>
            </a:r>
            <a:r>
              <a:rPr baseline="-25000"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𝑋 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𝑓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(𝑥)</a:t>
            </a:r>
            <a:r>
              <a:rPr baseline="-25000" lang="en" sz="3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𝑝</a:t>
            </a:r>
            <a:r>
              <a:rPr baseline="-25000"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(𝑥) 𝑑𝑥</a:t>
            </a:r>
            <a:endParaRPr sz="3800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𝔼</a:t>
            </a:r>
            <a:r>
              <a:rPr baseline="-25000" lang="en" sz="3800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3800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[ 𝑓 ] 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 = 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𝑓</a:t>
            </a:r>
            <a:r>
              <a:rPr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 ᐧ 𝑝</a:t>
            </a:r>
            <a:r>
              <a:rPr baseline="-25000" lang="en" sz="3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endParaRPr sz="3800"/>
          </a:p>
        </p:txBody>
      </p:sp>
      <p:cxnSp>
        <p:nvCxnSpPr>
          <p:cNvPr id="765" name="Google Shape;765;p56"/>
          <p:cNvCxnSpPr/>
          <p:nvPr/>
        </p:nvCxnSpPr>
        <p:spPr>
          <a:xfrm>
            <a:off x="2469425" y="3430100"/>
            <a:ext cx="26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56"/>
          <p:cNvCxnSpPr/>
          <p:nvPr/>
        </p:nvCxnSpPr>
        <p:spPr>
          <a:xfrm>
            <a:off x="3016125" y="3554150"/>
            <a:ext cx="39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is </a:t>
            </a:r>
            <a:r>
              <a:rPr i="1" lang="en"/>
              <a:t>the</a:t>
            </a:r>
            <a:r>
              <a:rPr lang="en"/>
              <a:t> fundamental operation over random variables.</a:t>
            </a:r>
            <a:endParaRPr/>
          </a:p>
        </p:txBody>
      </p:sp>
      <p:sp>
        <p:nvSpPr>
          <p:cNvPr id="772" name="Google Shape;772;p57"/>
          <p:cNvSpPr txBox="1"/>
          <p:nvPr>
            <p:ph idx="1" type="body"/>
          </p:nvPr>
        </p:nvSpPr>
        <p:spPr>
          <a:xfrm>
            <a:off x="311700" y="1343975"/>
            <a:ext cx="8520600" cy="32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𝑃(S)</a:t>
            </a:r>
            <a:r>
              <a:rPr lang="en" sz="2100"/>
              <a:t> 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= 𝔼</a:t>
            </a:r>
            <a:r>
              <a:rPr baseline="-25000" lang="en" sz="2100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[ 𝟙</a:t>
            </a:r>
            <a:r>
              <a:rPr baseline="-25000" lang="en" sz="2100">
                <a:latin typeface="Droid Serif"/>
                <a:ea typeface="Droid Serif"/>
                <a:cs typeface="Droid Serif"/>
                <a:sym typeface="Droid Serif"/>
              </a:rPr>
              <a:t>𝑥∈</a:t>
            </a:r>
            <a:r>
              <a:rPr baseline="-25000" lang="en" sz="2100"/>
              <a:t>𝑆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 ]</a:t>
            </a:r>
            <a:endParaRPr sz="2100">
              <a:latin typeface="Droid Serif"/>
              <a:ea typeface="Droid Serif"/>
              <a:cs typeface="Droid Serif"/>
              <a:sym typeface="Droid Serif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Droid Serif"/>
              <a:buChar char="●"/>
            </a:pP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𝝁 = 𝔼</a:t>
            </a:r>
            <a:r>
              <a:rPr baseline="-25000" lang="en" sz="2100">
                <a:latin typeface="Droid Serif"/>
                <a:ea typeface="Droid Serif"/>
                <a:cs typeface="Droid Serif"/>
                <a:sym typeface="Droid Serif"/>
              </a:rPr>
              <a:t>𝗑</a:t>
            </a:r>
            <a:r>
              <a:rPr lang="en" sz="2100">
                <a:latin typeface="Droid Serif"/>
                <a:ea typeface="Droid Serif"/>
                <a:cs typeface="Droid Serif"/>
                <a:sym typeface="Droid Serif"/>
              </a:rPr>
              <a:t>[𝑥]</a:t>
            </a:r>
            <a:endParaRPr sz="2100">
              <a:latin typeface="Droid Serif"/>
              <a:ea typeface="Droid Serif"/>
              <a:cs typeface="Droid Serif"/>
              <a:sym typeface="Droid Serif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Moments of a distribution are expectations of powers.</a:t>
            </a:r>
            <a:endParaRPr sz="2100"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Expectation</a:t>
            </a:r>
            <a:endParaRPr/>
          </a:p>
        </p:txBody>
      </p:sp>
      <p:sp>
        <p:nvSpPr>
          <p:cNvPr id="778" name="Google Shape;77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Expectation is linear.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certain circumstances, we can commute expectation and differentiation.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Joint, conditional, and marginal random variables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</a:t>
            </a:r>
            <a:r>
              <a:rPr lang="en"/>
              <a:t>𝗑</a:t>
            </a:r>
            <a:r>
              <a:rPr lang="en"/>
              <a:t> and </a:t>
            </a:r>
            <a:r>
              <a:rPr lang="en"/>
              <a:t>𝗒</a:t>
            </a:r>
            <a:r>
              <a:rPr lang="en"/>
              <a:t> are random variables. What is the distribution for </a:t>
            </a:r>
            <a:r>
              <a:rPr lang="en"/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 + </a:t>
            </a:r>
            <a:r>
              <a:rPr lang="en"/>
              <a:t>𝗒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1"/>
          <p:cNvSpPr txBox="1"/>
          <p:nvPr>
            <p:ph type="title"/>
          </p:nvPr>
        </p:nvSpPr>
        <p:spPr>
          <a:xfrm>
            <a:off x="490250" y="450150"/>
            <a:ext cx="6854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Suppose 𝗑 and 𝗒 are random variables.</a:t>
            </a:r>
            <a:br>
              <a:rPr lang="en">
                <a:solidFill>
                  <a:schemeClr val="dk2"/>
                </a:solidFill>
              </a:rPr>
            </a:br>
            <a:r>
              <a:rPr lang="en"/>
              <a:t>What is the distribution for </a:t>
            </a:r>
            <a:r>
              <a:rPr lang="en"/>
              <a:t>(𝑋, 𝛴, 𝑃)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 + </a:t>
            </a:r>
            <a:r>
              <a:rPr lang="en"/>
              <a:t>(𝑌, 𝛴’, 𝑃’)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2"/>
          <p:cNvSpPr txBox="1"/>
          <p:nvPr>
            <p:ph type="title"/>
          </p:nvPr>
        </p:nvSpPr>
        <p:spPr>
          <a:xfrm>
            <a:off x="490250" y="450150"/>
            <a:ext cx="7614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𝗑</a:t>
            </a:r>
            <a:r>
              <a:rPr lang="en">
                <a:latin typeface="Droid Serif"/>
                <a:ea typeface="Droid Serif"/>
                <a:cs typeface="Droid Serif"/>
                <a:sym typeface="Droid Serif"/>
              </a:rPr>
              <a:t> + </a:t>
            </a:r>
            <a:r>
              <a:rPr lang="en"/>
              <a:t>𝗒 can’t be defined unless I have an element-wise way to relate (𝑋, 𝛴, 𝑃) &amp; (𝑌, 𝛴’, 𝑃’)!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Define </a:t>
            </a:r>
            <a:br>
              <a:rPr lang="en"/>
            </a:br>
            <a:r>
              <a:rPr lang="en"/>
              <a:t>(𝑋 × 𝑌, 𝛴 × 𝛴’, 𝑃 × 𝑃’)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(alternate): Define </a:t>
            </a:r>
            <a:r>
              <a:rPr lang="en"/>
              <a:t>𝑍 such that</a:t>
            </a:r>
            <a:br>
              <a:rPr lang="en"/>
            </a:br>
            <a:r>
              <a:rPr lang="en"/>
              <a:t>𝑍</a:t>
            </a:r>
            <a:r>
              <a:rPr lang="en"/>
              <a:t> → 𝑋 and </a:t>
            </a:r>
            <a:r>
              <a:rPr lang="en"/>
              <a:t>𝑍 → </a:t>
            </a:r>
            <a:r>
              <a:rPr lang="en"/>
              <a:t>𝑌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65" title="PXL_20260119_17083567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275" y="152400"/>
            <a:ext cx="393144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Two dice!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63" y="943425"/>
            <a:ext cx="7992275" cy="32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8"/>
          <p:cNvSpPr txBox="1"/>
          <p:nvPr>
            <p:ph type="title"/>
          </p:nvPr>
        </p:nvSpPr>
        <p:spPr>
          <a:xfrm>
            <a:off x="490250" y="450150"/>
            <a:ext cx="5299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Two dice and their sum!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900" y="587175"/>
            <a:ext cx="5292200" cy="39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thew McDermott Research Slid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9BAEBC"/>
      </a:lt2>
      <a:accent1>
        <a:srgbClr val="87B0CD"/>
      </a:accent1>
      <a:accent2>
        <a:srgbClr val="1B303D"/>
      </a:accent2>
      <a:accent3>
        <a:srgbClr val="677987"/>
      </a:accent3>
      <a:accent4>
        <a:srgbClr val="3C2734"/>
      </a:accent4>
      <a:accent5>
        <a:srgbClr val="6C5563"/>
      </a:accent5>
      <a:accent6>
        <a:srgbClr val="EB9928"/>
      </a:accent6>
      <a:hlink>
        <a:srgbClr val="00A3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