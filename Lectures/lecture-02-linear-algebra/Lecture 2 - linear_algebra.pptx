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Roboto Mono Light"/>
      <p:regular r:id="rId16"/>
      <p:bold r:id="rId17"/>
      <p:italic r:id="rId18"/>
      <p:boldItalic r:id="rId19"/>
    </p:embeddedFont>
    <p:embeddedFont>
      <p:font typeface="Roboto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regular.fntdata"/><Relationship Id="rId11" Type="http://schemas.openxmlformats.org/officeDocument/2006/relationships/slide" Target="slides/slide6.xml"/><Relationship Id="rId22" Type="http://schemas.openxmlformats.org/officeDocument/2006/relationships/font" Target="fonts/RobotoLight-italic.fntdata"/><Relationship Id="rId10" Type="http://schemas.openxmlformats.org/officeDocument/2006/relationships/slide" Target="slides/slide5.xml"/><Relationship Id="rId21" Type="http://schemas.openxmlformats.org/officeDocument/2006/relationships/font" Target="fonts/RobotoLight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Roboto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RobotoMonoLight-bold.fntdata"/><Relationship Id="rId16" Type="http://schemas.openxmlformats.org/officeDocument/2006/relationships/font" Target="fonts/RobotoMono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Light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818d14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818d14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935d4e66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935d4e66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9fd9f7e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9fd9f7e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9fd9f7e0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9fd9f7e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9fd9f7e0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9fd9f7e0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14" name="Google Shape;14;p2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19" name="Google Shape;19;p2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" name="Google Shape;23;p2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" name="Google Shape;24;p2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" name="Google Shape;38;p2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39" name="Google Shape;39;p2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2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43" name="Google Shape;4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2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45" name="Google Shape;4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1_1_2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ctrTitle"/>
          </p:nvPr>
        </p:nvSpPr>
        <p:spPr>
          <a:xfrm>
            <a:off x="311708" y="668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804600" y="27698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2" type="subTitle"/>
          </p:nvPr>
        </p:nvSpPr>
        <p:spPr>
          <a:xfrm>
            <a:off x="804500" y="31279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3"/>
          <p:cNvSpPr txBox="1"/>
          <p:nvPr>
            <p:ph idx="3" type="subTitle"/>
          </p:nvPr>
        </p:nvSpPr>
        <p:spPr>
          <a:xfrm>
            <a:off x="796664" y="34207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52" name="Google Shape;52;p3"/>
          <p:cNvGrpSpPr/>
          <p:nvPr/>
        </p:nvGrpSpPr>
        <p:grpSpPr>
          <a:xfrm>
            <a:off x="481314" y="3491525"/>
            <a:ext cx="217200" cy="160400"/>
            <a:chOff x="481314" y="3186725"/>
            <a:chExt cx="217200" cy="160400"/>
          </a:xfrm>
        </p:grpSpPr>
        <p:sp>
          <p:nvSpPr>
            <p:cNvPr id="53" name="Google Shape;53;p3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481325" y="3182975"/>
            <a:ext cx="217200" cy="192637"/>
            <a:chOff x="481175" y="2886675"/>
            <a:chExt cx="217200" cy="192637"/>
          </a:xfrm>
        </p:grpSpPr>
        <p:sp>
          <p:nvSpPr>
            <p:cNvPr id="58" name="Google Shape;58;p3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" name="Google Shape;60;p3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" name="Google Shape;62;p3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" name="Google Shape;63;p3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67" name="Google Shape;67;p3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" name="Google Shape;77;p3"/>
          <p:cNvGrpSpPr/>
          <p:nvPr/>
        </p:nvGrpSpPr>
        <p:grpSpPr>
          <a:xfrm>
            <a:off x="481334" y="2837856"/>
            <a:ext cx="217170" cy="213486"/>
            <a:chOff x="997925" y="1292537"/>
            <a:chExt cx="703500" cy="691563"/>
          </a:xfrm>
        </p:grpSpPr>
        <p:sp>
          <p:nvSpPr>
            <p:cNvPr id="78" name="Google Shape;78;p3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" name="Google Shape;81;p3"/>
          <p:cNvPicPr preferRelativeResize="0"/>
          <p:nvPr/>
        </p:nvPicPr>
        <p:blipFill rotWithShape="1">
          <a:blip r:embed="rId2">
            <a:alphaModFix/>
          </a:blip>
          <a:srcRect b="11004" l="0" r="0" t="11011"/>
          <a:stretch/>
        </p:blipFill>
        <p:spPr>
          <a:xfrm>
            <a:off x="141596" y="4681554"/>
            <a:ext cx="3154850" cy="38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1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25" y="3857251"/>
            <a:ext cx="990648" cy="99064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4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4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4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88" name="Google Shape;88;p4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89" name="Google Shape;89;p4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94" name="Google Shape;94;p4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4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8" name="Google Shape;98;p4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" name="Google Shape;99;p4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4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114" name="Google Shape;114;p4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11004" l="0" r="0" t="11011"/>
          <a:stretch/>
        </p:blipFill>
        <p:spPr>
          <a:xfrm>
            <a:off x="5888196" y="4667404"/>
            <a:ext cx="3154850" cy="38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119" name="Google Shape;1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4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121" name="Google Shape;12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3" name="Google Shape;1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>
                <a:solidFill>
                  <a:schemeClr val="accent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A">
  <p:cSld name="CUSTOM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>
            <p:ph idx="2" type="pic"/>
          </p:nvPr>
        </p:nvSpPr>
        <p:spPr>
          <a:xfrm>
            <a:off x="3035838" y="1471024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/>
        </p:nvSpPr>
        <p:spPr>
          <a:xfrm>
            <a:off x="256062" y="120584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256062" y="330896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382542" y="120512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3" type="body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4" type="body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63" name="Google Shape;163;p16"/>
          <p:cNvCxnSpPr/>
          <p:nvPr/>
        </p:nvCxnSpPr>
        <p:spPr>
          <a:xfrm>
            <a:off x="628506" y="140695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6"/>
          <p:cNvCxnSpPr/>
          <p:nvPr/>
        </p:nvCxnSpPr>
        <p:spPr>
          <a:xfrm>
            <a:off x="628506" y="3509382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6760631" y="1406288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6760631" y="350940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6"/>
          <p:cNvSpPr txBox="1"/>
          <p:nvPr/>
        </p:nvSpPr>
        <p:spPr>
          <a:xfrm>
            <a:off x="6382546" y="330823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16"/>
          <p:cNvSpPr txBox="1"/>
          <p:nvPr>
            <p:ph idx="5" type="body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3" name="Google Shape;1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1 Column 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493775" y="976232"/>
            <a:ext cx="57960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4444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493775" y="227102"/>
            <a:ext cx="7886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2700"/>
              <a:buFont typeface="Arial"/>
              <a:buNone/>
              <a:defRPr b="0" i="0" sz="2700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493776" y="2889721"/>
            <a:ext cx="4978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type="ctrTitle"/>
          </p:nvPr>
        </p:nvSpPr>
        <p:spPr>
          <a:xfrm>
            <a:off x="493776" y="1022130"/>
            <a:ext cx="49788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rm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4500"/>
              <a:buFont typeface="Arial"/>
              <a:buNone/>
              <a:defRPr b="0" i="0" sz="4500" cap="none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2" type="body"/>
          </p:nvPr>
        </p:nvSpPr>
        <p:spPr>
          <a:xfrm>
            <a:off x="493777" y="3714749"/>
            <a:ext cx="49788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i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0"/>
          <p:cNvSpPr txBox="1"/>
          <p:nvPr>
            <p:ph idx="1" type="subTitle"/>
          </p:nvPr>
        </p:nvSpPr>
        <p:spPr>
          <a:xfrm>
            <a:off x="311700" y="4663225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BINF 4002</a:t>
            </a:r>
            <a:endParaRPr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2: Linear Algebra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Approximate Syllabus is on Courseworks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V1 of answers for something including the 11 questions from the initial assignment also on Courseworks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Class: Vector / Vector Space / Linear Operator / Matrix?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do we care (preview)?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Linearity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Vector 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Linear Operators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Bases and Coordinatization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do we care?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  <p:pic>
        <p:nvPicPr>
          <p:cNvPr id="214" name="Google Shape;2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050" y="1340900"/>
            <a:ext cx="6309899" cy="29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Things to Look Up</a:t>
            </a:r>
            <a:endParaRPr/>
          </a:p>
        </p:txBody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Eigen values and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Singular values and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Matrix vector derivative identities (e.g., what is the derivative of Trace)?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Matrix exponentiation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thew McDermott Research Slid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9BAEBC"/>
      </a:lt2>
      <a:accent1>
        <a:srgbClr val="87B0CD"/>
      </a:accent1>
      <a:accent2>
        <a:srgbClr val="1B303D"/>
      </a:accent2>
      <a:accent3>
        <a:srgbClr val="677987"/>
      </a:accent3>
      <a:accent4>
        <a:srgbClr val="3C2734"/>
      </a:accent4>
      <a:accent5>
        <a:srgbClr val="6C5563"/>
      </a:accent5>
      <a:accent6>
        <a:srgbClr val="EB9928"/>
      </a:accent6>
      <a:hlink>
        <a:srgbClr val="00A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