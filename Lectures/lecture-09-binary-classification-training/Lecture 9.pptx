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5143500" cx="9144000"/>
  <p:notesSz cx="6858000" cy="9144000"/>
  <p:embeddedFontLst>
    <p:embeddedFont>
      <p:font typeface="Roboto"/>
      <p:regular r:id="rId59"/>
      <p:bold r:id="rId60"/>
      <p:italic r:id="rId61"/>
      <p:boldItalic r:id="rId62"/>
    </p:embeddedFont>
    <p:embeddedFont>
      <p:font typeface="Roboto Mono Light"/>
      <p:regular r:id="rId63"/>
      <p:bold r:id="rId64"/>
      <p:italic r:id="rId65"/>
      <p:boldItalic r:id="rId66"/>
    </p:embeddedFont>
    <p:embeddedFont>
      <p:font typeface="Roboto Light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schemas.openxmlformats.org/officeDocument/2006/relationships/font" Target="fonts/RobotoLight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oboto-boldItalic.fntdata"/><Relationship Id="rId61" Type="http://schemas.openxmlformats.org/officeDocument/2006/relationships/font" Target="fonts/Roboto-italic.fntdata"/><Relationship Id="rId20" Type="http://schemas.openxmlformats.org/officeDocument/2006/relationships/slide" Target="slides/slide15.xml"/><Relationship Id="rId64" Type="http://schemas.openxmlformats.org/officeDocument/2006/relationships/font" Target="fonts/RobotoMonoLight-bold.fntdata"/><Relationship Id="rId63" Type="http://schemas.openxmlformats.org/officeDocument/2006/relationships/font" Target="fonts/RobotoMonoLight-regular.fntdata"/><Relationship Id="rId22" Type="http://schemas.openxmlformats.org/officeDocument/2006/relationships/slide" Target="slides/slide17.xml"/><Relationship Id="rId66" Type="http://schemas.openxmlformats.org/officeDocument/2006/relationships/font" Target="fonts/RobotoMonoLight-boldItalic.fntdata"/><Relationship Id="rId21" Type="http://schemas.openxmlformats.org/officeDocument/2006/relationships/slide" Target="slides/slide16.xml"/><Relationship Id="rId65" Type="http://schemas.openxmlformats.org/officeDocument/2006/relationships/font" Target="fonts/RobotoMonoLight-italic.fntdata"/><Relationship Id="rId24" Type="http://schemas.openxmlformats.org/officeDocument/2006/relationships/slide" Target="slides/slide19.xml"/><Relationship Id="rId68" Type="http://schemas.openxmlformats.org/officeDocument/2006/relationships/font" Target="fonts/RobotoLight-bold.fntdata"/><Relationship Id="rId23" Type="http://schemas.openxmlformats.org/officeDocument/2006/relationships/slide" Target="slides/slide18.xml"/><Relationship Id="rId67" Type="http://schemas.openxmlformats.org/officeDocument/2006/relationships/font" Target="fonts/RobotoLight-regular.fntdata"/><Relationship Id="rId60" Type="http://schemas.openxmlformats.org/officeDocument/2006/relationships/font" Target="fonts/Roboto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RobotoLight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Roboto-regular.fntdata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lab.research.google.com/drive/1YaeNI1w4AEPgEzAmSnot2wCUnPjwSFOh#scrollTo=531a96b4" TargetMode="Externa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89ef21a2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c89ef21a2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89ef21a20_1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c89ef21a20_1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86d5e39c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c86d5e39c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86d5e39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c86d5e39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89ef21a20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c89ef21a20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86d5e39c0_0_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c86d5e39c0_0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c86d5e39c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c86d5e39c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86d5e39c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c86d5e39c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86d5e39c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c86d5e39c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86d5e39c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c86d5e39c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c86d5e39c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c86d5e39c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86d5e39c0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c86d5e39c0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c86d5e39c0_0_9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c86d5e39c0_0_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c86d5e39c0_0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c86d5e39c0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c86d5e39c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c86d5e39c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c89ef21a2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c89ef21a2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c89ef21a20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c89ef21a20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c89ef21a20_1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c89ef21a20_1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c86d5e39c0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c86d5e39c0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c89ef21a20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3c89ef21a20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c89ef21a20_2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3c89ef21a20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c86d5e39c0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3c86d5e39c0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c86d5e39c0_0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3c86d5e39c0_0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c86d5e39c0_0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3c86d5e39c0_0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c86d5e39c0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3c86d5e39c0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c86d5e39c0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3c86d5e39c0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c86d5e39c0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3c86d5e39c0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c86d5e39c0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3c86d5e39c0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c86d5e39c0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3c86d5e39c0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3c86d5e39c0_0_1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3c86d5e39c0_0_1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3c89ef21a20_1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3c89ef21a20_1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3c86d5e39c0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3c86d5e39c0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3c86d5e39c0_0_1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3c86d5e39c0_0_1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3c86d5e39c0_0_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3c86d5e39c0_0_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https://colab.research.google.com/drive/1YaeNI1w4AEPgEzAmSnot2wCUnPjwSFOh#scrollTo=531a96b4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3c86d5e39c0_0_10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3c86d5e39c0_0_1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3c89ef21a20_2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3c89ef21a20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3c89ef21a20_2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3c89ef21a20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3c89ef21a20_1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3c89ef21a20_1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3c89ef21a20_1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3c89ef21a20_1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3c89ef21a20_1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g3c89ef21a20_1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3c89ef21a20_1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3c89ef21a20_1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3c89ef21a20_1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3c89ef21a20_1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3c86d5e39c0_0_1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3c86d5e39c0_0_1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3c89ef21a20_1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3c89ef21a20_1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3c86d5e39c0_0_1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3c86d5e39c0_0_1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3c86d5e39c0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g3c86d5e39c0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g3c89ef21a20_1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5" name="Google Shape;1475;g3c89ef21a20_1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392f8b5cdb4_0_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392f8b5cdb4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3c86d5e39c0_0_1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3c86d5e39c0_0_1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3c86d5e39c0_0_1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3c86d5e39c0_0_1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3c89ef21a20_1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3c89ef21a20_1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3c86d5e39c0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3c86d5e39c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_1">
    <p:bg>
      <p:bgPr>
        <a:gradFill>
          <a:gsLst>
            <a:gs pos="0">
              <a:schemeClr val="lt1"/>
            </a:gs>
            <a:gs pos="74000">
              <a:schemeClr val="lt1"/>
            </a:gs>
            <a:gs pos="100000">
              <a:srgbClr val="F3F3F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11708" y="363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804600" y="2465056"/>
            <a:ext cx="8027700" cy="34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subTitle"/>
          </p:nvPr>
        </p:nvSpPr>
        <p:spPr>
          <a:xfrm>
            <a:off x="804500" y="2823150"/>
            <a:ext cx="8027700" cy="302700"/>
          </a:xfrm>
          <a:prstGeom prst="rect">
            <a:avLst/>
          </a:prstGeom>
        </p:spPr>
        <p:txBody>
          <a:bodyPr anchorCtr="0" anchor="ctr" bIns="0" lIns="27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" name="Google Shape;12;p2"/>
          <p:cNvSpPr txBox="1"/>
          <p:nvPr>
            <p:ph idx="3" type="subTitle"/>
          </p:nvPr>
        </p:nvSpPr>
        <p:spPr>
          <a:xfrm>
            <a:off x="796664" y="3115925"/>
            <a:ext cx="8027700" cy="302700"/>
          </a:xfrm>
          <a:prstGeom prst="rect">
            <a:avLst/>
          </a:prstGeom>
        </p:spPr>
        <p:txBody>
          <a:bodyPr anchorCtr="0" anchor="ctr" bIns="0" lIns="365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grpSp>
        <p:nvGrpSpPr>
          <p:cNvPr id="13" name="Google Shape;13;p2"/>
          <p:cNvGrpSpPr/>
          <p:nvPr/>
        </p:nvGrpSpPr>
        <p:grpSpPr>
          <a:xfrm>
            <a:off x="481314" y="3186725"/>
            <a:ext cx="217200" cy="160400"/>
            <a:chOff x="481314" y="3186725"/>
            <a:chExt cx="217200" cy="160400"/>
          </a:xfrm>
        </p:grpSpPr>
        <p:sp>
          <p:nvSpPr>
            <p:cNvPr id="14" name="Google Shape;14;p2"/>
            <p:cNvSpPr/>
            <p:nvPr/>
          </p:nvSpPr>
          <p:spPr>
            <a:xfrm>
              <a:off x="481314" y="3187475"/>
              <a:ext cx="217200" cy="1596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81314" y="32451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 rot="10800000">
              <a:off x="499250" y="3186725"/>
              <a:ext cx="181200" cy="1041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8" rotWithShape="0" algn="bl" dir="5400000" dist="9525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 rot="10800000">
              <a:off x="481314" y="31875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481325" y="2878175"/>
            <a:ext cx="217200" cy="192637"/>
            <a:chOff x="481175" y="2886675"/>
            <a:chExt cx="217200" cy="192637"/>
          </a:xfrm>
        </p:grpSpPr>
        <p:sp>
          <p:nvSpPr>
            <p:cNvPr id="19" name="Google Shape;19;p2"/>
            <p:cNvSpPr/>
            <p:nvPr/>
          </p:nvSpPr>
          <p:spPr>
            <a:xfrm>
              <a:off x="481175" y="3064612"/>
              <a:ext cx="217200" cy="14700"/>
            </a:xfrm>
            <a:prstGeom prst="trapezoid">
              <a:avLst>
                <a:gd fmla="val 44417" name="adj"/>
              </a:avLst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89700" y="2886675"/>
              <a:ext cx="198600" cy="183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" name="Google Shape;21;p2"/>
            <p:cNvGrpSpPr/>
            <p:nvPr/>
          </p:nvGrpSpPr>
          <p:grpSpPr>
            <a:xfrm>
              <a:off x="551760" y="2997815"/>
              <a:ext cx="74969" cy="70120"/>
              <a:chOff x="611205" y="3668129"/>
              <a:chExt cx="65100" cy="609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611205" y="3668129"/>
                <a:ext cx="65100" cy="609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" name="Google Shape;23;p2"/>
              <p:cNvCxnSpPr/>
              <p:nvPr/>
            </p:nvCxnSpPr>
            <p:spPr>
              <a:xfrm>
                <a:off x="643703" y="3668129"/>
                <a:ext cx="0" cy="6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4" name="Google Shape;24;p2"/>
            <p:cNvGrpSpPr/>
            <p:nvPr/>
          </p:nvGrpSpPr>
          <p:grpSpPr>
            <a:xfrm>
              <a:off x="552567" y="2905487"/>
              <a:ext cx="26630" cy="72914"/>
              <a:chOff x="611205" y="3568524"/>
              <a:chExt cx="28500" cy="78016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61120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61120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>
              <a:off x="599157" y="2905456"/>
              <a:ext cx="26630" cy="72914"/>
              <a:chOff x="647625" y="3568524"/>
              <a:chExt cx="28500" cy="78016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64762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64762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>
              <a:off x="505970" y="2905429"/>
              <a:ext cx="26636" cy="119026"/>
              <a:chOff x="501943" y="3568524"/>
              <a:chExt cx="28500" cy="127533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" name="Google Shape;34;p2"/>
            <p:cNvGrpSpPr/>
            <p:nvPr/>
          </p:nvGrpSpPr>
          <p:grpSpPr>
            <a:xfrm>
              <a:off x="645734" y="2905467"/>
              <a:ext cx="26636" cy="119026"/>
              <a:chOff x="501943" y="3568524"/>
              <a:chExt cx="28500" cy="127533"/>
            </a:xfrm>
          </p:grpSpPr>
          <p:sp>
            <p:nvSpPr>
              <p:cNvPr id="35" name="Google Shape;35;p2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" name="Google Shape;38;p2"/>
          <p:cNvGrpSpPr/>
          <p:nvPr/>
        </p:nvGrpSpPr>
        <p:grpSpPr>
          <a:xfrm>
            <a:off x="481334" y="2533056"/>
            <a:ext cx="217170" cy="213486"/>
            <a:chOff x="997925" y="1292537"/>
            <a:chExt cx="703500" cy="691563"/>
          </a:xfrm>
        </p:grpSpPr>
        <p:sp>
          <p:nvSpPr>
            <p:cNvPr id="39" name="Google Shape;39;p2"/>
            <p:cNvSpPr/>
            <p:nvPr/>
          </p:nvSpPr>
          <p:spPr>
            <a:xfrm>
              <a:off x="997925" y="1658900"/>
              <a:ext cx="703500" cy="325200"/>
            </a:xfrm>
            <a:prstGeom prst="roundRect">
              <a:avLst>
                <a:gd fmla="val 31303" name="adj"/>
              </a:avLst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187077" y="1292537"/>
              <a:ext cx="325200" cy="3252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10800000">
              <a:off x="1272675" y="1642993"/>
              <a:ext cx="153900" cy="462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" name="Google Shape;42;p2"/>
          <p:cNvSpPr txBox="1"/>
          <p:nvPr>
            <p:ph idx="4" type="subTitle"/>
          </p:nvPr>
        </p:nvSpPr>
        <p:spPr>
          <a:xfrm>
            <a:off x="804589" y="3418613"/>
            <a:ext cx="8027700" cy="302700"/>
          </a:xfrm>
          <a:prstGeom prst="rect">
            <a:avLst/>
          </a:prstGeom>
        </p:spPr>
        <p:txBody>
          <a:bodyPr anchorCtr="0" anchor="ctr" bIns="0" lIns="365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pic>
        <p:nvPicPr>
          <p:cNvPr id="43" name="Google Shape;4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7575" y="3466780"/>
            <a:ext cx="181600" cy="1641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2"/>
          <p:cNvGrpSpPr/>
          <p:nvPr/>
        </p:nvGrpSpPr>
        <p:grpSpPr>
          <a:xfrm>
            <a:off x="537347" y="3483320"/>
            <a:ext cx="214913" cy="189849"/>
            <a:chOff x="577506" y="3463050"/>
            <a:chExt cx="214913" cy="189849"/>
          </a:xfrm>
        </p:grpSpPr>
        <p:pic>
          <p:nvPicPr>
            <p:cNvPr id="45" name="Google Shape;45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7506" y="3463050"/>
              <a:ext cx="214913" cy="189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46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4164" y="3477775"/>
              <a:ext cx="181597" cy="160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TITLE_1_1_2">
    <p:bg>
      <p:bgPr>
        <a:gradFill>
          <a:gsLst>
            <a:gs pos="0">
              <a:schemeClr val="lt1"/>
            </a:gs>
            <a:gs pos="74000">
              <a:schemeClr val="lt1"/>
            </a:gs>
            <a:gs pos="100000">
              <a:srgbClr val="F3F3F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/>
          <p:nvPr>
            <p:ph type="ctrTitle"/>
          </p:nvPr>
        </p:nvSpPr>
        <p:spPr>
          <a:xfrm>
            <a:off x="311708" y="6683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9" name="Google Shape;49;p3"/>
          <p:cNvSpPr txBox="1"/>
          <p:nvPr>
            <p:ph idx="1" type="subTitle"/>
          </p:nvPr>
        </p:nvSpPr>
        <p:spPr>
          <a:xfrm>
            <a:off x="804600" y="2769856"/>
            <a:ext cx="8027700" cy="34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" name="Google Shape;50;p3"/>
          <p:cNvSpPr txBox="1"/>
          <p:nvPr>
            <p:ph idx="2" type="subTitle"/>
          </p:nvPr>
        </p:nvSpPr>
        <p:spPr>
          <a:xfrm>
            <a:off x="804500" y="3127950"/>
            <a:ext cx="8027700" cy="302700"/>
          </a:xfrm>
          <a:prstGeom prst="rect">
            <a:avLst/>
          </a:prstGeom>
        </p:spPr>
        <p:txBody>
          <a:bodyPr anchorCtr="0" anchor="ctr" bIns="0" lIns="27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1" name="Google Shape;51;p3"/>
          <p:cNvSpPr txBox="1"/>
          <p:nvPr>
            <p:ph idx="3" type="subTitle"/>
          </p:nvPr>
        </p:nvSpPr>
        <p:spPr>
          <a:xfrm>
            <a:off x="796664" y="3420725"/>
            <a:ext cx="8027700" cy="302700"/>
          </a:xfrm>
          <a:prstGeom prst="rect">
            <a:avLst/>
          </a:prstGeom>
        </p:spPr>
        <p:txBody>
          <a:bodyPr anchorCtr="0" anchor="ctr" bIns="0" lIns="365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grpSp>
        <p:nvGrpSpPr>
          <p:cNvPr id="52" name="Google Shape;52;p3"/>
          <p:cNvGrpSpPr/>
          <p:nvPr/>
        </p:nvGrpSpPr>
        <p:grpSpPr>
          <a:xfrm>
            <a:off x="481314" y="3491525"/>
            <a:ext cx="217200" cy="160400"/>
            <a:chOff x="481314" y="3186725"/>
            <a:chExt cx="217200" cy="160400"/>
          </a:xfrm>
        </p:grpSpPr>
        <p:sp>
          <p:nvSpPr>
            <p:cNvPr id="53" name="Google Shape;53;p3"/>
            <p:cNvSpPr/>
            <p:nvPr/>
          </p:nvSpPr>
          <p:spPr>
            <a:xfrm>
              <a:off x="481314" y="3187475"/>
              <a:ext cx="217200" cy="1596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481314" y="32451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 rot="10800000">
              <a:off x="499250" y="3186725"/>
              <a:ext cx="181200" cy="1041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8" rotWithShape="0" algn="bl" dir="5400000" dist="9525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6" name="Google Shape;56;p3"/>
            <p:cNvSpPr/>
            <p:nvPr/>
          </p:nvSpPr>
          <p:spPr>
            <a:xfrm rot="10800000">
              <a:off x="481314" y="31875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57" name="Google Shape;57;p3"/>
          <p:cNvGrpSpPr/>
          <p:nvPr/>
        </p:nvGrpSpPr>
        <p:grpSpPr>
          <a:xfrm>
            <a:off x="481325" y="3182975"/>
            <a:ext cx="217200" cy="192637"/>
            <a:chOff x="481175" y="2886675"/>
            <a:chExt cx="217200" cy="192637"/>
          </a:xfrm>
        </p:grpSpPr>
        <p:sp>
          <p:nvSpPr>
            <p:cNvPr id="58" name="Google Shape;58;p3"/>
            <p:cNvSpPr/>
            <p:nvPr/>
          </p:nvSpPr>
          <p:spPr>
            <a:xfrm>
              <a:off x="481175" y="3064612"/>
              <a:ext cx="217200" cy="14700"/>
            </a:xfrm>
            <a:prstGeom prst="trapezoid">
              <a:avLst>
                <a:gd fmla="val 44417" name="adj"/>
              </a:avLst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489700" y="2886675"/>
              <a:ext cx="198600" cy="183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" name="Google Shape;60;p3"/>
            <p:cNvGrpSpPr/>
            <p:nvPr/>
          </p:nvGrpSpPr>
          <p:grpSpPr>
            <a:xfrm>
              <a:off x="551760" y="2997815"/>
              <a:ext cx="74969" cy="70120"/>
              <a:chOff x="611205" y="3668129"/>
              <a:chExt cx="65100" cy="60900"/>
            </a:xfrm>
          </p:grpSpPr>
          <p:sp>
            <p:nvSpPr>
              <p:cNvPr id="61" name="Google Shape;61;p3"/>
              <p:cNvSpPr/>
              <p:nvPr/>
            </p:nvSpPr>
            <p:spPr>
              <a:xfrm>
                <a:off x="611205" y="3668129"/>
                <a:ext cx="65100" cy="609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2" name="Google Shape;62;p3"/>
              <p:cNvCxnSpPr/>
              <p:nvPr/>
            </p:nvCxnSpPr>
            <p:spPr>
              <a:xfrm>
                <a:off x="643703" y="3668129"/>
                <a:ext cx="0" cy="6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63" name="Google Shape;63;p3"/>
            <p:cNvGrpSpPr/>
            <p:nvPr/>
          </p:nvGrpSpPr>
          <p:grpSpPr>
            <a:xfrm>
              <a:off x="552567" y="2905487"/>
              <a:ext cx="26630" cy="72914"/>
              <a:chOff x="611205" y="3568524"/>
              <a:chExt cx="28500" cy="78016"/>
            </a:xfrm>
          </p:grpSpPr>
          <p:sp>
            <p:nvSpPr>
              <p:cNvPr id="64" name="Google Shape;64;p3"/>
              <p:cNvSpPr/>
              <p:nvPr/>
            </p:nvSpPr>
            <p:spPr>
              <a:xfrm>
                <a:off x="61120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61120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" name="Google Shape;66;p3"/>
            <p:cNvGrpSpPr/>
            <p:nvPr/>
          </p:nvGrpSpPr>
          <p:grpSpPr>
            <a:xfrm>
              <a:off x="599157" y="2905456"/>
              <a:ext cx="26630" cy="72914"/>
              <a:chOff x="647625" y="3568524"/>
              <a:chExt cx="28500" cy="78016"/>
            </a:xfrm>
          </p:grpSpPr>
          <p:sp>
            <p:nvSpPr>
              <p:cNvPr id="67" name="Google Shape;67;p3"/>
              <p:cNvSpPr/>
              <p:nvPr/>
            </p:nvSpPr>
            <p:spPr>
              <a:xfrm>
                <a:off x="64762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64762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" name="Google Shape;69;p3"/>
            <p:cNvGrpSpPr/>
            <p:nvPr/>
          </p:nvGrpSpPr>
          <p:grpSpPr>
            <a:xfrm>
              <a:off x="505970" y="2905429"/>
              <a:ext cx="26636" cy="119026"/>
              <a:chOff x="501943" y="3568524"/>
              <a:chExt cx="28500" cy="127533"/>
            </a:xfrm>
          </p:grpSpPr>
          <p:sp>
            <p:nvSpPr>
              <p:cNvPr id="70" name="Google Shape;70;p3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" name="Google Shape;73;p3"/>
            <p:cNvGrpSpPr/>
            <p:nvPr/>
          </p:nvGrpSpPr>
          <p:grpSpPr>
            <a:xfrm>
              <a:off x="645734" y="2905467"/>
              <a:ext cx="26636" cy="119026"/>
              <a:chOff x="501943" y="3568524"/>
              <a:chExt cx="28500" cy="127533"/>
            </a:xfrm>
          </p:grpSpPr>
          <p:sp>
            <p:nvSpPr>
              <p:cNvPr id="74" name="Google Shape;74;p3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7" name="Google Shape;77;p3"/>
          <p:cNvGrpSpPr/>
          <p:nvPr/>
        </p:nvGrpSpPr>
        <p:grpSpPr>
          <a:xfrm>
            <a:off x="481334" y="2837856"/>
            <a:ext cx="217170" cy="213486"/>
            <a:chOff x="997925" y="1292537"/>
            <a:chExt cx="703500" cy="691563"/>
          </a:xfrm>
        </p:grpSpPr>
        <p:sp>
          <p:nvSpPr>
            <p:cNvPr id="78" name="Google Shape;78;p3"/>
            <p:cNvSpPr/>
            <p:nvPr/>
          </p:nvSpPr>
          <p:spPr>
            <a:xfrm>
              <a:off x="997925" y="1658900"/>
              <a:ext cx="703500" cy="325200"/>
            </a:xfrm>
            <a:prstGeom prst="roundRect">
              <a:avLst>
                <a:gd fmla="val 31303" name="adj"/>
              </a:avLst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187077" y="1292537"/>
              <a:ext cx="325200" cy="3252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 rot="10800000">
              <a:off x="1272675" y="1642993"/>
              <a:ext cx="153900" cy="462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1" name="Google Shape;81;p3"/>
          <p:cNvPicPr preferRelativeResize="0"/>
          <p:nvPr/>
        </p:nvPicPr>
        <p:blipFill rotWithShape="1">
          <a:blip r:embed="rId2">
            <a:alphaModFix/>
          </a:blip>
          <a:srcRect b="11004" l="0" r="0" t="11011"/>
          <a:stretch/>
        </p:blipFill>
        <p:spPr>
          <a:xfrm>
            <a:off x="141596" y="4681554"/>
            <a:ext cx="3154850" cy="382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TITLE_1_1_1">
    <p:bg>
      <p:bgPr>
        <a:gradFill>
          <a:gsLst>
            <a:gs pos="0">
              <a:schemeClr val="lt1"/>
            </a:gs>
            <a:gs pos="74000">
              <a:schemeClr val="lt1"/>
            </a:gs>
            <a:gs pos="100000">
              <a:srgbClr val="F3F3F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25" y="3857251"/>
            <a:ext cx="990648" cy="99064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 txBox="1"/>
          <p:nvPr>
            <p:ph type="ctrTitle"/>
          </p:nvPr>
        </p:nvSpPr>
        <p:spPr>
          <a:xfrm>
            <a:off x="311708" y="363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5" name="Google Shape;85;p4"/>
          <p:cNvSpPr txBox="1"/>
          <p:nvPr>
            <p:ph idx="1" type="subTitle"/>
          </p:nvPr>
        </p:nvSpPr>
        <p:spPr>
          <a:xfrm>
            <a:off x="804600" y="2465056"/>
            <a:ext cx="8027700" cy="349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4"/>
          <p:cNvSpPr txBox="1"/>
          <p:nvPr>
            <p:ph idx="2" type="subTitle"/>
          </p:nvPr>
        </p:nvSpPr>
        <p:spPr>
          <a:xfrm>
            <a:off x="804500" y="2823150"/>
            <a:ext cx="8027700" cy="302700"/>
          </a:xfrm>
          <a:prstGeom prst="rect">
            <a:avLst/>
          </a:prstGeom>
        </p:spPr>
        <p:txBody>
          <a:bodyPr anchorCtr="0" anchor="ctr" bIns="0" lIns="27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7" name="Google Shape;87;p4"/>
          <p:cNvSpPr txBox="1"/>
          <p:nvPr>
            <p:ph idx="3" type="subTitle"/>
          </p:nvPr>
        </p:nvSpPr>
        <p:spPr>
          <a:xfrm>
            <a:off x="796664" y="3115925"/>
            <a:ext cx="8027700" cy="302700"/>
          </a:xfrm>
          <a:prstGeom prst="rect">
            <a:avLst/>
          </a:prstGeom>
        </p:spPr>
        <p:txBody>
          <a:bodyPr anchorCtr="0" anchor="ctr" bIns="0" lIns="365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grpSp>
        <p:nvGrpSpPr>
          <p:cNvPr id="88" name="Google Shape;88;p4"/>
          <p:cNvGrpSpPr/>
          <p:nvPr/>
        </p:nvGrpSpPr>
        <p:grpSpPr>
          <a:xfrm>
            <a:off x="481314" y="3186725"/>
            <a:ext cx="217200" cy="160400"/>
            <a:chOff x="481314" y="3186725"/>
            <a:chExt cx="217200" cy="160400"/>
          </a:xfrm>
        </p:grpSpPr>
        <p:sp>
          <p:nvSpPr>
            <p:cNvPr id="89" name="Google Shape;89;p4"/>
            <p:cNvSpPr/>
            <p:nvPr/>
          </p:nvSpPr>
          <p:spPr>
            <a:xfrm>
              <a:off x="481314" y="3187475"/>
              <a:ext cx="217200" cy="1596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481314" y="32451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 rot="10800000">
              <a:off x="499250" y="3186725"/>
              <a:ext cx="181200" cy="1041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4288" rotWithShape="0" algn="bl" dir="5400000" dist="9525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2" name="Google Shape;92;p4"/>
            <p:cNvSpPr/>
            <p:nvPr/>
          </p:nvSpPr>
          <p:spPr>
            <a:xfrm rot="10800000">
              <a:off x="481314" y="3187525"/>
              <a:ext cx="217200" cy="102000"/>
            </a:xfrm>
            <a:prstGeom prst="triangle">
              <a:avLst>
                <a:gd fmla="val 50552" name="adj"/>
              </a:avLst>
            </a:prstGeom>
            <a:solidFill>
              <a:schemeClr val="lt1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93" name="Google Shape;93;p4"/>
          <p:cNvGrpSpPr/>
          <p:nvPr/>
        </p:nvGrpSpPr>
        <p:grpSpPr>
          <a:xfrm>
            <a:off x="481325" y="2878175"/>
            <a:ext cx="217200" cy="192637"/>
            <a:chOff x="481175" y="2886675"/>
            <a:chExt cx="217200" cy="192637"/>
          </a:xfrm>
        </p:grpSpPr>
        <p:sp>
          <p:nvSpPr>
            <p:cNvPr id="94" name="Google Shape;94;p4"/>
            <p:cNvSpPr/>
            <p:nvPr/>
          </p:nvSpPr>
          <p:spPr>
            <a:xfrm>
              <a:off x="481175" y="3064612"/>
              <a:ext cx="217200" cy="14700"/>
            </a:xfrm>
            <a:prstGeom prst="trapezoid">
              <a:avLst>
                <a:gd fmla="val 44417" name="adj"/>
              </a:avLst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89700" y="2886675"/>
              <a:ext cx="198600" cy="183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6" name="Google Shape;96;p4"/>
            <p:cNvGrpSpPr/>
            <p:nvPr/>
          </p:nvGrpSpPr>
          <p:grpSpPr>
            <a:xfrm>
              <a:off x="551760" y="2997815"/>
              <a:ext cx="74969" cy="70120"/>
              <a:chOff x="611205" y="3668129"/>
              <a:chExt cx="65100" cy="60900"/>
            </a:xfrm>
          </p:grpSpPr>
          <p:sp>
            <p:nvSpPr>
              <p:cNvPr id="97" name="Google Shape;97;p4"/>
              <p:cNvSpPr/>
              <p:nvPr/>
            </p:nvSpPr>
            <p:spPr>
              <a:xfrm>
                <a:off x="611205" y="3668129"/>
                <a:ext cx="65100" cy="609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8" name="Google Shape;98;p4"/>
              <p:cNvCxnSpPr/>
              <p:nvPr/>
            </p:nvCxnSpPr>
            <p:spPr>
              <a:xfrm>
                <a:off x="643703" y="3668129"/>
                <a:ext cx="0" cy="6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9" name="Google Shape;99;p4"/>
            <p:cNvGrpSpPr/>
            <p:nvPr/>
          </p:nvGrpSpPr>
          <p:grpSpPr>
            <a:xfrm>
              <a:off x="552567" y="2905487"/>
              <a:ext cx="26630" cy="72914"/>
              <a:chOff x="611205" y="3568524"/>
              <a:chExt cx="28500" cy="78016"/>
            </a:xfrm>
          </p:grpSpPr>
          <p:sp>
            <p:nvSpPr>
              <p:cNvPr id="100" name="Google Shape;100;p4"/>
              <p:cNvSpPr/>
              <p:nvPr/>
            </p:nvSpPr>
            <p:spPr>
              <a:xfrm>
                <a:off x="61120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61120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" name="Google Shape;102;p4"/>
            <p:cNvGrpSpPr/>
            <p:nvPr/>
          </p:nvGrpSpPr>
          <p:grpSpPr>
            <a:xfrm>
              <a:off x="599157" y="2905456"/>
              <a:ext cx="26630" cy="72914"/>
              <a:chOff x="647625" y="3568524"/>
              <a:chExt cx="28500" cy="78016"/>
            </a:xfrm>
          </p:grpSpPr>
          <p:sp>
            <p:nvSpPr>
              <p:cNvPr id="103" name="Google Shape;103;p4"/>
              <p:cNvSpPr/>
              <p:nvPr/>
            </p:nvSpPr>
            <p:spPr>
              <a:xfrm>
                <a:off x="647625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>
                <a:off x="647625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5" name="Google Shape;105;p4"/>
            <p:cNvGrpSpPr/>
            <p:nvPr/>
          </p:nvGrpSpPr>
          <p:grpSpPr>
            <a:xfrm>
              <a:off x="505970" y="2905429"/>
              <a:ext cx="26636" cy="119026"/>
              <a:chOff x="501943" y="3568524"/>
              <a:chExt cx="28500" cy="127533"/>
            </a:xfrm>
          </p:grpSpPr>
          <p:sp>
            <p:nvSpPr>
              <p:cNvPr id="106" name="Google Shape;106;p4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" name="Google Shape;109;p4"/>
            <p:cNvGrpSpPr/>
            <p:nvPr/>
          </p:nvGrpSpPr>
          <p:grpSpPr>
            <a:xfrm>
              <a:off x="645734" y="2905467"/>
              <a:ext cx="26636" cy="119026"/>
              <a:chOff x="501943" y="3568524"/>
              <a:chExt cx="28500" cy="127533"/>
            </a:xfrm>
          </p:grpSpPr>
          <p:sp>
            <p:nvSpPr>
              <p:cNvPr id="110" name="Google Shape;110;p4"/>
              <p:cNvSpPr/>
              <p:nvPr/>
            </p:nvSpPr>
            <p:spPr>
              <a:xfrm>
                <a:off x="501943" y="3568524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501943" y="3618040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4"/>
              <p:cNvSpPr/>
              <p:nvPr/>
            </p:nvSpPr>
            <p:spPr>
              <a:xfrm>
                <a:off x="501943" y="3667557"/>
                <a:ext cx="28500" cy="28500"/>
              </a:xfrm>
              <a:prstGeom prst="rect">
                <a:avLst/>
              </a:prstGeom>
              <a:gradFill>
                <a:gsLst>
                  <a:gs pos="0">
                    <a:srgbClr val="CFE2F3"/>
                  </a:gs>
                  <a:gs pos="50000">
                    <a:srgbClr val="F1F6F6">
                      <a:alpha val="0"/>
                    </a:srgbClr>
                  </a:gs>
                  <a:gs pos="100000">
                    <a:srgbClr val="CFE2F3"/>
                  </a:gs>
                </a:gsLst>
                <a:lin ang="2700006" scaled="0"/>
              </a:gra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3" name="Google Shape;113;p4"/>
          <p:cNvGrpSpPr/>
          <p:nvPr/>
        </p:nvGrpSpPr>
        <p:grpSpPr>
          <a:xfrm>
            <a:off x="481334" y="2533056"/>
            <a:ext cx="217170" cy="213486"/>
            <a:chOff x="997925" y="1292537"/>
            <a:chExt cx="703500" cy="691563"/>
          </a:xfrm>
        </p:grpSpPr>
        <p:sp>
          <p:nvSpPr>
            <p:cNvPr id="114" name="Google Shape;114;p4"/>
            <p:cNvSpPr/>
            <p:nvPr/>
          </p:nvSpPr>
          <p:spPr>
            <a:xfrm>
              <a:off x="997925" y="1658900"/>
              <a:ext cx="703500" cy="325200"/>
            </a:xfrm>
            <a:prstGeom prst="roundRect">
              <a:avLst>
                <a:gd fmla="val 31303" name="adj"/>
              </a:avLst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1187077" y="1292537"/>
              <a:ext cx="325200" cy="32520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 rot="10800000">
              <a:off x="1272675" y="1642993"/>
              <a:ext cx="153900" cy="462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7" name="Google Shape;117;p4"/>
          <p:cNvPicPr preferRelativeResize="0"/>
          <p:nvPr/>
        </p:nvPicPr>
        <p:blipFill rotWithShape="1">
          <a:blip r:embed="rId3">
            <a:alphaModFix/>
          </a:blip>
          <a:srcRect b="11004" l="0" r="0" t="11011"/>
          <a:stretch/>
        </p:blipFill>
        <p:spPr>
          <a:xfrm>
            <a:off x="5888196" y="4667404"/>
            <a:ext cx="3154850" cy="38239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 txBox="1"/>
          <p:nvPr>
            <p:ph idx="4" type="subTitle"/>
          </p:nvPr>
        </p:nvSpPr>
        <p:spPr>
          <a:xfrm>
            <a:off x="804589" y="3418613"/>
            <a:ext cx="8027700" cy="302700"/>
          </a:xfrm>
          <a:prstGeom prst="rect">
            <a:avLst/>
          </a:prstGeom>
        </p:spPr>
        <p:txBody>
          <a:bodyPr anchorCtr="0" anchor="ctr" bIns="0" lIns="365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 Mono Light"/>
              <a:buNone/>
              <a:defRPr sz="1600"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pic>
        <p:nvPicPr>
          <p:cNvPr id="119" name="Google Shape;119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575" y="3466780"/>
            <a:ext cx="181600" cy="1641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4"/>
          <p:cNvGrpSpPr/>
          <p:nvPr/>
        </p:nvGrpSpPr>
        <p:grpSpPr>
          <a:xfrm>
            <a:off x="537347" y="3483320"/>
            <a:ext cx="214913" cy="189849"/>
            <a:chOff x="577506" y="3463050"/>
            <a:chExt cx="214913" cy="189849"/>
          </a:xfrm>
        </p:grpSpPr>
        <p:pic>
          <p:nvPicPr>
            <p:cNvPr id="121" name="Google Shape;121;p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7506" y="3463050"/>
              <a:ext cx="214913" cy="1898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94164" y="3477775"/>
              <a:ext cx="181597" cy="160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" name="Google Shape;130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1" name="Google Shape;131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6" name="Google Shape;136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41" name="Google Shape;141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2" name="Google Shape;142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3" name="Google Shape;143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  <a:defRPr>
                <a:solidFill>
                  <a:schemeClr val="accent2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chemeClr val="accent2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○"/>
              <a:defRPr>
                <a:solidFill>
                  <a:schemeClr val="accent2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Droid Serif"/>
              <a:buNone/>
              <a:defRPr sz="12000">
                <a:latin typeface="Droid Serif"/>
                <a:ea typeface="Droid Serif"/>
                <a:cs typeface="Droid Serif"/>
                <a:sym typeface="Droid Serif"/>
              </a:defRPr>
            </a:lvl9pPr>
          </a:lstStyle>
          <a:p>
            <a:r>
              <a:t>xx%</a:t>
            </a:r>
          </a:p>
        </p:txBody>
      </p:sp>
      <p:sp>
        <p:nvSpPr>
          <p:cNvPr id="148" name="Google Shape;148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2" name="Google Shape;152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3" name="Google Shape;15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TITLEANDBULLETS_A">
  <p:cSld name="CUSTOM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/>
          <p:nvPr>
            <p:ph idx="2" type="pic"/>
          </p:nvPr>
        </p:nvSpPr>
        <p:spPr>
          <a:xfrm>
            <a:off x="3035838" y="1471024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6" name="Google Shape;156;p16"/>
          <p:cNvSpPr txBox="1"/>
          <p:nvPr>
            <p:ph type="title"/>
          </p:nvPr>
        </p:nvSpPr>
        <p:spPr>
          <a:xfrm>
            <a:off x="256050" y="253350"/>
            <a:ext cx="8631900" cy="8505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16"/>
          <p:cNvSpPr txBox="1"/>
          <p:nvPr/>
        </p:nvSpPr>
        <p:spPr>
          <a:xfrm>
            <a:off x="256062" y="1205848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256062" y="3308968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6382542" y="120512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1088166" y="1250719"/>
            <a:ext cx="16641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idx="3" type="body"/>
          </p:nvPr>
        </p:nvSpPr>
        <p:spPr>
          <a:xfrm>
            <a:off x="7223790" y="1249991"/>
            <a:ext cx="16641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2" name="Google Shape;162;p16"/>
          <p:cNvSpPr txBox="1"/>
          <p:nvPr>
            <p:ph idx="4" type="body"/>
          </p:nvPr>
        </p:nvSpPr>
        <p:spPr>
          <a:xfrm>
            <a:off x="7223790" y="3353111"/>
            <a:ext cx="16641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163" name="Google Shape;163;p16"/>
          <p:cNvCxnSpPr/>
          <p:nvPr/>
        </p:nvCxnSpPr>
        <p:spPr>
          <a:xfrm>
            <a:off x="628506" y="1406957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16"/>
          <p:cNvCxnSpPr/>
          <p:nvPr/>
        </p:nvCxnSpPr>
        <p:spPr>
          <a:xfrm>
            <a:off x="628506" y="3509382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16"/>
          <p:cNvCxnSpPr/>
          <p:nvPr/>
        </p:nvCxnSpPr>
        <p:spPr>
          <a:xfrm>
            <a:off x="6760631" y="1406288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16"/>
          <p:cNvCxnSpPr/>
          <p:nvPr/>
        </p:nvCxnSpPr>
        <p:spPr>
          <a:xfrm>
            <a:off x="6760631" y="3509407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16"/>
          <p:cNvSpPr txBox="1"/>
          <p:nvPr/>
        </p:nvSpPr>
        <p:spPr>
          <a:xfrm>
            <a:off x="6382546" y="3308238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8" name="Google Shape;168;p16"/>
          <p:cNvSpPr txBox="1"/>
          <p:nvPr>
            <p:ph idx="5" type="body"/>
          </p:nvPr>
        </p:nvSpPr>
        <p:spPr>
          <a:xfrm>
            <a:off x="1088166" y="3353839"/>
            <a:ext cx="1664100" cy="153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" name="Google Shape;171;p1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72" name="Google Shape;172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73" name="Google Shape;173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74" name="Google Shape;174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Text">
  <p:cSld name="1 Column Tex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idx="1" type="body"/>
          </p:nvPr>
        </p:nvSpPr>
        <p:spPr>
          <a:xfrm>
            <a:off x="493775" y="976232"/>
            <a:ext cx="57960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44444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7" name="Google Shape;177;p18"/>
          <p:cNvSpPr txBox="1"/>
          <p:nvPr>
            <p:ph type="title"/>
          </p:nvPr>
        </p:nvSpPr>
        <p:spPr>
          <a:xfrm>
            <a:off x="493775" y="227102"/>
            <a:ext cx="78867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D4F91"/>
              </a:buClr>
              <a:buSzPts val="2700"/>
              <a:buFont typeface="Arial"/>
              <a:buNone/>
              <a:defRPr b="0" i="0" sz="2700">
                <a:solidFill>
                  <a:srgbClr val="1D4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Slide">
  <p:cSld name="7_Title Slide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>
            <p:ph idx="1" type="body"/>
          </p:nvPr>
        </p:nvSpPr>
        <p:spPr>
          <a:xfrm>
            <a:off x="493776" y="2889721"/>
            <a:ext cx="49788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80" name="Google Shape;180;p19"/>
          <p:cNvSpPr txBox="1"/>
          <p:nvPr>
            <p:ph type="ctrTitle"/>
          </p:nvPr>
        </p:nvSpPr>
        <p:spPr>
          <a:xfrm>
            <a:off x="493776" y="1022130"/>
            <a:ext cx="4978800" cy="17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0" spcFirstLastPara="1" rIns="68575" wrap="square" tIns="34275">
            <a:normAutofit/>
          </a:bodyPr>
          <a:lstStyle>
            <a:lvl1pPr lv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rgbClr val="1D4F91"/>
              </a:buClr>
              <a:buSzPts val="4500"/>
              <a:buFont typeface="Arial"/>
              <a:buNone/>
              <a:defRPr b="0" i="0" sz="4500" cap="none">
                <a:solidFill>
                  <a:srgbClr val="1D4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>
            <p:ph idx="2" type="body"/>
          </p:nvPr>
        </p:nvSpPr>
        <p:spPr>
          <a:xfrm>
            <a:off x="493777" y="3714749"/>
            <a:ext cx="49788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0" i="0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0"/>
          <p:cNvSpPr txBox="1"/>
          <p:nvPr>
            <p:ph idx="1" type="subTitle"/>
          </p:nvPr>
        </p:nvSpPr>
        <p:spPr>
          <a:xfrm>
            <a:off x="311700" y="4663225"/>
            <a:ext cx="8520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None/>
              <a:defRPr sz="2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  <a:defRPr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○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■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●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○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■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●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○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■"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9: Training a binary classification model</a:t>
            </a:r>
            <a:endParaRPr/>
          </a:p>
        </p:txBody>
      </p:sp>
      <p:sp>
        <p:nvSpPr>
          <p:cNvPr id="191" name="Google Shape;19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BINF 4002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Feedback!</a:t>
            </a:r>
            <a:endParaRPr/>
          </a:p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Form Link (will be distributed via courseworks): https://forms.gle/LiXN5CuLf7qZmBvT8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Coming Up</a:t>
            </a:r>
            <a:endParaRPr/>
          </a:p>
        </p:txBody>
      </p:sp>
      <p:sp>
        <p:nvSpPr>
          <p:cNvPr id="203" name="Google Shape;20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ML Training!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ML Losses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ML Data Types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ML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ML Algorithms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Spring Break!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Health/bio data modalities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Health/bio specific ML techniques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4"/>
          <p:cNvPicPr preferRelativeResize="0"/>
          <p:nvPr/>
        </p:nvPicPr>
        <p:blipFill rotWithShape="1">
          <a:blip r:embed="rId3">
            <a:alphaModFix/>
          </a:blip>
          <a:srcRect b="1829" l="2997" r="2752" t="49528"/>
          <a:stretch/>
        </p:blipFill>
        <p:spPr>
          <a:xfrm>
            <a:off x="5417975" y="1285900"/>
            <a:ext cx="3307875" cy="277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4"/>
          <p:cNvSpPr txBox="1"/>
          <p:nvPr/>
        </p:nvSpPr>
        <p:spPr>
          <a:xfrm>
            <a:off x="209950" y="1285863"/>
            <a:ext cx="5100600" cy="27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Nichol et al report a reduction in all-cause mortality of ~50% in the elderly due to the influenza vaccine.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Is there a problem?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10" name="Google Shape;210;p24"/>
          <p:cNvSpPr txBox="1"/>
          <p:nvPr/>
        </p:nvSpPr>
        <p:spPr>
          <a:xfrm>
            <a:off x="39050" y="4640350"/>
            <a:ext cx="868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Nichol, K. L., Nordin, J. D., Nelson, D. B., Mullooly, J. P., &amp; Hak, E. (2007). Effectiveness of influenza vaccine in the community-dwelling elderly. New England Journal of Medicine, 357(14), 1373-1381.</a:t>
            </a:r>
            <a:endParaRPr sz="9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11" name="Google Shape;21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Influenza Vaccine Efficacy in the Elderly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217" name="Google Shape;21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Last time: Evaluation of a binary classification model.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This time: How do we make that 𝑓 in the first place?</a:t>
            </a:r>
            <a:br>
              <a:rPr lang="en"/>
            </a:br>
            <a:r>
              <a:rPr lang="en"/>
              <a:t>(at a high level)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a high level, the ML pipeline is:</a:t>
            </a:r>
            <a:br>
              <a:rPr lang="en"/>
            </a:br>
            <a:r>
              <a:rPr lang="en"/>
              <a:t>Identify loss, Optimize, Don’t overfit.</a:t>
            </a:r>
            <a:endParaRPr/>
          </a:p>
        </p:txBody>
      </p:sp>
      <p:sp>
        <p:nvSpPr>
          <p:cNvPr id="223" name="Google Shape;223;p26"/>
          <p:cNvSpPr txBox="1"/>
          <p:nvPr>
            <p:ph idx="1" type="body"/>
          </p:nvPr>
        </p:nvSpPr>
        <p:spPr>
          <a:xfrm>
            <a:off x="311700" y="1374625"/>
            <a:ext cx="85206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Loss is any function that approximates your deployment/use-case error.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Optimize some class of learnable functions to minimize that loss on an observed sample of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Don’t overfit; leverage things like hyperparameter tuning, monitoring, regularization.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229" name="Google Shape;22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Last time: Evaluation of a binary classification model.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Given a </a:t>
            </a:r>
            <a:r>
              <a:rPr i="1" lang="en"/>
              <a:t>fixed</a:t>
            </a:r>
            <a:r>
              <a:rPr lang="en"/>
              <a:t> model 𝑓, how do we judge performance?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This time: How do we make that 𝑓 in the first place?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Before the model: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Data Splits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Model capacity / misspecification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Procedural View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K-nearest-neighbors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Consistent Learning Framework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Optimization -- Performance is Efficiency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Optimization View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Solve a loss function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What is our goal? Perfect or not perfect loss?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Notation and Setup</a:t>
            </a:r>
            <a:endParaRPr/>
          </a:p>
        </p:txBody>
      </p:sp>
      <p:sp>
        <p:nvSpPr>
          <p:cNvPr id="235" name="Google Shape;235;p28"/>
          <p:cNvSpPr txBox="1"/>
          <p:nvPr/>
        </p:nvSpPr>
        <p:spPr>
          <a:xfrm>
            <a:off x="311700" y="1152475"/>
            <a:ext cx="8520600" cy="3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Let our model be a function </a:t>
            </a:r>
            <a:r>
              <a:rPr lang="en" sz="22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21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𝑓</a:t>
            </a:r>
            <a:r>
              <a:rPr baseline="-25000" lang="en" sz="21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𝛝</a:t>
            </a:r>
            <a:r>
              <a:rPr lang="en" sz="21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: 𝒙 ↦ 𝑠 </a:t>
            </a:r>
            <a:r>
              <a:rPr lang="en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∈</a:t>
            </a:r>
            <a:r>
              <a:rPr lang="en" sz="21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 ℝ</a:t>
            </a:r>
            <a:r>
              <a:rPr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 trained on a binary classification task over a dataset 𝑿</a:t>
            </a:r>
            <a:r>
              <a:rPr lang="en" sz="13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✕</a:t>
            </a:r>
            <a:r>
              <a:rPr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𝐲, 𝑦</a:t>
            </a:r>
            <a:r>
              <a:rPr baseline="-25000"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𝑖</a:t>
            </a:r>
            <a:r>
              <a:rPr lang="en" sz="21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 </a:t>
            </a:r>
            <a:r>
              <a:rPr lang="en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∈</a:t>
            </a:r>
            <a:r>
              <a:rPr lang="en" sz="21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 </a:t>
            </a:r>
            <a:r>
              <a:rPr lang="en" sz="17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{0, 1}</a:t>
            </a:r>
            <a:r>
              <a:rPr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, such that for input </a:t>
            </a:r>
            <a:r>
              <a:rPr lang="en" sz="21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𝒙</a:t>
            </a:r>
            <a:r>
              <a:rPr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, our model produces </a:t>
            </a:r>
            <a:r>
              <a:rPr i="1"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score</a:t>
            </a:r>
            <a:r>
              <a:rPr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21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𝑠</a:t>
            </a:r>
            <a:r>
              <a:rPr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8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Let us define the random variables 𝘅, 𝗒, 𝘴 to correspond to the inputs, labels, and model produced scores---so </a:t>
            </a:r>
            <a:r>
              <a:rPr lang="en" sz="18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𝘴 = </a:t>
            </a:r>
            <a:r>
              <a:rPr lang="en" sz="21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𝑓</a:t>
            </a:r>
            <a:r>
              <a:rPr baseline="-25000" lang="en" sz="21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𝛝</a:t>
            </a:r>
            <a:r>
              <a:rPr lang="en" sz="18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(𝘅)</a:t>
            </a:r>
            <a:r>
              <a:rPr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---with probability density functions 𝑝</a:t>
            </a:r>
            <a:r>
              <a:rPr baseline="-25000"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𝘅</a:t>
            </a:r>
            <a:r>
              <a:rPr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, 𝑝</a:t>
            </a:r>
            <a:r>
              <a:rPr baseline="-25000"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𝗒</a:t>
            </a:r>
            <a:r>
              <a:rPr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, 𝑝</a:t>
            </a:r>
            <a:r>
              <a:rPr baseline="-25000"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𝘴</a:t>
            </a:r>
            <a:r>
              <a:rPr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. </a:t>
            </a:r>
            <a:endParaRPr sz="18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Let us further define the random variables </a:t>
            </a:r>
            <a:r>
              <a:rPr lang="en" sz="18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𝘴</a:t>
            </a:r>
            <a:r>
              <a:rPr baseline="-25000" lang="en" sz="18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1</a:t>
            </a:r>
            <a:r>
              <a:rPr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 and </a:t>
            </a:r>
            <a:r>
              <a:rPr lang="en" sz="18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𝘴</a:t>
            </a:r>
            <a:r>
              <a:rPr baseline="-25000" lang="en" sz="18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0</a:t>
            </a:r>
            <a:r>
              <a:rPr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 to correspond to the scores returned only when the true labels are </a:t>
            </a:r>
            <a:r>
              <a:rPr lang="en" sz="18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1</a:t>
            </a:r>
            <a:r>
              <a:rPr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 and </a:t>
            </a:r>
            <a:r>
              <a:rPr lang="en" sz="18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0</a:t>
            </a:r>
            <a:r>
              <a:rPr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, respectively, with probability density functions  </a:t>
            </a:r>
            <a:r>
              <a:rPr lang="en" sz="18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𝑞</a:t>
            </a:r>
            <a:r>
              <a:rPr baseline="-25000" lang="en" sz="18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1</a:t>
            </a:r>
            <a:r>
              <a:rPr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 and </a:t>
            </a:r>
            <a:r>
              <a:rPr lang="en" sz="18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𝑞</a:t>
            </a:r>
            <a:r>
              <a:rPr baseline="-25000" lang="en" sz="18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0</a:t>
            </a:r>
            <a:r>
              <a:rPr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. At times we may assume that </a:t>
            </a:r>
            <a:r>
              <a:rPr lang="en" sz="18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𝘴 </a:t>
            </a:r>
            <a:r>
              <a:rPr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is normalized to a probability output.</a:t>
            </a:r>
            <a:endParaRPr sz="18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Let’s define </a:t>
            </a:r>
            <a:r>
              <a:rPr lang="en" sz="18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𝑅</a:t>
            </a:r>
            <a:r>
              <a:rPr lang="en" sz="21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: 𝑠 ↦ </a:t>
            </a:r>
            <a:r>
              <a:rPr lang="en" sz="18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{0, 1}</a:t>
            </a:r>
            <a:r>
              <a:rPr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 be our decision rule, so we predict label </a:t>
            </a:r>
            <a:r>
              <a:rPr i="1" lang="en" sz="18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ŷ</a:t>
            </a:r>
            <a:r>
              <a:rPr lang="en" sz="18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 = 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𝑅</a:t>
            </a:r>
            <a:r>
              <a:rPr lang="en" sz="18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(</a:t>
            </a:r>
            <a:r>
              <a:rPr lang="en" sz="21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𝑓</a:t>
            </a:r>
            <a:r>
              <a:rPr baseline="-25000" lang="en" sz="21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𝛝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</a:t>
            </a:r>
            <a:r>
              <a:rPr lang="en" sz="21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𝒙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r>
              <a:rPr lang="en" sz="1800">
                <a:solidFill>
                  <a:srgbClr val="595959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r>
              <a:rPr lang="en" sz="1800">
                <a:solidFill>
                  <a:srgbClr val="595959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800">
              <a:solidFill>
                <a:srgbClr val="595959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we do first?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need to know what we’re trying to model!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(and data) Determine All</a:t>
            </a:r>
            <a:endParaRPr/>
          </a:p>
        </p:txBody>
      </p:sp>
      <p:sp>
        <p:nvSpPr>
          <p:cNvPr id="251" name="Google Shape;251;p31"/>
          <p:cNvSpPr/>
          <p:nvPr/>
        </p:nvSpPr>
        <p:spPr>
          <a:xfrm>
            <a:off x="4636904" y="1466825"/>
            <a:ext cx="2500200" cy="50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Roboto Light"/>
                <a:ea typeface="Roboto Light"/>
                <a:cs typeface="Roboto Light"/>
                <a:sym typeface="Roboto Light"/>
              </a:rPr>
              <a:t>Modeling Problem</a:t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52" name="Google Shape;252;p31"/>
          <p:cNvSpPr/>
          <p:nvPr/>
        </p:nvSpPr>
        <p:spPr>
          <a:xfrm>
            <a:off x="2006888" y="1466825"/>
            <a:ext cx="2500200" cy="50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Roboto Light"/>
                <a:ea typeface="Roboto Light"/>
                <a:cs typeface="Roboto Light"/>
                <a:sym typeface="Roboto Light"/>
              </a:rPr>
              <a:t>Data Modality</a:t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53" name="Google Shape;253;p31"/>
          <p:cNvSpPr/>
          <p:nvPr/>
        </p:nvSpPr>
        <p:spPr>
          <a:xfrm>
            <a:off x="2876718" y="3922325"/>
            <a:ext cx="2496300" cy="50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Data Split</a:t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54" name="Google Shape;254;p31"/>
          <p:cNvSpPr/>
          <p:nvPr/>
        </p:nvSpPr>
        <p:spPr>
          <a:xfrm>
            <a:off x="311700" y="3922225"/>
            <a:ext cx="2496300" cy="50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Encoder Class</a:t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55" name="Google Shape;255;p31"/>
          <p:cNvSpPr/>
          <p:nvPr/>
        </p:nvSpPr>
        <p:spPr>
          <a:xfrm>
            <a:off x="6364787" y="2832425"/>
            <a:ext cx="2496300" cy="50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Roboto Light"/>
                <a:ea typeface="Roboto Light"/>
                <a:cs typeface="Roboto Light"/>
                <a:sym typeface="Roboto Light"/>
              </a:rPr>
              <a:t>Target Loss</a:t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256" name="Google Shape;256;p31"/>
          <p:cNvCxnSpPr>
            <a:stCxn id="252" idx="2"/>
            <a:endCxn id="254" idx="0"/>
          </p:cNvCxnSpPr>
          <p:nvPr/>
        </p:nvCxnSpPr>
        <p:spPr>
          <a:xfrm flipH="1">
            <a:off x="1559888" y="1973525"/>
            <a:ext cx="1697100" cy="19488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p31"/>
          <p:cNvCxnSpPr>
            <a:stCxn id="252" idx="2"/>
            <a:endCxn id="253" idx="0"/>
          </p:cNvCxnSpPr>
          <p:nvPr/>
        </p:nvCxnSpPr>
        <p:spPr>
          <a:xfrm>
            <a:off x="3256988" y="1973525"/>
            <a:ext cx="867900" cy="19488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31"/>
          <p:cNvCxnSpPr>
            <a:stCxn id="251" idx="2"/>
            <a:endCxn id="253" idx="0"/>
          </p:cNvCxnSpPr>
          <p:nvPr/>
        </p:nvCxnSpPr>
        <p:spPr>
          <a:xfrm flipH="1">
            <a:off x="4124804" y="1973525"/>
            <a:ext cx="1762200" cy="19488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31"/>
          <p:cNvCxnSpPr>
            <a:stCxn id="251" idx="2"/>
            <a:endCxn id="255" idx="0"/>
          </p:cNvCxnSpPr>
          <p:nvPr/>
        </p:nvCxnSpPr>
        <p:spPr>
          <a:xfrm>
            <a:off x="5887004" y="1973525"/>
            <a:ext cx="1725900" cy="858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0" name="Google Shape;260;p31"/>
          <p:cNvSpPr/>
          <p:nvPr/>
        </p:nvSpPr>
        <p:spPr>
          <a:xfrm>
            <a:off x="5441762" y="3922225"/>
            <a:ext cx="2496300" cy="50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Roboto Light"/>
                <a:ea typeface="Roboto Light"/>
                <a:cs typeface="Roboto Light"/>
                <a:sym typeface="Roboto Light"/>
              </a:rPr>
              <a:t>Training Algorithm</a:t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261" name="Google Shape;261;p31"/>
          <p:cNvCxnSpPr>
            <a:stCxn id="252" idx="2"/>
            <a:endCxn id="260" idx="0"/>
          </p:cNvCxnSpPr>
          <p:nvPr/>
        </p:nvCxnSpPr>
        <p:spPr>
          <a:xfrm>
            <a:off x="3256988" y="1973525"/>
            <a:ext cx="3432900" cy="19488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" name="Google Shape;262;p31"/>
          <p:cNvCxnSpPr>
            <a:stCxn id="255" idx="2"/>
            <a:endCxn id="260" idx="0"/>
          </p:cNvCxnSpPr>
          <p:nvPr/>
        </p:nvCxnSpPr>
        <p:spPr>
          <a:xfrm flipH="1">
            <a:off x="6689837" y="3339125"/>
            <a:ext cx="923100" cy="583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" name="Google Shape;263;p31"/>
          <p:cNvCxnSpPr>
            <a:stCxn id="251" idx="2"/>
            <a:endCxn id="254" idx="0"/>
          </p:cNvCxnSpPr>
          <p:nvPr/>
        </p:nvCxnSpPr>
        <p:spPr>
          <a:xfrm flipH="1">
            <a:off x="1559804" y="1973525"/>
            <a:ext cx="4327200" cy="19488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(and data) Determine All</a:t>
            </a:r>
            <a:endParaRPr/>
          </a:p>
        </p:txBody>
      </p:sp>
      <p:sp>
        <p:nvSpPr>
          <p:cNvPr id="269" name="Google Shape;269;p32"/>
          <p:cNvSpPr/>
          <p:nvPr/>
        </p:nvSpPr>
        <p:spPr>
          <a:xfrm>
            <a:off x="2006888" y="1466825"/>
            <a:ext cx="2500200" cy="50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Roboto Light"/>
                <a:ea typeface="Roboto Light"/>
                <a:cs typeface="Roboto Light"/>
                <a:sym typeface="Roboto Light"/>
              </a:rPr>
              <a:t>Data Modality</a:t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70" name="Google Shape;270;p32"/>
          <p:cNvSpPr/>
          <p:nvPr/>
        </p:nvSpPr>
        <p:spPr>
          <a:xfrm>
            <a:off x="2876718" y="3922325"/>
            <a:ext cx="2496300" cy="50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Split</a:t>
            </a:r>
            <a:endParaRPr b="1" sz="2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32"/>
          <p:cNvSpPr/>
          <p:nvPr/>
        </p:nvSpPr>
        <p:spPr>
          <a:xfrm>
            <a:off x="311700" y="3922225"/>
            <a:ext cx="2496300" cy="50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Encoder Class</a:t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72" name="Google Shape;272;p32"/>
          <p:cNvSpPr/>
          <p:nvPr/>
        </p:nvSpPr>
        <p:spPr>
          <a:xfrm>
            <a:off x="6364787" y="2832425"/>
            <a:ext cx="2496300" cy="50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Roboto Light"/>
                <a:ea typeface="Roboto Light"/>
                <a:cs typeface="Roboto Light"/>
                <a:sym typeface="Roboto Light"/>
              </a:rPr>
              <a:t>Target Loss</a:t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273" name="Google Shape;273;p32"/>
          <p:cNvCxnSpPr>
            <a:stCxn id="269" idx="2"/>
            <a:endCxn id="271" idx="0"/>
          </p:cNvCxnSpPr>
          <p:nvPr/>
        </p:nvCxnSpPr>
        <p:spPr>
          <a:xfrm flipH="1">
            <a:off x="1559888" y="1973525"/>
            <a:ext cx="1697100" cy="19488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" name="Google Shape;274;p32"/>
          <p:cNvCxnSpPr>
            <a:stCxn id="269" idx="2"/>
            <a:endCxn id="270" idx="0"/>
          </p:cNvCxnSpPr>
          <p:nvPr/>
        </p:nvCxnSpPr>
        <p:spPr>
          <a:xfrm>
            <a:off x="3256988" y="1973525"/>
            <a:ext cx="867900" cy="19488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" name="Google Shape;275;p32"/>
          <p:cNvCxnSpPr>
            <a:stCxn id="276" idx="2"/>
            <a:endCxn id="272" idx="0"/>
          </p:cNvCxnSpPr>
          <p:nvPr/>
        </p:nvCxnSpPr>
        <p:spPr>
          <a:xfrm>
            <a:off x="5887004" y="1973525"/>
            <a:ext cx="1725900" cy="858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" name="Google Shape;277;p32"/>
          <p:cNvSpPr/>
          <p:nvPr/>
        </p:nvSpPr>
        <p:spPr>
          <a:xfrm>
            <a:off x="5441762" y="3922225"/>
            <a:ext cx="2496300" cy="50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Roboto Light"/>
                <a:ea typeface="Roboto Light"/>
                <a:cs typeface="Roboto Light"/>
                <a:sym typeface="Roboto Light"/>
              </a:rPr>
              <a:t>Training Algorithm</a:t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278" name="Google Shape;278;p32"/>
          <p:cNvCxnSpPr>
            <a:stCxn id="269" idx="2"/>
            <a:endCxn id="277" idx="0"/>
          </p:cNvCxnSpPr>
          <p:nvPr/>
        </p:nvCxnSpPr>
        <p:spPr>
          <a:xfrm>
            <a:off x="3256988" y="1973525"/>
            <a:ext cx="3432900" cy="19488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" name="Google Shape;279;p32"/>
          <p:cNvCxnSpPr>
            <a:stCxn id="272" idx="2"/>
            <a:endCxn id="277" idx="0"/>
          </p:cNvCxnSpPr>
          <p:nvPr/>
        </p:nvCxnSpPr>
        <p:spPr>
          <a:xfrm flipH="1">
            <a:off x="6689837" y="3339125"/>
            <a:ext cx="923100" cy="583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" name="Google Shape;280;p32"/>
          <p:cNvCxnSpPr>
            <a:stCxn id="276" idx="2"/>
            <a:endCxn id="271" idx="0"/>
          </p:cNvCxnSpPr>
          <p:nvPr/>
        </p:nvCxnSpPr>
        <p:spPr>
          <a:xfrm flipH="1">
            <a:off x="1559804" y="1973525"/>
            <a:ext cx="4327200" cy="19488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81" name="Google Shape;281;p32"/>
          <p:cNvCxnSpPr>
            <a:stCxn id="276" idx="2"/>
            <a:endCxn id="270" idx="0"/>
          </p:cNvCxnSpPr>
          <p:nvPr/>
        </p:nvCxnSpPr>
        <p:spPr>
          <a:xfrm flipH="1">
            <a:off x="4124804" y="1973525"/>
            <a:ext cx="1762200" cy="1948800"/>
          </a:xfrm>
          <a:prstGeom prst="straightConnector1">
            <a:avLst/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6" name="Google Shape;276;p32"/>
          <p:cNvSpPr/>
          <p:nvPr/>
        </p:nvSpPr>
        <p:spPr>
          <a:xfrm>
            <a:off x="4636904" y="1466825"/>
            <a:ext cx="2500200" cy="50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Roboto Light"/>
                <a:ea typeface="Roboto Light"/>
                <a:cs typeface="Roboto Light"/>
                <a:sym typeface="Roboto Light"/>
              </a:rPr>
              <a:t>Modeling Problem</a:t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Information Pipeline in ML</a:t>
            </a:r>
            <a:endParaRPr/>
          </a:p>
        </p:txBody>
      </p:sp>
      <p:sp>
        <p:nvSpPr>
          <p:cNvPr id="287" name="Google Shape;287;p33"/>
          <p:cNvSpPr txBox="1"/>
          <p:nvPr/>
        </p:nvSpPr>
        <p:spPr>
          <a:xfrm>
            <a:off x="6993863" y="1982468"/>
            <a:ext cx="17073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0" lIns="85000" spcFirstLastPara="1" rIns="85000" wrap="square" tIns="85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116"/>
              </a:spcAft>
              <a:buNone/>
            </a:pPr>
            <a:r>
              <a:rPr lang="en" sz="6694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𝛝</a:t>
            </a:r>
            <a:endParaRPr sz="6694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288" name="Google Shape;288;p33"/>
          <p:cNvSpPr txBox="1"/>
          <p:nvPr/>
        </p:nvSpPr>
        <p:spPr>
          <a:xfrm>
            <a:off x="442827" y="1982468"/>
            <a:ext cx="17073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0" lIns="85000" spcFirstLastPara="1" rIns="85000" wrap="square" tIns="85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116"/>
              </a:spcAft>
              <a:buNone/>
            </a:pPr>
            <a:r>
              <a:rPr lang="en" sz="6694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𝘅, 𝗒</a:t>
            </a:r>
            <a:endParaRPr sz="6694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grpSp>
        <p:nvGrpSpPr>
          <p:cNvPr id="289" name="Google Shape;289;p33"/>
          <p:cNvGrpSpPr/>
          <p:nvPr/>
        </p:nvGrpSpPr>
        <p:grpSpPr>
          <a:xfrm>
            <a:off x="2614214" y="1656218"/>
            <a:ext cx="3784472" cy="2197775"/>
            <a:chOff x="224150" y="1798650"/>
            <a:chExt cx="5070300" cy="2944500"/>
          </a:xfrm>
        </p:grpSpPr>
        <p:cxnSp>
          <p:nvCxnSpPr>
            <p:cNvPr id="290" name="Google Shape;290;p33"/>
            <p:cNvCxnSpPr/>
            <p:nvPr/>
          </p:nvCxnSpPr>
          <p:spPr>
            <a:xfrm>
              <a:off x="2709925" y="1798650"/>
              <a:ext cx="0" cy="2944500"/>
            </a:xfrm>
            <a:prstGeom prst="straightConnector1">
              <a:avLst/>
            </a:prstGeom>
            <a:noFill/>
            <a:ln cap="flat" cmpd="sng" w="142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91" name="Google Shape;291;p33"/>
            <p:cNvCxnSpPr/>
            <p:nvPr/>
          </p:nvCxnSpPr>
          <p:spPr>
            <a:xfrm>
              <a:off x="224150" y="3270900"/>
              <a:ext cx="5070300" cy="0"/>
            </a:xfrm>
            <a:prstGeom prst="straightConnector1">
              <a:avLst/>
            </a:prstGeom>
            <a:noFill/>
            <a:ln cap="flat" cmpd="sng" w="142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92" name="Google Shape;292;p33"/>
            <p:cNvSpPr/>
            <p:nvPr/>
          </p:nvSpPr>
          <p:spPr>
            <a:xfrm>
              <a:off x="3192025" y="200772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93" name="Google Shape;293;p33"/>
            <p:cNvSpPr/>
            <p:nvPr/>
          </p:nvSpPr>
          <p:spPr>
            <a:xfrm>
              <a:off x="3338625" y="240987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94" name="Google Shape;294;p33"/>
            <p:cNvSpPr/>
            <p:nvPr/>
          </p:nvSpPr>
          <p:spPr>
            <a:xfrm>
              <a:off x="3740775" y="2115075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95" name="Google Shape;295;p33"/>
            <p:cNvSpPr/>
            <p:nvPr/>
          </p:nvSpPr>
          <p:spPr>
            <a:xfrm>
              <a:off x="1970750" y="2522750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96" name="Google Shape;296;p33"/>
            <p:cNvSpPr/>
            <p:nvPr/>
          </p:nvSpPr>
          <p:spPr>
            <a:xfrm>
              <a:off x="3302150" y="345922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97" name="Google Shape;297;p33"/>
            <p:cNvSpPr/>
            <p:nvPr/>
          </p:nvSpPr>
          <p:spPr>
            <a:xfrm>
              <a:off x="2926025" y="3808425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98" name="Google Shape;298;p33"/>
            <p:cNvSpPr/>
            <p:nvPr/>
          </p:nvSpPr>
          <p:spPr>
            <a:xfrm>
              <a:off x="4443275" y="3682050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99" name="Google Shape;299;p33"/>
            <p:cNvSpPr/>
            <p:nvPr/>
          </p:nvSpPr>
          <p:spPr>
            <a:xfrm>
              <a:off x="3770950" y="2986500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00" name="Google Shape;300;p33"/>
            <p:cNvSpPr/>
            <p:nvPr/>
          </p:nvSpPr>
          <p:spPr>
            <a:xfrm>
              <a:off x="1710525" y="345922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01" name="Google Shape;301;p33"/>
            <p:cNvSpPr/>
            <p:nvPr/>
          </p:nvSpPr>
          <p:spPr>
            <a:xfrm>
              <a:off x="2059725" y="395895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02" name="Google Shape;302;p33"/>
            <p:cNvSpPr/>
            <p:nvPr/>
          </p:nvSpPr>
          <p:spPr>
            <a:xfrm>
              <a:off x="1822975" y="4157625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03" name="Google Shape;303;p33"/>
            <p:cNvSpPr/>
            <p:nvPr/>
          </p:nvSpPr>
          <p:spPr>
            <a:xfrm>
              <a:off x="2010200" y="430815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04" name="Google Shape;304;p33"/>
            <p:cNvSpPr/>
            <p:nvPr/>
          </p:nvSpPr>
          <p:spPr>
            <a:xfrm>
              <a:off x="2359400" y="4193400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05" name="Google Shape;305;p33"/>
            <p:cNvSpPr/>
            <p:nvPr/>
          </p:nvSpPr>
          <p:spPr>
            <a:xfrm>
              <a:off x="1036600" y="368205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06" name="Google Shape;306;p33"/>
            <p:cNvSpPr/>
            <p:nvPr/>
          </p:nvSpPr>
          <p:spPr>
            <a:xfrm>
              <a:off x="364275" y="403125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07" name="Google Shape;307;p33"/>
            <p:cNvSpPr/>
            <p:nvPr/>
          </p:nvSpPr>
          <p:spPr>
            <a:xfrm>
              <a:off x="627375" y="380842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08" name="Google Shape;308;p33"/>
            <p:cNvSpPr/>
            <p:nvPr/>
          </p:nvSpPr>
          <p:spPr>
            <a:xfrm>
              <a:off x="976575" y="266910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09" name="Google Shape;309;p33"/>
            <p:cNvSpPr/>
            <p:nvPr/>
          </p:nvSpPr>
          <p:spPr>
            <a:xfrm>
              <a:off x="1325775" y="3195025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10" name="Google Shape;310;p33"/>
            <p:cNvSpPr/>
            <p:nvPr/>
          </p:nvSpPr>
          <p:spPr>
            <a:xfrm>
              <a:off x="2790800" y="3335700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11" name="Google Shape;311;p33"/>
            <p:cNvSpPr/>
            <p:nvPr/>
          </p:nvSpPr>
          <p:spPr>
            <a:xfrm>
              <a:off x="4241650" y="220360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12" name="Google Shape;312;p33"/>
            <p:cNvSpPr/>
            <p:nvPr/>
          </p:nvSpPr>
          <p:spPr>
            <a:xfrm>
              <a:off x="1674975" y="221397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13" name="Google Shape;313;p33"/>
            <p:cNvSpPr/>
            <p:nvPr/>
          </p:nvSpPr>
          <p:spPr>
            <a:xfrm>
              <a:off x="2744800" y="211507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14" name="Google Shape;314;p33"/>
            <p:cNvSpPr/>
            <p:nvPr/>
          </p:nvSpPr>
          <p:spPr>
            <a:xfrm>
              <a:off x="4036725" y="4332525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cxnSp>
        <p:nvCxnSpPr>
          <p:cNvPr id="315" name="Google Shape;315;p33"/>
          <p:cNvCxnSpPr>
            <a:stCxn id="288" idx="3"/>
          </p:cNvCxnSpPr>
          <p:nvPr/>
        </p:nvCxnSpPr>
        <p:spPr>
          <a:xfrm>
            <a:off x="2150127" y="2755118"/>
            <a:ext cx="326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33"/>
          <p:cNvCxnSpPr>
            <a:endCxn id="287" idx="1"/>
          </p:cNvCxnSpPr>
          <p:nvPr/>
        </p:nvCxnSpPr>
        <p:spPr>
          <a:xfrm>
            <a:off x="6609863" y="2755118"/>
            <a:ext cx="384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Information Pipeline in ML</a:t>
            </a:r>
            <a:endParaRPr/>
          </a:p>
        </p:txBody>
      </p:sp>
      <p:sp>
        <p:nvSpPr>
          <p:cNvPr id="322" name="Google Shape;322;p34"/>
          <p:cNvSpPr txBox="1"/>
          <p:nvPr/>
        </p:nvSpPr>
        <p:spPr>
          <a:xfrm>
            <a:off x="6993863" y="1982468"/>
            <a:ext cx="17073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0" lIns="85000" spcFirstLastPara="1" rIns="85000" wrap="square" tIns="85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116"/>
              </a:spcAft>
              <a:buNone/>
            </a:pPr>
            <a:r>
              <a:rPr lang="en" sz="6694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𝛝</a:t>
            </a:r>
            <a:endParaRPr sz="6694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323" name="Google Shape;323;p34"/>
          <p:cNvSpPr txBox="1"/>
          <p:nvPr/>
        </p:nvSpPr>
        <p:spPr>
          <a:xfrm>
            <a:off x="442827" y="1982468"/>
            <a:ext cx="17073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0" lIns="85000" spcFirstLastPara="1" rIns="85000" wrap="square" tIns="85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116"/>
              </a:spcAft>
              <a:buNone/>
            </a:pPr>
            <a:r>
              <a:rPr lang="en" sz="6694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𝘅, 𝗒</a:t>
            </a:r>
            <a:endParaRPr sz="6694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grpSp>
        <p:nvGrpSpPr>
          <p:cNvPr id="324" name="Google Shape;324;p34"/>
          <p:cNvGrpSpPr/>
          <p:nvPr/>
        </p:nvGrpSpPr>
        <p:grpSpPr>
          <a:xfrm>
            <a:off x="2614214" y="1656218"/>
            <a:ext cx="3784472" cy="2197775"/>
            <a:chOff x="224150" y="1798650"/>
            <a:chExt cx="5070300" cy="2944500"/>
          </a:xfrm>
        </p:grpSpPr>
        <p:cxnSp>
          <p:nvCxnSpPr>
            <p:cNvPr id="325" name="Google Shape;325;p34"/>
            <p:cNvCxnSpPr/>
            <p:nvPr/>
          </p:nvCxnSpPr>
          <p:spPr>
            <a:xfrm>
              <a:off x="2709925" y="1798650"/>
              <a:ext cx="0" cy="2944500"/>
            </a:xfrm>
            <a:prstGeom prst="straightConnector1">
              <a:avLst/>
            </a:prstGeom>
            <a:noFill/>
            <a:ln cap="flat" cmpd="sng" w="142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26" name="Google Shape;326;p34"/>
            <p:cNvCxnSpPr/>
            <p:nvPr/>
          </p:nvCxnSpPr>
          <p:spPr>
            <a:xfrm>
              <a:off x="224150" y="3270900"/>
              <a:ext cx="5070300" cy="0"/>
            </a:xfrm>
            <a:prstGeom prst="straightConnector1">
              <a:avLst/>
            </a:prstGeom>
            <a:noFill/>
            <a:ln cap="flat" cmpd="sng" w="142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27" name="Google Shape;327;p34"/>
            <p:cNvSpPr/>
            <p:nvPr/>
          </p:nvSpPr>
          <p:spPr>
            <a:xfrm>
              <a:off x="3192025" y="200772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28" name="Google Shape;328;p34"/>
            <p:cNvSpPr/>
            <p:nvPr/>
          </p:nvSpPr>
          <p:spPr>
            <a:xfrm>
              <a:off x="3338625" y="240987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29" name="Google Shape;329;p34"/>
            <p:cNvSpPr/>
            <p:nvPr/>
          </p:nvSpPr>
          <p:spPr>
            <a:xfrm>
              <a:off x="3740775" y="2115075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30" name="Google Shape;330;p34"/>
            <p:cNvSpPr/>
            <p:nvPr/>
          </p:nvSpPr>
          <p:spPr>
            <a:xfrm>
              <a:off x="1970750" y="2522750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31" name="Google Shape;331;p34"/>
            <p:cNvSpPr/>
            <p:nvPr/>
          </p:nvSpPr>
          <p:spPr>
            <a:xfrm>
              <a:off x="3302150" y="345922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32" name="Google Shape;332;p34"/>
            <p:cNvSpPr/>
            <p:nvPr/>
          </p:nvSpPr>
          <p:spPr>
            <a:xfrm>
              <a:off x="2926025" y="3808425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33" name="Google Shape;333;p34"/>
            <p:cNvSpPr/>
            <p:nvPr/>
          </p:nvSpPr>
          <p:spPr>
            <a:xfrm>
              <a:off x="4443275" y="3682050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34" name="Google Shape;334;p34"/>
            <p:cNvSpPr/>
            <p:nvPr/>
          </p:nvSpPr>
          <p:spPr>
            <a:xfrm>
              <a:off x="3770950" y="2986500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35" name="Google Shape;335;p34"/>
            <p:cNvSpPr/>
            <p:nvPr/>
          </p:nvSpPr>
          <p:spPr>
            <a:xfrm>
              <a:off x="1710525" y="345922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36" name="Google Shape;336;p34"/>
            <p:cNvSpPr/>
            <p:nvPr/>
          </p:nvSpPr>
          <p:spPr>
            <a:xfrm>
              <a:off x="2059725" y="395895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37" name="Google Shape;337;p34"/>
            <p:cNvSpPr/>
            <p:nvPr/>
          </p:nvSpPr>
          <p:spPr>
            <a:xfrm>
              <a:off x="1822975" y="4157625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38" name="Google Shape;338;p34"/>
            <p:cNvSpPr/>
            <p:nvPr/>
          </p:nvSpPr>
          <p:spPr>
            <a:xfrm>
              <a:off x="2010200" y="430815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39" name="Google Shape;339;p34"/>
            <p:cNvSpPr/>
            <p:nvPr/>
          </p:nvSpPr>
          <p:spPr>
            <a:xfrm>
              <a:off x="2359400" y="4193400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40" name="Google Shape;340;p34"/>
            <p:cNvSpPr/>
            <p:nvPr/>
          </p:nvSpPr>
          <p:spPr>
            <a:xfrm>
              <a:off x="1036600" y="368205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41" name="Google Shape;341;p34"/>
            <p:cNvSpPr/>
            <p:nvPr/>
          </p:nvSpPr>
          <p:spPr>
            <a:xfrm>
              <a:off x="364275" y="403125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42" name="Google Shape;342;p34"/>
            <p:cNvSpPr/>
            <p:nvPr/>
          </p:nvSpPr>
          <p:spPr>
            <a:xfrm>
              <a:off x="627375" y="380842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43" name="Google Shape;343;p34"/>
            <p:cNvSpPr/>
            <p:nvPr/>
          </p:nvSpPr>
          <p:spPr>
            <a:xfrm>
              <a:off x="976575" y="266910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44" name="Google Shape;344;p34"/>
            <p:cNvSpPr/>
            <p:nvPr/>
          </p:nvSpPr>
          <p:spPr>
            <a:xfrm>
              <a:off x="1325775" y="3195025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45" name="Google Shape;345;p34"/>
            <p:cNvSpPr/>
            <p:nvPr/>
          </p:nvSpPr>
          <p:spPr>
            <a:xfrm>
              <a:off x="2790800" y="3335700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46" name="Google Shape;346;p34"/>
            <p:cNvSpPr/>
            <p:nvPr/>
          </p:nvSpPr>
          <p:spPr>
            <a:xfrm>
              <a:off x="4241650" y="220360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47" name="Google Shape;347;p34"/>
            <p:cNvSpPr/>
            <p:nvPr/>
          </p:nvSpPr>
          <p:spPr>
            <a:xfrm>
              <a:off x="1674975" y="221397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48" name="Google Shape;348;p34"/>
            <p:cNvSpPr/>
            <p:nvPr/>
          </p:nvSpPr>
          <p:spPr>
            <a:xfrm>
              <a:off x="2744800" y="211507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49" name="Google Shape;349;p34"/>
            <p:cNvSpPr/>
            <p:nvPr/>
          </p:nvSpPr>
          <p:spPr>
            <a:xfrm>
              <a:off x="4036725" y="4332525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cxnSp>
        <p:nvCxnSpPr>
          <p:cNvPr id="350" name="Google Shape;350;p34"/>
          <p:cNvCxnSpPr>
            <a:stCxn id="323" idx="3"/>
          </p:cNvCxnSpPr>
          <p:nvPr/>
        </p:nvCxnSpPr>
        <p:spPr>
          <a:xfrm>
            <a:off x="2150127" y="2755118"/>
            <a:ext cx="326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1" name="Google Shape;351;p34"/>
          <p:cNvCxnSpPr>
            <a:endCxn id="322" idx="1"/>
          </p:cNvCxnSpPr>
          <p:nvPr/>
        </p:nvCxnSpPr>
        <p:spPr>
          <a:xfrm>
            <a:off x="6609863" y="2755118"/>
            <a:ext cx="384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2" name="Google Shape;352;p34"/>
          <p:cNvCxnSpPr>
            <a:stCxn id="322" idx="2"/>
            <a:endCxn id="323" idx="2"/>
          </p:cNvCxnSpPr>
          <p:nvPr/>
        </p:nvCxnSpPr>
        <p:spPr>
          <a:xfrm rot="5400000">
            <a:off x="4571663" y="252518"/>
            <a:ext cx="600" cy="6551100"/>
          </a:xfrm>
          <a:prstGeom prst="curvedConnector3">
            <a:avLst>
              <a:gd fmla="val 223930303" name="adj1"/>
            </a:avLst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5"/>
          <p:cNvSpPr txBox="1"/>
          <p:nvPr>
            <p:ph type="title"/>
          </p:nvPr>
        </p:nvSpPr>
        <p:spPr>
          <a:xfrm>
            <a:off x="490250" y="450150"/>
            <a:ext cx="77589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Splitting your data lets you assess performance on the underlying data distribution- not your sampled dataset!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Use-case Implies Target Generalizability Unit</a:t>
            </a:r>
            <a:endParaRPr/>
          </a:p>
        </p:txBody>
      </p:sp>
      <p:grpSp>
        <p:nvGrpSpPr>
          <p:cNvPr id="363" name="Google Shape;363;p36"/>
          <p:cNvGrpSpPr/>
          <p:nvPr/>
        </p:nvGrpSpPr>
        <p:grpSpPr>
          <a:xfrm>
            <a:off x="694261" y="1567654"/>
            <a:ext cx="1353340" cy="1376572"/>
            <a:chOff x="2771325" y="459125"/>
            <a:chExt cx="3623400" cy="3685600"/>
          </a:xfrm>
        </p:grpSpPr>
        <p:sp>
          <p:nvSpPr>
            <p:cNvPr id="364" name="Google Shape;364;p36"/>
            <p:cNvSpPr/>
            <p:nvPr/>
          </p:nvSpPr>
          <p:spPr>
            <a:xfrm>
              <a:off x="2771325" y="3921225"/>
              <a:ext cx="3623400" cy="223500"/>
            </a:xfrm>
            <a:prstGeom prst="trapezoid">
              <a:avLst>
                <a:gd fmla="val 44417" name="adj"/>
              </a:avLst>
            </a:prstGeom>
            <a:solidFill>
              <a:srgbClr val="FFFFFF"/>
            </a:soli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6"/>
            <p:cNvSpPr/>
            <p:nvPr/>
          </p:nvSpPr>
          <p:spPr>
            <a:xfrm>
              <a:off x="2913300" y="1100250"/>
              <a:ext cx="3317400" cy="2912100"/>
            </a:xfrm>
            <a:prstGeom prst="rect">
              <a:avLst/>
            </a:prstGeom>
            <a:solidFill>
              <a:srgbClr val="FFFFFF"/>
            </a:soli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3802650" y="488075"/>
              <a:ext cx="1538700" cy="612300"/>
            </a:xfrm>
            <a:prstGeom prst="rect">
              <a:avLst/>
            </a:prstGeom>
            <a:solidFill>
              <a:srgbClr val="FFFFFF"/>
            </a:soli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4236900" y="459125"/>
              <a:ext cx="670200" cy="670200"/>
            </a:xfrm>
            <a:prstGeom prst="mathPlus">
              <a:avLst>
                <a:gd fmla="val 23520" name="adj1"/>
              </a:avLst>
            </a:prstGeom>
            <a:solidFill>
              <a:srgbClr val="EA9999"/>
            </a:solidFill>
            <a:ln cap="flat" cmpd="sng" w="35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6"/>
            <p:cNvSpPr/>
            <p:nvPr/>
          </p:nvSpPr>
          <p:spPr>
            <a:xfrm>
              <a:off x="4941525" y="2994750"/>
              <a:ext cx="1085100" cy="10176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9" name="Google Shape;369;p36"/>
            <p:cNvCxnSpPr>
              <a:stCxn id="368" idx="0"/>
              <a:endCxn id="368" idx="2"/>
            </p:cNvCxnSpPr>
            <p:nvPr/>
          </p:nvCxnSpPr>
          <p:spPr>
            <a:xfrm>
              <a:off x="5484075" y="2994750"/>
              <a:ext cx="0" cy="1017600"/>
            </a:xfrm>
            <a:prstGeom prst="straightConnector1">
              <a:avLst/>
            </a:prstGeom>
            <a:noFill/>
            <a:ln cap="flat" cmpd="sng" w="35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0" name="Google Shape;370;p36"/>
            <p:cNvSpPr/>
            <p:nvPr/>
          </p:nvSpPr>
          <p:spPr>
            <a:xfrm>
              <a:off x="311745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6"/>
            <p:cNvSpPr/>
            <p:nvPr/>
          </p:nvSpPr>
          <p:spPr>
            <a:xfrm>
              <a:off x="3725475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6"/>
            <p:cNvSpPr/>
            <p:nvPr/>
          </p:nvSpPr>
          <p:spPr>
            <a:xfrm>
              <a:off x="433350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6"/>
            <p:cNvSpPr/>
            <p:nvPr/>
          </p:nvSpPr>
          <p:spPr>
            <a:xfrm>
              <a:off x="4941525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6"/>
            <p:cNvSpPr/>
            <p:nvPr/>
          </p:nvSpPr>
          <p:spPr>
            <a:xfrm>
              <a:off x="554955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6"/>
            <p:cNvSpPr/>
            <p:nvPr/>
          </p:nvSpPr>
          <p:spPr>
            <a:xfrm>
              <a:off x="311745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6"/>
            <p:cNvSpPr/>
            <p:nvPr/>
          </p:nvSpPr>
          <p:spPr>
            <a:xfrm>
              <a:off x="3725475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6"/>
            <p:cNvSpPr/>
            <p:nvPr/>
          </p:nvSpPr>
          <p:spPr>
            <a:xfrm>
              <a:off x="433350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6"/>
            <p:cNvSpPr/>
            <p:nvPr/>
          </p:nvSpPr>
          <p:spPr>
            <a:xfrm>
              <a:off x="4941525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6"/>
            <p:cNvSpPr/>
            <p:nvPr/>
          </p:nvSpPr>
          <p:spPr>
            <a:xfrm>
              <a:off x="554955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6"/>
            <p:cNvSpPr/>
            <p:nvPr/>
          </p:nvSpPr>
          <p:spPr>
            <a:xfrm>
              <a:off x="3117450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6"/>
            <p:cNvSpPr/>
            <p:nvPr/>
          </p:nvSpPr>
          <p:spPr>
            <a:xfrm>
              <a:off x="3725475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6"/>
            <p:cNvSpPr/>
            <p:nvPr/>
          </p:nvSpPr>
          <p:spPr>
            <a:xfrm>
              <a:off x="4333500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3" name="Google Shape;383;p36"/>
          <p:cNvGrpSpPr/>
          <p:nvPr/>
        </p:nvGrpSpPr>
        <p:grpSpPr>
          <a:xfrm>
            <a:off x="694261" y="3211829"/>
            <a:ext cx="1353340" cy="1376572"/>
            <a:chOff x="2771325" y="459125"/>
            <a:chExt cx="3623400" cy="3685600"/>
          </a:xfrm>
        </p:grpSpPr>
        <p:sp>
          <p:nvSpPr>
            <p:cNvPr id="384" name="Google Shape;384;p36"/>
            <p:cNvSpPr/>
            <p:nvPr/>
          </p:nvSpPr>
          <p:spPr>
            <a:xfrm>
              <a:off x="2771325" y="3921225"/>
              <a:ext cx="3623400" cy="223500"/>
            </a:xfrm>
            <a:prstGeom prst="trapezoid">
              <a:avLst>
                <a:gd fmla="val 44417" name="adj"/>
              </a:avLst>
            </a:prstGeom>
            <a:solidFill>
              <a:srgbClr val="FFFFFF"/>
            </a:soli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6"/>
            <p:cNvSpPr/>
            <p:nvPr/>
          </p:nvSpPr>
          <p:spPr>
            <a:xfrm>
              <a:off x="2913300" y="1100250"/>
              <a:ext cx="3317400" cy="2912100"/>
            </a:xfrm>
            <a:prstGeom prst="rect">
              <a:avLst/>
            </a:prstGeom>
            <a:solidFill>
              <a:srgbClr val="FFFFFF"/>
            </a:soli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3802650" y="488075"/>
              <a:ext cx="1538700" cy="612300"/>
            </a:xfrm>
            <a:prstGeom prst="rect">
              <a:avLst/>
            </a:prstGeom>
            <a:solidFill>
              <a:srgbClr val="FFFFFF"/>
            </a:soli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4236900" y="459125"/>
              <a:ext cx="670200" cy="670200"/>
            </a:xfrm>
            <a:prstGeom prst="mathPlus">
              <a:avLst>
                <a:gd fmla="val 23520" name="adj1"/>
              </a:avLst>
            </a:prstGeom>
            <a:solidFill>
              <a:srgbClr val="EA9999"/>
            </a:solidFill>
            <a:ln cap="flat" cmpd="sng" w="35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4941525" y="2994750"/>
              <a:ext cx="1085100" cy="10176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9" name="Google Shape;389;p36"/>
            <p:cNvCxnSpPr>
              <a:stCxn id="388" idx="0"/>
              <a:endCxn id="388" idx="2"/>
            </p:cNvCxnSpPr>
            <p:nvPr/>
          </p:nvCxnSpPr>
          <p:spPr>
            <a:xfrm>
              <a:off x="5484075" y="2994750"/>
              <a:ext cx="0" cy="1017600"/>
            </a:xfrm>
            <a:prstGeom prst="straightConnector1">
              <a:avLst/>
            </a:prstGeom>
            <a:noFill/>
            <a:ln cap="flat" cmpd="sng" w="35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0" name="Google Shape;390;p36"/>
            <p:cNvSpPr/>
            <p:nvPr/>
          </p:nvSpPr>
          <p:spPr>
            <a:xfrm>
              <a:off x="311745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6"/>
            <p:cNvSpPr/>
            <p:nvPr/>
          </p:nvSpPr>
          <p:spPr>
            <a:xfrm>
              <a:off x="3725475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6"/>
            <p:cNvSpPr/>
            <p:nvPr/>
          </p:nvSpPr>
          <p:spPr>
            <a:xfrm>
              <a:off x="433350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6"/>
            <p:cNvSpPr/>
            <p:nvPr/>
          </p:nvSpPr>
          <p:spPr>
            <a:xfrm>
              <a:off x="4941525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6"/>
            <p:cNvSpPr/>
            <p:nvPr/>
          </p:nvSpPr>
          <p:spPr>
            <a:xfrm>
              <a:off x="554955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6"/>
            <p:cNvSpPr/>
            <p:nvPr/>
          </p:nvSpPr>
          <p:spPr>
            <a:xfrm>
              <a:off x="311745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6"/>
            <p:cNvSpPr/>
            <p:nvPr/>
          </p:nvSpPr>
          <p:spPr>
            <a:xfrm>
              <a:off x="3725475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6"/>
            <p:cNvSpPr/>
            <p:nvPr/>
          </p:nvSpPr>
          <p:spPr>
            <a:xfrm>
              <a:off x="433350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6"/>
            <p:cNvSpPr/>
            <p:nvPr/>
          </p:nvSpPr>
          <p:spPr>
            <a:xfrm>
              <a:off x="4941525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6"/>
            <p:cNvSpPr/>
            <p:nvPr/>
          </p:nvSpPr>
          <p:spPr>
            <a:xfrm>
              <a:off x="554955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6"/>
            <p:cNvSpPr/>
            <p:nvPr/>
          </p:nvSpPr>
          <p:spPr>
            <a:xfrm>
              <a:off x="3117450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6"/>
            <p:cNvSpPr/>
            <p:nvPr/>
          </p:nvSpPr>
          <p:spPr>
            <a:xfrm>
              <a:off x="3725475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6"/>
            <p:cNvSpPr/>
            <p:nvPr/>
          </p:nvSpPr>
          <p:spPr>
            <a:xfrm>
              <a:off x="4333500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3" name="Google Shape;403;p36"/>
          <p:cNvGrpSpPr/>
          <p:nvPr/>
        </p:nvGrpSpPr>
        <p:grpSpPr>
          <a:xfrm>
            <a:off x="2446962" y="1596762"/>
            <a:ext cx="330968" cy="668844"/>
            <a:chOff x="979050" y="682850"/>
            <a:chExt cx="519900" cy="1050650"/>
          </a:xfrm>
        </p:grpSpPr>
        <p:sp>
          <p:nvSpPr>
            <p:cNvPr id="404" name="Google Shape;404;p36"/>
            <p:cNvSpPr/>
            <p:nvPr/>
          </p:nvSpPr>
          <p:spPr>
            <a:xfrm>
              <a:off x="1112725" y="682850"/>
              <a:ext cx="247800" cy="247800"/>
            </a:xfrm>
            <a:prstGeom prst="ellipse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6"/>
            <p:cNvSpPr/>
            <p:nvPr/>
          </p:nvSpPr>
          <p:spPr>
            <a:xfrm>
              <a:off x="979050" y="930650"/>
              <a:ext cx="519900" cy="419400"/>
            </a:xfrm>
            <a:prstGeom prst="round2SameRect">
              <a:avLst>
                <a:gd fmla="val 27945" name="adj1"/>
                <a:gd fmla="val 0" name="adj2"/>
              </a:avLst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6"/>
            <p:cNvSpPr/>
            <p:nvPr/>
          </p:nvSpPr>
          <p:spPr>
            <a:xfrm>
              <a:off x="11016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6"/>
            <p:cNvSpPr/>
            <p:nvPr/>
          </p:nvSpPr>
          <p:spPr>
            <a:xfrm>
              <a:off x="12715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6"/>
            <p:cNvSpPr/>
            <p:nvPr/>
          </p:nvSpPr>
          <p:spPr>
            <a:xfrm>
              <a:off x="1101600" y="1059300"/>
              <a:ext cx="285300" cy="3585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6"/>
            <p:cNvSpPr/>
            <p:nvPr/>
          </p:nvSpPr>
          <p:spPr>
            <a:xfrm>
              <a:off x="1107125" y="1032900"/>
              <a:ext cx="274200" cy="378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6"/>
            <p:cNvSpPr/>
            <p:nvPr/>
          </p:nvSpPr>
          <p:spPr>
            <a:xfrm>
              <a:off x="1107125" y="1390900"/>
              <a:ext cx="1044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6"/>
            <p:cNvSpPr/>
            <p:nvPr/>
          </p:nvSpPr>
          <p:spPr>
            <a:xfrm>
              <a:off x="1276425" y="1390900"/>
              <a:ext cx="1050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2" name="Google Shape;412;p36"/>
          <p:cNvGrpSpPr/>
          <p:nvPr/>
        </p:nvGrpSpPr>
        <p:grpSpPr>
          <a:xfrm>
            <a:off x="2446962" y="2418850"/>
            <a:ext cx="330968" cy="668844"/>
            <a:chOff x="979050" y="682850"/>
            <a:chExt cx="519900" cy="1050650"/>
          </a:xfrm>
        </p:grpSpPr>
        <p:sp>
          <p:nvSpPr>
            <p:cNvPr id="413" name="Google Shape;413;p36"/>
            <p:cNvSpPr/>
            <p:nvPr/>
          </p:nvSpPr>
          <p:spPr>
            <a:xfrm>
              <a:off x="1112725" y="682850"/>
              <a:ext cx="247800" cy="247800"/>
            </a:xfrm>
            <a:prstGeom prst="ellipse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6"/>
            <p:cNvSpPr/>
            <p:nvPr/>
          </p:nvSpPr>
          <p:spPr>
            <a:xfrm>
              <a:off x="979050" y="930650"/>
              <a:ext cx="519900" cy="419400"/>
            </a:xfrm>
            <a:prstGeom prst="round2SameRect">
              <a:avLst>
                <a:gd fmla="val 27945" name="adj1"/>
                <a:gd fmla="val 0" name="adj2"/>
              </a:avLst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6"/>
            <p:cNvSpPr/>
            <p:nvPr/>
          </p:nvSpPr>
          <p:spPr>
            <a:xfrm>
              <a:off x="11016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6"/>
            <p:cNvSpPr/>
            <p:nvPr/>
          </p:nvSpPr>
          <p:spPr>
            <a:xfrm>
              <a:off x="12715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6"/>
            <p:cNvSpPr/>
            <p:nvPr/>
          </p:nvSpPr>
          <p:spPr>
            <a:xfrm>
              <a:off x="1101600" y="1059300"/>
              <a:ext cx="285300" cy="3585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6"/>
            <p:cNvSpPr/>
            <p:nvPr/>
          </p:nvSpPr>
          <p:spPr>
            <a:xfrm>
              <a:off x="1107125" y="1032900"/>
              <a:ext cx="274200" cy="378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6"/>
            <p:cNvSpPr/>
            <p:nvPr/>
          </p:nvSpPr>
          <p:spPr>
            <a:xfrm>
              <a:off x="1107125" y="1390900"/>
              <a:ext cx="1044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6"/>
            <p:cNvSpPr/>
            <p:nvPr/>
          </p:nvSpPr>
          <p:spPr>
            <a:xfrm>
              <a:off x="1276425" y="1390900"/>
              <a:ext cx="1050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1" name="Google Shape;421;p36"/>
          <p:cNvGrpSpPr/>
          <p:nvPr/>
        </p:nvGrpSpPr>
        <p:grpSpPr>
          <a:xfrm>
            <a:off x="2446962" y="3661330"/>
            <a:ext cx="330968" cy="668844"/>
            <a:chOff x="979050" y="682850"/>
            <a:chExt cx="519900" cy="1050650"/>
          </a:xfrm>
        </p:grpSpPr>
        <p:sp>
          <p:nvSpPr>
            <p:cNvPr id="422" name="Google Shape;422;p36"/>
            <p:cNvSpPr/>
            <p:nvPr/>
          </p:nvSpPr>
          <p:spPr>
            <a:xfrm>
              <a:off x="1112725" y="682850"/>
              <a:ext cx="247800" cy="247800"/>
            </a:xfrm>
            <a:prstGeom prst="ellipse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6"/>
            <p:cNvSpPr/>
            <p:nvPr/>
          </p:nvSpPr>
          <p:spPr>
            <a:xfrm>
              <a:off x="979050" y="930650"/>
              <a:ext cx="519900" cy="419400"/>
            </a:xfrm>
            <a:prstGeom prst="round2SameRect">
              <a:avLst>
                <a:gd fmla="val 27945" name="adj1"/>
                <a:gd fmla="val 0" name="adj2"/>
              </a:avLst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6"/>
            <p:cNvSpPr/>
            <p:nvPr/>
          </p:nvSpPr>
          <p:spPr>
            <a:xfrm>
              <a:off x="11016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6"/>
            <p:cNvSpPr/>
            <p:nvPr/>
          </p:nvSpPr>
          <p:spPr>
            <a:xfrm>
              <a:off x="12715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6"/>
            <p:cNvSpPr/>
            <p:nvPr/>
          </p:nvSpPr>
          <p:spPr>
            <a:xfrm>
              <a:off x="1101600" y="1059300"/>
              <a:ext cx="285300" cy="3585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6"/>
            <p:cNvSpPr/>
            <p:nvPr/>
          </p:nvSpPr>
          <p:spPr>
            <a:xfrm>
              <a:off x="1107125" y="1032900"/>
              <a:ext cx="274200" cy="378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6"/>
            <p:cNvSpPr/>
            <p:nvPr/>
          </p:nvSpPr>
          <p:spPr>
            <a:xfrm>
              <a:off x="1107125" y="1390900"/>
              <a:ext cx="1044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6"/>
            <p:cNvSpPr/>
            <p:nvPr/>
          </p:nvSpPr>
          <p:spPr>
            <a:xfrm>
              <a:off x="1276425" y="1390900"/>
              <a:ext cx="1050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0" name="Google Shape;430;p36"/>
          <p:cNvSpPr txBox="1"/>
          <p:nvPr/>
        </p:nvSpPr>
        <p:spPr>
          <a:xfrm>
            <a:off x="3177275" y="1469484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1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1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431" name="Google Shape;431;p36"/>
          <p:cNvSpPr txBox="1"/>
          <p:nvPr/>
        </p:nvSpPr>
        <p:spPr>
          <a:xfrm>
            <a:off x="3177275" y="1931184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2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2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432" name="Google Shape;432;p36"/>
          <p:cNvSpPr txBox="1"/>
          <p:nvPr/>
        </p:nvSpPr>
        <p:spPr>
          <a:xfrm>
            <a:off x="3177275" y="2522421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3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3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433" name="Google Shape;433;p36"/>
          <p:cNvSpPr txBox="1"/>
          <p:nvPr/>
        </p:nvSpPr>
        <p:spPr>
          <a:xfrm>
            <a:off x="3177275" y="3534051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4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4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434" name="Google Shape;434;p36"/>
          <p:cNvSpPr txBox="1"/>
          <p:nvPr/>
        </p:nvSpPr>
        <p:spPr>
          <a:xfrm>
            <a:off x="3177275" y="3995751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5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5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435" name="Google Shape;435;p36"/>
          <p:cNvSpPr/>
          <p:nvPr/>
        </p:nvSpPr>
        <p:spPr>
          <a:xfrm>
            <a:off x="2353088" y="1511784"/>
            <a:ext cx="518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36" name="Google Shape;436;p36"/>
          <p:cNvSpPr/>
          <p:nvPr/>
        </p:nvSpPr>
        <p:spPr>
          <a:xfrm>
            <a:off x="2353075" y="2333859"/>
            <a:ext cx="518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37" name="Google Shape;437;p36"/>
          <p:cNvSpPr/>
          <p:nvPr/>
        </p:nvSpPr>
        <p:spPr>
          <a:xfrm>
            <a:off x="2353088" y="3576338"/>
            <a:ext cx="518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438" name="Google Shape;438;p36"/>
          <p:cNvCxnSpPr>
            <a:stCxn id="365" idx="3"/>
            <a:endCxn id="435" idx="1"/>
          </p:cNvCxnSpPr>
          <p:nvPr/>
        </p:nvCxnSpPr>
        <p:spPr>
          <a:xfrm flipH="1" rot="10800000">
            <a:off x="1986338" y="1931248"/>
            <a:ext cx="366600" cy="41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36"/>
          <p:cNvCxnSpPr>
            <a:stCxn id="365" idx="3"/>
            <a:endCxn id="436" idx="1"/>
          </p:cNvCxnSpPr>
          <p:nvPr/>
        </p:nvCxnSpPr>
        <p:spPr>
          <a:xfrm>
            <a:off x="1986338" y="2350948"/>
            <a:ext cx="3666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36"/>
          <p:cNvCxnSpPr>
            <a:stCxn id="385" idx="3"/>
            <a:endCxn id="437" idx="1"/>
          </p:cNvCxnSpPr>
          <p:nvPr/>
        </p:nvCxnSpPr>
        <p:spPr>
          <a:xfrm>
            <a:off x="1986338" y="3995123"/>
            <a:ext cx="3666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36"/>
          <p:cNvCxnSpPr>
            <a:stCxn id="435" idx="3"/>
            <a:endCxn id="430" idx="1"/>
          </p:cNvCxnSpPr>
          <p:nvPr/>
        </p:nvCxnSpPr>
        <p:spPr>
          <a:xfrm flipH="1" rot="10800000">
            <a:off x="2871788" y="1700484"/>
            <a:ext cx="305400" cy="23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36"/>
          <p:cNvCxnSpPr>
            <a:stCxn id="435" idx="3"/>
            <a:endCxn id="431" idx="1"/>
          </p:cNvCxnSpPr>
          <p:nvPr/>
        </p:nvCxnSpPr>
        <p:spPr>
          <a:xfrm>
            <a:off x="2871788" y="1931184"/>
            <a:ext cx="305400" cy="23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36"/>
          <p:cNvCxnSpPr>
            <a:stCxn id="436" idx="3"/>
            <a:endCxn id="432" idx="1"/>
          </p:cNvCxnSpPr>
          <p:nvPr/>
        </p:nvCxnSpPr>
        <p:spPr>
          <a:xfrm>
            <a:off x="2871775" y="2753259"/>
            <a:ext cx="30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36"/>
          <p:cNvCxnSpPr>
            <a:stCxn id="437" idx="3"/>
            <a:endCxn id="433" idx="1"/>
          </p:cNvCxnSpPr>
          <p:nvPr/>
        </p:nvCxnSpPr>
        <p:spPr>
          <a:xfrm flipH="1" rot="10800000">
            <a:off x="2871788" y="3765038"/>
            <a:ext cx="305400" cy="23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36"/>
          <p:cNvCxnSpPr>
            <a:stCxn id="437" idx="3"/>
            <a:endCxn id="434" idx="1"/>
          </p:cNvCxnSpPr>
          <p:nvPr/>
        </p:nvCxnSpPr>
        <p:spPr>
          <a:xfrm>
            <a:off x="2871788" y="3995738"/>
            <a:ext cx="305400" cy="23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Use-case Implies Target Generalizability Unit</a:t>
            </a:r>
            <a:endParaRPr/>
          </a:p>
        </p:txBody>
      </p:sp>
      <p:grpSp>
        <p:nvGrpSpPr>
          <p:cNvPr id="451" name="Google Shape;451;p37"/>
          <p:cNvGrpSpPr/>
          <p:nvPr/>
        </p:nvGrpSpPr>
        <p:grpSpPr>
          <a:xfrm>
            <a:off x="694261" y="1567654"/>
            <a:ext cx="1353340" cy="1376572"/>
            <a:chOff x="2771325" y="459125"/>
            <a:chExt cx="3623400" cy="3685600"/>
          </a:xfrm>
        </p:grpSpPr>
        <p:sp>
          <p:nvSpPr>
            <p:cNvPr id="452" name="Google Shape;452;p37"/>
            <p:cNvSpPr/>
            <p:nvPr/>
          </p:nvSpPr>
          <p:spPr>
            <a:xfrm>
              <a:off x="2771325" y="3921225"/>
              <a:ext cx="3623400" cy="223500"/>
            </a:xfrm>
            <a:prstGeom prst="trapezoid">
              <a:avLst>
                <a:gd fmla="val 44417" name="adj"/>
              </a:avLst>
            </a:prstGeom>
            <a:solidFill>
              <a:srgbClr val="FFFFFF"/>
            </a:soli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7"/>
            <p:cNvSpPr/>
            <p:nvPr/>
          </p:nvSpPr>
          <p:spPr>
            <a:xfrm>
              <a:off x="2913300" y="1100250"/>
              <a:ext cx="3317400" cy="2912100"/>
            </a:xfrm>
            <a:prstGeom prst="rect">
              <a:avLst/>
            </a:prstGeom>
            <a:solidFill>
              <a:srgbClr val="FFFFFF"/>
            </a:soli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7"/>
            <p:cNvSpPr/>
            <p:nvPr/>
          </p:nvSpPr>
          <p:spPr>
            <a:xfrm>
              <a:off x="3802650" y="488075"/>
              <a:ext cx="1538700" cy="612300"/>
            </a:xfrm>
            <a:prstGeom prst="rect">
              <a:avLst/>
            </a:prstGeom>
            <a:solidFill>
              <a:srgbClr val="FFFFFF"/>
            </a:soli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7"/>
            <p:cNvSpPr/>
            <p:nvPr/>
          </p:nvSpPr>
          <p:spPr>
            <a:xfrm>
              <a:off x="4236900" y="459125"/>
              <a:ext cx="670200" cy="670200"/>
            </a:xfrm>
            <a:prstGeom prst="mathPlus">
              <a:avLst>
                <a:gd fmla="val 23520" name="adj1"/>
              </a:avLst>
            </a:prstGeom>
            <a:solidFill>
              <a:srgbClr val="EA9999"/>
            </a:solidFill>
            <a:ln cap="flat" cmpd="sng" w="35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7"/>
            <p:cNvSpPr/>
            <p:nvPr/>
          </p:nvSpPr>
          <p:spPr>
            <a:xfrm>
              <a:off x="4941525" y="2994750"/>
              <a:ext cx="1085100" cy="10176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57" name="Google Shape;457;p37"/>
            <p:cNvCxnSpPr>
              <a:stCxn id="456" idx="0"/>
              <a:endCxn id="456" idx="2"/>
            </p:cNvCxnSpPr>
            <p:nvPr/>
          </p:nvCxnSpPr>
          <p:spPr>
            <a:xfrm>
              <a:off x="5484075" y="2994750"/>
              <a:ext cx="0" cy="1017600"/>
            </a:xfrm>
            <a:prstGeom prst="straightConnector1">
              <a:avLst/>
            </a:prstGeom>
            <a:noFill/>
            <a:ln cap="flat" cmpd="sng" w="35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8" name="Google Shape;458;p37"/>
            <p:cNvSpPr/>
            <p:nvPr/>
          </p:nvSpPr>
          <p:spPr>
            <a:xfrm>
              <a:off x="311745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7"/>
            <p:cNvSpPr/>
            <p:nvPr/>
          </p:nvSpPr>
          <p:spPr>
            <a:xfrm>
              <a:off x="3725475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7"/>
            <p:cNvSpPr/>
            <p:nvPr/>
          </p:nvSpPr>
          <p:spPr>
            <a:xfrm>
              <a:off x="433350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7"/>
            <p:cNvSpPr/>
            <p:nvPr/>
          </p:nvSpPr>
          <p:spPr>
            <a:xfrm>
              <a:off x="4941525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7"/>
            <p:cNvSpPr/>
            <p:nvPr/>
          </p:nvSpPr>
          <p:spPr>
            <a:xfrm>
              <a:off x="554955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7"/>
            <p:cNvSpPr/>
            <p:nvPr/>
          </p:nvSpPr>
          <p:spPr>
            <a:xfrm>
              <a:off x="311745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7"/>
            <p:cNvSpPr/>
            <p:nvPr/>
          </p:nvSpPr>
          <p:spPr>
            <a:xfrm>
              <a:off x="3725475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7"/>
            <p:cNvSpPr/>
            <p:nvPr/>
          </p:nvSpPr>
          <p:spPr>
            <a:xfrm>
              <a:off x="433350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7"/>
            <p:cNvSpPr/>
            <p:nvPr/>
          </p:nvSpPr>
          <p:spPr>
            <a:xfrm>
              <a:off x="4941525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7"/>
            <p:cNvSpPr/>
            <p:nvPr/>
          </p:nvSpPr>
          <p:spPr>
            <a:xfrm>
              <a:off x="554955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7"/>
            <p:cNvSpPr/>
            <p:nvPr/>
          </p:nvSpPr>
          <p:spPr>
            <a:xfrm>
              <a:off x="3117450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7"/>
            <p:cNvSpPr/>
            <p:nvPr/>
          </p:nvSpPr>
          <p:spPr>
            <a:xfrm>
              <a:off x="3725475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7"/>
            <p:cNvSpPr/>
            <p:nvPr/>
          </p:nvSpPr>
          <p:spPr>
            <a:xfrm>
              <a:off x="4333500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1" name="Google Shape;471;p37"/>
          <p:cNvGrpSpPr/>
          <p:nvPr/>
        </p:nvGrpSpPr>
        <p:grpSpPr>
          <a:xfrm>
            <a:off x="694261" y="3211829"/>
            <a:ext cx="1353340" cy="1376572"/>
            <a:chOff x="2771325" y="459125"/>
            <a:chExt cx="3623400" cy="3685600"/>
          </a:xfrm>
        </p:grpSpPr>
        <p:sp>
          <p:nvSpPr>
            <p:cNvPr id="472" name="Google Shape;472;p37"/>
            <p:cNvSpPr/>
            <p:nvPr/>
          </p:nvSpPr>
          <p:spPr>
            <a:xfrm>
              <a:off x="2771325" y="3921225"/>
              <a:ext cx="3623400" cy="223500"/>
            </a:xfrm>
            <a:prstGeom prst="trapezoid">
              <a:avLst>
                <a:gd fmla="val 44417" name="adj"/>
              </a:avLst>
            </a:prstGeom>
            <a:solidFill>
              <a:srgbClr val="FFFFFF"/>
            </a:soli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7"/>
            <p:cNvSpPr/>
            <p:nvPr/>
          </p:nvSpPr>
          <p:spPr>
            <a:xfrm>
              <a:off x="2913300" y="1100250"/>
              <a:ext cx="3317400" cy="2912100"/>
            </a:xfrm>
            <a:prstGeom prst="rect">
              <a:avLst/>
            </a:prstGeom>
            <a:solidFill>
              <a:srgbClr val="FFFFFF"/>
            </a:soli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7"/>
            <p:cNvSpPr/>
            <p:nvPr/>
          </p:nvSpPr>
          <p:spPr>
            <a:xfrm>
              <a:off x="3802650" y="488075"/>
              <a:ext cx="1538700" cy="612300"/>
            </a:xfrm>
            <a:prstGeom prst="rect">
              <a:avLst/>
            </a:prstGeom>
            <a:solidFill>
              <a:srgbClr val="FFFFFF"/>
            </a:soli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7"/>
            <p:cNvSpPr/>
            <p:nvPr/>
          </p:nvSpPr>
          <p:spPr>
            <a:xfrm>
              <a:off x="4236900" y="459125"/>
              <a:ext cx="670200" cy="670200"/>
            </a:xfrm>
            <a:prstGeom prst="mathPlus">
              <a:avLst>
                <a:gd fmla="val 23520" name="adj1"/>
              </a:avLst>
            </a:prstGeom>
            <a:solidFill>
              <a:srgbClr val="EA9999"/>
            </a:solidFill>
            <a:ln cap="flat" cmpd="sng" w="35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7"/>
            <p:cNvSpPr/>
            <p:nvPr/>
          </p:nvSpPr>
          <p:spPr>
            <a:xfrm>
              <a:off x="4941525" y="2994750"/>
              <a:ext cx="1085100" cy="10176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77" name="Google Shape;477;p37"/>
            <p:cNvCxnSpPr>
              <a:stCxn id="476" idx="0"/>
              <a:endCxn id="476" idx="2"/>
            </p:cNvCxnSpPr>
            <p:nvPr/>
          </p:nvCxnSpPr>
          <p:spPr>
            <a:xfrm>
              <a:off x="5484075" y="2994750"/>
              <a:ext cx="0" cy="1017600"/>
            </a:xfrm>
            <a:prstGeom prst="straightConnector1">
              <a:avLst/>
            </a:prstGeom>
            <a:noFill/>
            <a:ln cap="flat" cmpd="sng" w="35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8" name="Google Shape;478;p37"/>
            <p:cNvSpPr/>
            <p:nvPr/>
          </p:nvSpPr>
          <p:spPr>
            <a:xfrm>
              <a:off x="311745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7"/>
            <p:cNvSpPr/>
            <p:nvPr/>
          </p:nvSpPr>
          <p:spPr>
            <a:xfrm>
              <a:off x="3725475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7"/>
            <p:cNvSpPr/>
            <p:nvPr/>
          </p:nvSpPr>
          <p:spPr>
            <a:xfrm>
              <a:off x="433350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7"/>
            <p:cNvSpPr/>
            <p:nvPr/>
          </p:nvSpPr>
          <p:spPr>
            <a:xfrm>
              <a:off x="4941525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7"/>
            <p:cNvSpPr/>
            <p:nvPr/>
          </p:nvSpPr>
          <p:spPr>
            <a:xfrm>
              <a:off x="554955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7"/>
            <p:cNvSpPr/>
            <p:nvPr/>
          </p:nvSpPr>
          <p:spPr>
            <a:xfrm>
              <a:off x="311745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7"/>
            <p:cNvSpPr/>
            <p:nvPr/>
          </p:nvSpPr>
          <p:spPr>
            <a:xfrm>
              <a:off x="3725475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7"/>
            <p:cNvSpPr/>
            <p:nvPr/>
          </p:nvSpPr>
          <p:spPr>
            <a:xfrm>
              <a:off x="433350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7"/>
            <p:cNvSpPr/>
            <p:nvPr/>
          </p:nvSpPr>
          <p:spPr>
            <a:xfrm>
              <a:off x="4941525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554955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3117450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3725475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4333500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1" name="Google Shape;491;p37"/>
          <p:cNvGrpSpPr/>
          <p:nvPr/>
        </p:nvGrpSpPr>
        <p:grpSpPr>
          <a:xfrm>
            <a:off x="2446962" y="1596762"/>
            <a:ext cx="330968" cy="668844"/>
            <a:chOff x="979050" y="682850"/>
            <a:chExt cx="519900" cy="1050650"/>
          </a:xfrm>
        </p:grpSpPr>
        <p:sp>
          <p:nvSpPr>
            <p:cNvPr id="492" name="Google Shape;492;p37"/>
            <p:cNvSpPr/>
            <p:nvPr/>
          </p:nvSpPr>
          <p:spPr>
            <a:xfrm>
              <a:off x="1112725" y="682850"/>
              <a:ext cx="247800" cy="247800"/>
            </a:xfrm>
            <a:prstGeom prst="ellipse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7"/>
            <p:cNvSpPr/>
            <p:nvPr/>
          </p:nvSpPr>
          <p:spPr>
            <a:xfrm>
              <a:off x="979050" y="930650"/>
              <a:ext cx="519900" cy="419400"/>
            </a:xfrm>
            <a:prstGeom prst="round2SameRect">
              <a:avLst>
                <a:gd fmla="val 27945" name="adj1"/>
                <a:gd fmla="val 0" name="adj2"/>
              </a:avLst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7"/>
            <p:cNvSpPr/>
            <p:nvPr/>
          </p:nvSpPr>
          <p:spPr>
            <a:xfrm>
              <a:off x="11016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7"/>
            <p:cNvSpPr/>
            <p:nvPr/>
          </p:nvSpPr>
          <p:spPr>
            <a:xfrm>
              <a:off x="12715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7"/>
            <p:cNvSpPr/>
            <p:nvPr/>
          </p:nvSpPr>
          <p:spPr>
            <a:xfrm>
              <a:off x="1101600" y="1059300"/>
              <a:ext cx="285300" cy="3585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7"/>
            <p:cNvSpPr/>
            <p:nvPr/>
          </p:nvSpPr>
          <p:spPr>
            <a:xfrm>
              <a:off x="1107125" y="1032900"/>
              <a:ext cx="274200" cy="378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1107125" y="1390900"/>
              <a:ext cx="1044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1276425" y="1390900"/>
              <a:ext cx="1050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0" name="Google Shape;500;p37"/>
          <p:cNvGrpSpPr/>
          <p:nvPr/>
        </p:nvGrpSpPr>
        <p:grpSpPr>
          <a:xfrm>
            <a:off x="2446962" y="2418850"/>
            <a:ext cx="330968" cy="668844"/>
            <a:chOff x="979050" y="682850"/>
            <a:chExt cx="519900" cy="1050650"/>
          </a:xfrm>
        </p:grpSpPr>
        <p:sp>
          <p:nvSpPr>
            <p:cNvPr id="501" name="Google Shape;501;p37"/>
            <p:cNvSpPr/>
            <p:nvPr/>
          </p:nvSpPr>
          <p:spPr>
            <a:xfrm>
              <a:off x="1112725" y="682850"/>
              <a:ext cx="247800" cy="247800"/>
            </a:xfrm>
            <a:prstGeom prst="ellipse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7"/>
            <p:cNvSpPr/>
            <p:nvPr/>
          </p:nvSpPr>
          <p:spPr>
            <a:xfrm>
              <a:off x="979050" y="930650"/>
              <a:ext cx="519900" cy="419400"/>
            </a:xfrm>
            <a:prstGeom prst="round2SameRect">
              <a:avLst>
                <a:gd fmla="val 27945" name="adj1"/>
                <a:gd fmla="val 0" name="adj2"/>
              </a:avLst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7"/>
            <p:cNvSpPr/>
            <p:nvPr/>
          </p:nvSpPr>
          <p:spPr>
            <a:xfrm>
              <a:off x="11016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7"/>
            <p:cNvSpPr/>
            <p:nvPr/>
          </p:nvSpPr>
          <p:spPr>
            <a:xfrm>
              <a:off x="12715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7"/>
            <p:cNvSpPr/>
            <p:nvPr/>
          </p:nvSpPr>
          <p:spPr>
            <a:xfrm>
              <a:off x="1101600" y="1059300"/>
              <a:ext cx="285300" cy="3585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7"/>
            <p:cNvSpPr/>
            <p:nvPr/>
          </p:nvSpPr>
          <p:spPr>
            <a:xfrm>
              <a:off x="1107125" y="1032900"/>
              <a:ext cx="274200" cy="378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7"/>
            <p:cNvSpPr/>
            <p:nvPr/>
          </p:nvSpPr>
          <p:spPr>
            <a:xfrm>
              <a:off x="1107125" y="1390900"/>
              <a:ext cx="1044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7"/>
            <p:cNvSpPr/>
            <p:nvPr/>
          </p:nvSpPr>
          <p:spPr>
            <a:xfrm>
              <a:off x="1276425" y="1390900"/>
              <a:ext cx="1050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9" name="Google Shape;509;p37"/>
          <p:cNvGrpSpPr/>
          <p:nvPr/>
        </p:nvGrpSpPr>
        <p:grpSpPr>
          <a:xfrm>
            <a:off x="2446962" y="3661330"/>
            <a:ext cx="330968" cy="668844"/>
            <a:chOff x="979050" y="682850"/>
            <a:chExt cx="519900" cy="1050650"/>
          </a:xfrm>
        </p:grpSpPr>
        <p:sp>
          <p:nvSpPr>
            <p:cNvPr id="510" name="Google Shape;510;p37"/>
            <p:cNvSpPr/>
            <p:nvPr/>
          </p:nvSpPr>
          <p:spPr>
            <a:xfrm>
              <a:off x="1112725" y="682850"/>
              <a:ext cx="247800" cy="247800"/>
            </a:xfrm>
            <a:prstGeom prst="ellipse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7"/>
            <p:cNvSpPr/>
            <p:nvPr/>
          </p:nvSpPr>
          <p:spPr>
            <a:xfrm>
              <a:off x="979050" y="930650"/>
              <a:ext cx="519900" cy="419400"/>
            </a:xfrm>
            <a:prstGeom prst="round2SameRect">
              <a:avLst>
                <a:gd fmla="val 27945" name="adj1"/>
                <a:gd fmla="val 0" name="adj2"/>
              </a:avLst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7"/>
            <p:cNvSpPr/>
            <p:nvPr/>
          </p:nvSpPr>
          <p:spPr>
            <a:xfrm>
              <a:off x="11016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7"/>
            <p:cNvSpPr/>
            <p:nvPr/>
          </p:nvSpPr>
          <p:spPr>
            <a:xfrm>
              <a:off x="12715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7"/>
            <p:cNvSpPr/>
            <p:nvPr/>
          </p:nvSpPr>
          <p:spPr>
            <a:xfrm>
              <a:off x="1101600" y="1059300"/>
              <a:ext cx="285300" cy="3585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7"/>
            <p:cNvSpPr/>
            <p:nvPr/>
          </p:nvSpPr>
          <p:spPr>
            <a:xfrm>
              <a:off x="1107125" y="1032900"/>
              <a:ext cx="274200" cy="378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7"/>
            <p:cNvSpPr/>
            <p:nvPr/>
          </p:nvSpPr>
          <p:spPr>
            <a:xfrm>
              <a:off x="1107125" y="1390900"/>
              <a:ext cx="1044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7"/>
            <p:cNvSpPr/>
            <p:nvPr/>
          </p:nvSpPr>
          <p:spPr>
            <a:xfrm>
              <a:off x="1276425" y="1390900"/>
              <a:ext cx="1050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8" name="Google Shape;518;p37"/>
          <p:cNvSpPr txBox="1"/>
          <p:nvPr/>
        </p:nvSpPr>
        <p:spPr>
          <a:xfrm>
            <a:off x="3177275" y="1469484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1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1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519" name="Google Shape;519;p37"/>
          <p:cNvSpPr txBox="1"/>
          <p:nvPr/>
        </p:nvSpPr>
        <p:spPr>
          <a:xfrm>
            <a:off x="3177275" y="1931184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2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2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520" name="Google Shape;520;p37"/>
          <p:cNvSpPr txBox="1"/>
          <p:nvPr/>
        </p:nvSpPr>
        <p:spPr>
          <a:xfrm>
            <a:off x="3177275" y="2522421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3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3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521" name="Google Shape;521;p37"/>
          <p:cNvSpPr txBox="1"/>
          <p:nvPr/>
        </p:nvSpPr>
        <p:spPr>
          <a:xfrm>
            <a:off x="3177275" y="3534051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4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4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522" name="Google Shape;522;p37"/>
          <p:cNvSpPr txBox="1"/>
          <p:nvPr/>
        </p:nvSpPr>
        <p:spPr>
          <a:xfrm>
            <a:off x="3177275" y="3995751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5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5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523" name="Google Shape;523;p37"/>
          <p:cNvSpPr/>
          <p:nvPr/>
        </p:nvSpPr>
        <p:spPr>
          <a:xfrm>
            <a:off x="2353088" y="1511784"/>
            <a:ext cx="518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24" name="Google Shape;524;p37"/>
          <p:cNvSpPr/>
          <p:nvPr/>
        </p:nvSpPr>
        <p:spPr>
          <a:xfrm>
            <a:off x="2353075" y="2333859"/>
            <a:ext cx="518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25" name="Google Shape;525;p37"/>
          <p:cNvSpPr/>
          <p:nvPr/>
        </p:nvSpPr>
        <p:spPr>
          <a:xfrm>
            <a:off x="2353088" y="3576338"/>
            <a:ext cx="518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526" name="Google Shape;526;p37"/>
          <p:cNvCxnSpPr>
            <a:stCxn id="453" idx="3"/>
            <a:endCxn id="523" idx="1"/>
          </p:cNvCxnSpPr>
          <p:nvPr/>
        </p:nvCxnSpPr>
        <p:spPr>
          <a:xfrm flipH="1" rot="10800000">
            <a:off x="1986338" y="1931248"/>
            <a:ext cx="366600" cy="41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37"/>
          <p:cNvCxnSpPr>
            <a:stCxn id="453" idx="3"/>
            <a:endCxn id="524" idx="1"/>
          </p:cNvCxnSpPr>
          <p:nvPr/>
        </p:nvCxnSpPr>
        <p:spPr>
          <a:xfrm>
            <a:off x="1986338" y="2350948"/>
            <a:ext cx="3666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37"/>
          <p:cNvCxnSpPr>
            <a:stCxn id="473" idx="3"/>
            <a:endCxn id="525" idx="1"/>
          </p:cNvCxnSpPr>
          <p:nvPr/>
        </p:nvCxnSpPr>
        <p:spPr>
          <a:xfrm>
            <a:off x="1986338" y="3995123"/>
            <a:ext cx="3666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37"/>
          <p:cNvCxnSpPr>
            <a:stCxn id="523" idx="3"/>
            <a:endCxn id="518" idx="1"/>
          </p:cNvCxnSpPr>
          <p:nvPr/>
        </p:nvCxnSpPr>
        <p:spPr>
          <a:xfrm flipH="1" rot="10800000">
            <a:off x="2871788" y="1700484"/>
            <a:ext cx="305400" cy="23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37"/>
          <p:cNvCxnSpPr>
            <a:stCxn id="523" idx="3"/>
            <a:endCxn id="519" idx="1"/>
          </p:cNvCxnSpPr>
          <p:nvPr/>
        </p:nvCxnSpPr>
        <p:spPr>
          <a:xfrm>
            <a:off x="2871788" y="1931184"/>
            <a:ext cx="305400" cy="23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37"/>
          <p:cNvCxnSpPr>
            <a:stCxn id="524" idx="3"/>
            <a:endCxn id="520" idx="1"/>
          </p:cNvCxnSpPr>
          <p:nvPr/>
        </p:nvCxnSpPr>
        <p:spPr>
          <a:xfrm>
            <a:off x="2871775" y="2753259"/>
            <a:ext cx="30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37"/>
          <p:cNvCxnSpPr>
            <a:stCxn id="525" idx="3"/>
            <a:endCxn id="521" idx="1"/>
          </p:cNvCxnSpPr>
          <p:nvPr/>
        </p:nvCxnSpPr>
        <p:spPr>
          <a:xfrm flipH="1" rot="10800000">
            <a:off x="2871788" y="3765038"/>
            <a:ext cx="305400" cy="23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37"/>
          <p:cNvCxnSpPr>
            <a:stCxn id="525" idx="3"/>
            <a:endCxn id="522" idx="1"/>
          </p:cNvCxnSpPr>
          <p:nvPr/>
        </p:nvCxnSpPr>
        <p:spPr>
          <a:xfrm>
            <a:off x="2871788" y="3995738"/>
            <a:ext cx="305400" cy="23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4" name="Google Shape;534;p37"/>
          <p:cNvSpPr txBox="1"/>
          <p:nvPr/>
        </p:nvSpPr>
        <p:spPr>
          <a:xfrm>
            <a:off x="6734825" y="1050075"/>
            <a:ext cx="13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By Sample?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5" name="Google Shape;535;p37"/>
          <p:cNvSpPr/>
          <p:nvPr/>
        </p:nvSpPr>
        <p:spPr>
          <a:xfrm>
            <a:off x="6980525" y="2543400"/>
            <a:ext cx="861900" cy="4197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6" name="Google Shape;536;p37"/>
          <p:cNvSpPr/>
          <p:nvPr/>
        </p:nvSpPr>
        <p:spPr>
          <a:xfrm>
            <a:off x="6980525" y="2006888"/>
            <a:ext cx="861900" cy="419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7" name="Google Shape;537;p37"/>
          <p:cNvSpPr/>
          <p:nvPr/>
        </p:nvSpPr>
        <p:spPr>
          <a:xfrm>
            <a:off x="6980525" y="1516275"/>
            <a:ext cx="861900" cy="419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8" name="Google Shape;538;p37"/>
          <p:cNvSpPr/>
          <p:nvPr/>
        </p:nvSpPr>
        <p:spPr>
          <a:xfrm>
            <a:off x="6980525" y="4095850"/>
            <a:ext cx="861900" cy="419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9" name="Google Shape;539;p37"/>
          <p:cNvSpPr/>
          <p:nvPr/>
        </p:nvSpPr>
        <p:spPr>
          <a:xfrm>
            <a:off x="6980525" y="3605238"/>
            <a:ext cx="861900" cy="419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Use-case Implies Target Generalizability Unit</a:t>
            </a:r>
            <a:endParaRPr/>
          </a:p>
        </p:txBody>
      </p:sp>
      <p:grpSp>
        <p:nvGrpSpPr>
          <p:cNvPr id="545" name="Google Shape;545;p38"/>
          <p:cNvGrpSpPr/>
          <p:nvPr/>
        </p:nvGrpSpPr>
        <p:grpSpPr>
          <a:xfrm>
            <a:off x="694261" y="1567654"/>
            <a:ext cx="1353340" cy="1376572"/>
            <a:chOff x="2771325" y="459125"/>
            <a:chExt cx="3623400" cy="3685600"/>
          </a:xfrm>
        </p:grpSpPr>
        <p:sp>
          <p:nvSpPr>
            <p:cNvPr id="546" name="Google Shape;546;p38"/>
            <p:cNvSpPr/>
            <p:nvPr/>
          </p:nvSpPr>
          <p:spPr>
            <a:xfrm>
              <a:off x="2771325" y="3921225"/>
              <a:ext cx="3623400" cy="223500"/>
            </a:xfrm>
            <a:prstGeom prst="trapezoid">
              <a:avLst>
                <a:gd fmla="val 44417" name="adj"/>
              </a:avLst>
            </a:prstGeom>
            <a:solidFill>
              <a:srgbClr val="FFFFFF"/>
            </a:soli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8"/>
            <p:cNvSpPr/>
            <p:nvPr/>
          </p:nvSpPr>
          <p:spPr>
            <a:xfrm>
              <a:off x="2913300" y="1100250"/>
              <a:ext cx="3317400" cy="2912100"/>
            </a:xfrm>
            <a:prstGeom prst="rect">
              <a:avLst/>
            </a:prstGeom>
            <a:solidFill>
              <a:srgbClr val="FFFFFF"/>
            </a:soli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8"/>
            <p:cNvSpPr/>
            <p:nvPr/>
          </p:nvSpPr>
          <p:spPr>
            <a:xfrm>
              <a:off x="3802650" y="488075"/>
              <a:ext cx="1538700" cy="612300"/>
            </a:xfrm>
            <a:prstGeom prst="rect">
              <a:avLst/>
            </a:prstGeom>
            <a:solidFill>
              <a:srgbClr val="FFFFFF"/>
            </a:soli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8"/>
            <p:cNvSpPr/>
            <p:nvPr/>
          </p:nvSpPr>
          <p:spPr>
            <a:xfrm>
              <a:off x="4236900" y="459125"/>
              <a:ext cx="670200" cy="670200"/>
            </a:xfrm>
            <a:prstGeom prst="mathPlus">
              <a:avLst>
                <a:gd fmla="val 23520" name="adj1"/>
              </a:avLst>
            </a:prstGeom>
            <a:solidFill>
              <a:srgbClr val="EA9999"/>
            </a:solidFill>
            <a:ln cap="flat" cmpd="sng" w="35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8"/>
            <p:cNvSpPr/>
            <p:nvPr/>
          </p:nvSpPr>
          <p:spPr>
            <a:xfrm>
              <a:off x="4941525" y="2994750"/>
              <a:ext cx="1085100" cy="10176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51" name="Google Shape;551;p38"/>
            <p:cNvCxnSpPr>
              <a:stCxn id="550" idx="0"/>
              <a:endCxn id="550" idx="2"/>
            </p:cNvCxnSpPr>
            <p:nvPr/>
          </p:nvCxnSpPr>
          <p:spPr>
            <a:xfrm>
              <a:off x="5484075" y="2994750"/>
              <a:ext cx="0" cy="1017600"/>
            </a:xfrm>
            <a:prstGeom prst="straightConnector1">
              <a:avLst/>
            </a:prstGeom>
            <a:noFill/>
            <a:ln cap="flat" cmpd="sng" w="35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2" name="Google Shape;552;p38"/>
            <p:cNvSpPr/>
            <p:nvPr/>
          </p:nvSpPr>
          <p:spPr>
            <a:xfrm>
              <a:off x="311745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8"/>
            <p:cNvSpPr/>
            <p:nvPr/>
          </p:nvSpPr>
          <p:spPr>
            <a:xfrm>
              <a:off x="3725475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8"/>
            <p:cNvSpPr/>
            <p:nvPr/>
          </p:nvSpPr>
          <p:spPr>
            <a:xfrm>
              <a:off x="433350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8"/>
            <p:cNvSpPr/>
            <p:nvPr/>
          </p:nvSpPr>
          <p:spPr>
            <a:xfrm>
              <a:off x="4941525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8"/>
            <p:cNvSpPr/>
            <p:nvPr/>
          </p:nvSpPr>
          <p:spPr>
            <a:xfrm>
              <a:off x="554955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8"/>
            <p:cNvSpPr/>
            <p:nvPr/>
          </p:nvSpPr>
          <p:spPr>
            <a:xfrm>
              <a:off x="311745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8"/>
            <p:cNvSpPr/>
            <p:nvPr/>
          </p:nvSpPr>
          <p:spPr>
            <a:xfrm>
              <a:off x="3725475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8"/>
            <p:cNvSpPr/>
            <p:nvPr/>
          </p:nvSpPr>
          <p:spPr>
            <a:xfrm>
              <a:off x="433350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8"/>
            <p:cNvSpPr/>
            <p:nvPr/>
          </p:nvSpPr>
          <p:spPr>
            <a:xfrm>
              <a:off x="4941525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8"/>
            <p:cNvSpPr/>
            <p:nvPr/>
          </p:nvSpPr>
          <p:spPr>
            <a:xfrm>
              <a:off x="554955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8"/>
            <p:cNvSpPr/>
            <p:nvPr/>
          </p:nvSpPr>
          <p:spPr>
            <a:xfrm>
              <a:off x="3117450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8"/>
            <p:cNvSpPr/>
            <p:nvPr/>
          </p:nvSpPr>
          <p:spPr>
            <a:xfrm>
              <a:off x="3725475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8"/>
            <p:cNvSpPr/>
            <p:nvPr/>
          </p:nvSpPr>
          <p:spPr>
            <a:xfrm>
              <a:off x="4333500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5" name="Google Shape;565;p38"/>
          <p:cNvGrpSpPr/>
          <p:nvPr/>
        </p:nvGrpSpPr>
        <p:grpSpPr>
          <a:xfrm>
            <a:off x="694261" y="3211829"/>
            <a:ext cx="1353340" cy="1376572"/>
            <a:chOff x="2771325" y="459125"/>
            <a:chExt cx="3623400" cy="3685600"/>
          </a:xfrm>
        </p:grpSpPr>
        <p:sp>
          <p:nvSpPr>
            <p:cNvPr id="566" name="Google Shape;566;p38"/>
            <p:cNvSpPr/>
            <p:nvPr/>
          </p:nvSpPr>
          <p:spPr>
            <a:xfrm>
              <a:off x="2771325" y="3921225"/>
              <a:ext cx="3623400" cy="223500"/>
            </a:xfrm>
            <a:prstGeom prst="trapezoid">
              <a:avLst>
                <a:gd fmla="val 44417" name="adj"/>
              </a:avLst>
            </a:prstGeom>
            <a:solidFill>
              <a:srgbClr val="FFFFFF"/>
            </a:soli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8"/>
            <p:cNvSpPr/>
            <p:nvPr/>
          </p:nvSpPr>
          <p:spPr>
            <a:xfrm>
              <a:off x="2913300" y="1100250"/>
              <a:ext cx="3317400" cy="2912100"/>
            </a:xfrm>
            <a:prstGeom prst="rect">
              <a:avLst/>
            </a:prstGeom>
            <a:solidFill>
              <a:srgbClr val="FFFFFF"/>
            </a:soli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8"/>
            <p:cNvSpPr/>
            <p:nvPr/>
          </p:nvSpPr>
          <p:spPr>
            <a:xfrm>
              <a:off x="3802650" y="488075"/>
              <a:ext cx="1538700" cy="612300"/>
            </a:xfrm>
            <a:prstGeom prst="rect">
              <a:avLst/>
            </a:prstGeom>
            <a:solidFill>
              <a:srgbClr val="FFFFFF"/>
            </a:soli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8"/>
            <p:cNvSpPr/>
            <p:nvPr/>
          </p:nvSpPr>
          <p:spPr>
            <a:xfrm>
              <a:off x="4236900" y="459125"/>
              <a:ext cx="670200" cy="670200"/>
            </a:xfrm>
            <a:prstGeom prst="mathPlus">
              <a:avLst>
                <a:gd fmla="val 23520" name="adj1"/>
              </a:avLst>
            </a:prstGeom>
            <a:solidFill>
              <a:srgbClr val="EA9999"/>
            </a:solidFill>
            <a:ln cap="flat" cmpd="sng" w="35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8"/>
            <p:cNvSpPr/>
            <p:nvPr/>
          </p:nvSpPr>
          <p:spPr>
            <a:xfrm>
              <a:off x="4941525" y="2994750"/>
              <a:ext cx="1085100" cy="10176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71" name="Google Shape;571;p38"/>
            <p:cNvCxnSpPr>
              <a:stCxn id="570" idx="0"/>
              <a:endCxn id="570" idx="2"/>
            </p:cNvCxnSpPr>
            <p:nvPr/>
          </p:nvCxnSpPr>
          <p:spPr>
            <a:xfrm>
              <a:off x="5484075" y="2994750"/>
              <a:ext cx="0" cy="1017600"/>
            </a:xfrm>
            <a:prstGeom prst="straightConnector1">
              <a:avLst/>
            </a:prstGeom>
            <a:noFill/>
            <a:ln cap="flat" cmpd="sng" w="35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72" name="Google Shape;572;p38"/>
            <p:cNvSpPr/>
            <p:nvPr/>
          </p:nvSpPr>
          <p:spPr>
            <a:xfrm>
              <a:off x="311745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8"/>
            <p:cNvSpPr/>
            <p:nvPr/>
          </p:nvSpPr>
          <p:spPr>
            <a:xfrm>
              <a:off x="3725475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8"/>
            <p:cNvSpPr/>
            <p:nvPr/>
          </p:nvSpPr>
          <p:spPr>
            <a:xfrm>
              <a:off x="433350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8"/>
            <p:cNvSpPr/>
            <p:nvPr/>
          </p:nvSpPr>
          <p:spPr>
            <a:xfrm>
              <a:off x="4941525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8"/>
            <p:cNvSpPr/>
            <p:nvPr/>
          </p:nvSpPr>
          <p:spPr>
            <a:xfrm>
              <a:off x="554955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8"/>
            <p:cNvSpPr/>
            <p:nvPr/>
          </p:nvSpPr>
          <p:spPr>
            <a:xfrm>
              <a:off x="311745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8"/>
            <p:cNvSpPr/>
            <p:nvPr/>
          </p:nvSpPr>
          <p:spPr>
            <a:xfrm>
              <a:off x="3725475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8"/>
            <p:cNvSpPr/>
            <p:nvPr/>
          </p:nvSpPr>
          <p:spPr>
            <a:xfrm>
              <a:off x="433350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8"/>
            <p:cNvSpPr/>
            <p:nvPr/>
          </p:nvSpPr>
          <p:spPr>
            <a:xfrm>
              <a:off x="4941525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8"/>
            <p:cNvSpPr/>
            <p:nvPr/>
          </p:nvSpPr>
          <p:spPr>
            <a:xfrm>
              <a:off x="554955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8"/>
            <p:cNvSpPr/>
            <p:nvPr/>
          </p:nvSpPr>
          <p:spPr>
            <a:xfrm>
              <a:off x="3117450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8"/>
            <p:cNvSpPr/>
            <p:nvPr/>
          </p:nvSpPr>
          <p:spPr>
            <a:xfrm>
              <a:off x="3725475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8"/>
            <p:cNvSpPr/>
            <p:nvPr/>
          </p:nvSpPr>
          <p:spPr>
            <a:xfrm>
              <a:off x="4333500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5" name="Google Shape;585;p38"/>
          <p:cNvGrpSpPr/>
          <p:nvPr/>
        </p:nvGrpSpPr>
        <p:grpSpPr>
          <a:xfrm>
            <a:off x="2446962" y="1596762"/>
            <a:ext cx="330968" cy="668844"/>
            <a:chOff x="979050" y="682850"/>
            <a:chExt cx="519900" cy="1050650"/>
          </a:xfrm>
        </p:grpSpPr>
        <p:sp>
          <p:nvSpPr>
            <p:cNvPr id="586" name="Google Shape;586;p38"/>
            <p:cNvSpPr/>
            <p:nvPr/>
          </p:nvSpPr>
          <p:spPr>
            <a:xfrm>
              <a:off x="1112725" y="682850"/>
              <a:ext cx="247800" cy="247800"/>
            </a:xfrm>
            <a:prstGeom prst="ellipse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8"/>
            <p:cNvSpPr/>
            <p:nvPr/>
          </p:nvSpPr>
          <p:spPr>
            <a:xfrm>
              <a:off x="979050" y="930650"/>
              <a:ext cx="519900" cy="419400"/>
            </a:xfrm>
            <a:prstGeom prst="round2SameRect">
              <a:avLst>
                <a:gd fmla="val 27945" name="adj1"/>
                <a:gd fmla="val 0" name="adj2"/>
              </a:avLst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8"/>
            <p:cNvSpPr/>
            <p:nvPr/>
          </p:nvSpPr>
          <p:spPr>
            <a:xfrm>
              <a:off x="11016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8"/>
            <p:cNvSpPr/>
            <p:nvPr/>
          </p:nvSpPr>
          <p:spPr>
            <a:xfrm>
              <a:off x="12715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8"/>
            <p:cNvSpPr/>
            <p:nvPr/>
          </p:nvSpPr>
          <p:spPr>
            <a:xfrm>
              <a:off x="1101600" y="1059300"/>
              <a:ext cx="285300" cy="3585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8"/>
            <p:cNvSpPr/>
            <p:nvPr/>
          </p:nvSpPr>
          <p:spPr>
            <a:xfrm>
              <a:off x="1107125" y="1032900"/>
              <a:ext cx="274200" cy="378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8"/>
            <p:cNvSpPr/>
            <p:nvPr/>
          </p:nvSpPr>
          <p:spPr>
            <a:xfrm>
              <a:off x="1107125" y="1390900"/>
              <a:ext cx="1044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8"/>
            <p:cNvSpPr/>
            <p:nvPr/>
          </p:nvSpPr>
          <p:spPr>
            <a:xfrm>
              <a:off x="1276425" y="1390900"/>
              <a:ext cx="1050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4" name="Google Shape;594;p38"/>
          <p:cNvGrpSpPr/>
          <p:nvPr/>
        </p:nvGrpSpPr>
        <p:grpSpPr>
          <a:xfrm>
            <a:off x="2446962" y="2418850"/>
            <a:ext cx="330968" cy="668844"/>
            <a:chOff x="979050" y="682850"/>
            <a:chExt cx="519900" cy="1050650"/>
          </a:xfrm>
        </p:grpSpPr>
        <p:sp>
          <p:nvSpPr>
            <p:cNvPr id="595" name="Google Shape;595;p38"/>
            <p:cNvSpPr/>
            <p:nvPr/>
          </p:nvSpPr>
          <p:spPr>
            <a:xfrm>
              <a:off x="1112725" y="682850"/>
              <a:ext cx="247800" cy="247800"/>
            </a:xfrm>
            <a:prstGeom prst="ellipse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8"/>
            <p:cNvSpPr/>
            <p:nvPr/>
          </p:nvSpPr>
          <p:spPr>
            <a:xfrm>
              <a:off x="979050" y="930650"/>
              <a:ext cx="519900" cy="419400"/>
            </a:xfrm>
            <a:prstGeom prst="round2SameRect">
              <a:avLst>
                <a:gd fmla="val 27945" name="adj1"/>
                <a:gd fmla="val 0" name="adj2"/>
              </a:avLst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8"/>
            <p:cNvSpPr/>
            <p:nvPr/>
          </p:nvSpPr>
          <p:spPr>
            <a:xfrm>
              <a:off x="11016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8"/>
            <p:cNvSpPr/>
            <p:nvPr/>
          </p:nvSpPr>
          <p:spPr>
            <a:xfrm>
              <a:off x="12715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8"/>
            <p:cNvSpPr/>
            <p:nvPr/>
          </p:nvSpPr>
          <p:spPr>
            <a:xfrm>
              <a:off x="1101600" y="1059300"/>
              <a:ext cx="285300" cy="3585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8"/>
            <p:cNvSpPr/>
            <p:nvPr/>
          </p:nvSpPr>
          <p:spPr>
            <a:xfrm>
              <a:off x="1107125" y="1032900"/>
              <a:ext cx="274200" cy="378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8"/>
            <p:cNvSpPr/>
            <p:nvPr/>
          </p:nvSpPr>
          <p:spPr>
            <a:xfrm>
              <a:off x="1107125" y="1390900"/>
              <a:ext cx="1044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8"/>
            <p:cNvSpPr/>
            <p:nvPr/>
          </p:nvSpPr>
          <p:spPr>
            <a:xfrm>
              <a:off x="1276425" y="1390900"/>
              <a:ext cx="1050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3" name="Google Shape;603;p38"/>
          <p:cNvGrpSpPr/>
          <p:nvPr/>
        </p:nvGrpSpPr>
        <p:grpSpPr>
          <a:xfrm>
            <a:off x="2446962" y="3661330"/>
            <a:ext cx="330968" cy="668844"/>
            <a:chOff x="979050" y="682850"/>
            <a:chExt cx="519900" cy="1050650"/>
          </a:xfrm>
        </p:grpSpPr>
        <p:sp>
          <p:nvSpPr>
            <p:cNvPr id="604" name="Google Shape;604;p38"/>
            <p:cNvSpPr/>
            <p:nvPr/>
          </p:nvSpPr>
          <p:spPr>
            <a:xfrm>
              <a:off x="1112725" y="682850"/>
              <a:ext cx="247800" cy="247800"/>
            </a:xfrm>
            <a:prstGeom prst="ellipse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8"/>
            <p:cNvSpPr/>
            <p:nvPr/>
          </p:nvSpPr>
          <p:spPr>
            <a:xfrm>
              <a:off x="979050" y="930650"/>
              <a:ext cx="519900" cy="419400"/>
            </a:xfrm>
            <a:prstGeom prst="round2SameRect">
              <a:avLst>
                <a:gd fmla="val 27945" name="adj1"/>
                <a:gd fmla="val 0" name="adj2"/>
              </a:avLst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8"/>
            <p:cNvSpPr/>
            <p:nvPr/>
          </p:nvSpPr>
          <p:spPr>
            <a:xfrm>
              <a:off x="11016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8"/>
            <p:cNvSpPr/>
            <p:nvPr/>
          </p:nvSpPr>
          <p:spPr>
            <a:xfrm>
              <a:off x="12715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8"/>
            <p:cNvSpPr/>
            <p:nvPr/>
          </p:nvSpPr>
          <p:spPr>
            <a:xfrm>
              <a:off x="1101600" y="1059300"/>
              <a:ext cx="285300" cy="3585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8"/>
            <p:cNvSpPr/>
            <p:nvPr/>
          </p:nvSpPr>
          <p:spPr>
            <a:xfrm>
              <a:off x="1107125" y="1032900"/>
              <a:ext cx="274200" cy="378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8"/>
            <p:cNvSpPr/>
            <p:nvPr/>
          </p:nvSpPr>
          <p:spPr>
            <a:xfrm>
              <a:off x="1107125" y="1390900"/>
              <a:ext cx="1044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8"/>
            <p:cNvSpPr/>
            <p:nvPr/>
          </p:nvSpPr>
          <p:spPr>
            <a:xfrm>
              <a:off x="1276425" y="1390900"/>
              <a:ext cx="1050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2" name="Google Shape;612;p38"/>
          <p:cNvSpPr txBox="1"/>
          <p:nvPr/>
        </p:nvSpPr>
        <p:spPr>
          <a:xfrm>
            <a:off x="3177275" y="1469484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1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1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613" name="Google Shape;613;p38"/>
          <p:cNvSpPr txBox="1"/>
          <p:nvPr/>
        </p:nvSpPr>
        <p:spPr>
          <a:xfrm>
            <a:off x="3177275" y="1931184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2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2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614" name="Google Shape;614;p38"/>
          <p:cNvSpPr txBox="1"/>
          <p:nvPr/>
        </p:nvSpPr>
        <p:spPr>
          <a:xfrm>
            <a:off x="3177275" y="2522421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3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3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615" name="Google Shape;615;p38"/>
          <p:cNvSpPr txBox="1"/>
          <p:nvPr/>
        </p:nvSpPr>
        <p:spPr>
          <a:xfrm>
            <a:off x="3177275" y="3534051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4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4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616" name="Google Shape;616;p38"/>
          <p:cNvSpPr txBox="1"/>
          <p:nvPr/>
        </p:nvSpPr>
        <p:spPr>
          <a:xfrm>
            <a:off x="3177275" y="3995751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5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5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617" name="Google Shape;617;p38"/>
          <p:cNvSpPr/>
          <p:nvPr/>
        </p:nvSpPr>
        <p:spPr>
          <a:xfrm>
            <a:off x="2353088" y="1511784"/>
            <a:ext cx="518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18" name="Google Shape;618;p38"/>
          <p:cNvSpPr/>
          <p:nvPr/>
        </p:nvSpPr>
        <p:spPr>
          <a:xfrm>
            <a:off x="2353075" y="2333859"/>
            <a:ext cx="518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19" name="Google Shape;619;p38"/>
          <p:cNvSpPr/>
          <p:nvPr/>
        </p:nvSpPr>
        <p:spPr>
          <a:xfrm>
            <a:off x="2353088" y="3576338"/>
            <a:ext cx="518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620" name="Google Shape;620;p38"/>
          <p:cNvCxnSpPr>
            <a:stCxn id="547" idx="3"/>
            <a:endCxn id="617" idx="1"/>
          </p:cNvCxnSpPr>
          <p:nvPr/>
        </p:nvCxnSpPr>
        <p:spPr>
          <a:xfrm flipH="1" rot="10800000">
            <a:off x="1986338" y="1931248"/>
            <a:ext cx="366600" cy="41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38"/>
          <p:cNvCxnSpPr>
            <a:stCxn id="547" idx="3"/>
            <a:endCxn id="618" idx="1"/>
          </p:cNvCxnSpPr>
          <p:nvPr/>
        </p:nvCxnSpPr>
        <p:spPr>
          <a:xfrm>
            <a:off x="1986338" y="2350948"/>
            <a:ext cx="3666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38"/>
          <p:cNvCxnSpPr>
            <a:stCxn id="567" idx="3"/>
            <a:endCxn id="619" idx="1"/>
          </p:cNvCxnSpPr>
          <p:nvPr/>
        </p:nvCxnSpPr>
        <p:spPr>
          <a:xfrm>
            <a:off x="1986338" y="3995123"/>
            <a:ext cx="3666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38"/>
          <p:cNvCxnSpPr>
            <a:stCxn id="617" idx="3"/>
            <a:endCxn id="612" idx="1"/>
          </p:cNvCxnSpPr>
          <p:nvPr/>
        </p:nvCxnSpPr>
        <p:spPr>
          <a:xfrm flipH="1" rot="10800000">
            <a:off x="2871788" y="1700484"/>
            <a:ext cx="305400" cy="23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38"/>
          <p:cNvCxnSpPr>
            <a:stCxn id="617" idx="3"/>
            <a:endCxn id="613" idx="1"/>
          </p:cNvCxnSpPr>
          <p:nvPr/>
        </p:nvCxnSpPr>
        <p:spPr>
          <a:xfrm>
            <a:off x="2871788" y="1931184"/>
            <a:ext cx="305400" cy="23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" name="Google Shape;625;p38"/>
          <p:cNvCxnSpPr>
            <a:stCxn id="618" idx="3"/>
            <a:endCxn id="614" idx="1"/>
          </p:cNvCxnSpPr>
          <p:nvPr/>
        </p:nvCxnSpPr>
        <p:spPr>
          <a:xfrm>
            <a:off x="2871775" y="2753259"/>
            <a:ext cx="30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" name="Google Shape;626;p38"/>
          <p:cNvCxnSpPr>
            <a:stCxn id="619" idx="3"/>
            <a:endCxn id="615" idx="1"/>
          </p:cNvCxnSpPr>
          <p:nvPr/>
        </p:nvCxnSpPr>
        <p:spPr>
          <a:xfrm flipH="1" rot="10800000">
            <a:off x="2871788" y="3765038"/>
            <a:ext cx="305400" cy="23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7" name="Google Shape;627;p38"/>
          <p:cNvCxnSpPr>
            <a:stCxn id="619" idx="3"/>
            <a:endCxn id="616" idx="1"/>
          </p:cNvCxnSpPr>
          <p:nvPr/>
        </p:nvCxnSpPr>
        <p:spPr>
          <a:xfrm>
            <a:off x="2871788" y="3995738"/>
            <a:ext cx="305400" cy="23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8" name="Google Shape;628;p38"/>
          <p:cNvSpPr txBox="1"/>
          <p:nvPr/>
        </p:nvSpPr>
        <p:spPr>
          <a:xfrm>
            <a:off x="5317475" y="1050075"/>
            <a:ext cx="13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By Patient?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29" name="Google Shape;629;p38"/>
          <p:cNvSpPr txBox="1"/>
          <p:nvPr/>
        </p:nvSpPr>
        <p:spPr>
          <a:xfrm>
            <a:off x="6734825" y="1050075"/>
            <a:ext cx="13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By Sample?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30" name="Google Shape;630;p38"/>
          <p:cNvSpPr/>
          <p:nvPr/>
        </p:nvSpPr>
        <p:spPr>
          <a:xfrm>
            <a:off x="5563175" y="1544125"/>
            <a:ext cx="861900" cy="874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31" name="Google Shape;631;p38"/>
          <p:cNvSpPr/>
          <p:nvPr/>
        </p:nvSpPr>
        <p:spPr>
          <a:xfrm>
            <a:off x="5563175" y="2548650"/>
            <a:ext cx="861900" cy="4197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32" name="Google Shape;632;p38"/>
          <p:cNvSpPr/>
          <p:nvPr/>
        </p:nvSpPr>
        <p:spPr>
          <a:xfrm>
            <a:off x="6980525" y="2543400"/>
            <a:ext cx="861900" cy="4197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33" name="Google Shape;633;p38"/>
          <p:cNvSpPr/>
          <p:nvPr/>
        </p:nvSpPr>
        <p:spPr>
          <a:xfrm>
            <a:off x="6980525" y="2006888"/>
            <a:ext cx="861900" cy="419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34" name="Google Shape;634;p38"/>
          <p:cNvSpPr/>
          <p:nvPr/>
        </p:nvSpPr>
        <p:spPr>
          <a:xfrm>
            <a:off x="6980525" y="1516275"/>
            <a:ext cx="861900" cy="419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35" name="Google Shape;635;p38"/>
          <p:cNvSpPr/>
          <p:nvPr/>
        </p:nvSpPr>
        <p:spPr>
          <a:xfrm>
            <a:off x="5563175" y="3623000"/>
            <a:ext cx="861900" cy="874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36" name="Google Shape;636;p38"/>
          <p:cNvSpPr/>
          <p:nvPr/>
        </p:nvSpPr>
        <p:spPr>
          <a:xfrm>
            <a:off x="6980525" y="4095850"/>
            <a:ext cx="861900" cy="419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37" name="Google Shape;637;p38"/>
          <p:cNvSpPr/>
          <p:nvPr/>
        </p:nvSpPr>
        <p:spPr>
          <a:xfrm>
            <a:off x="6980525" y="3605238"/>
            <a:ext cx="861900" cy="419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Use-case Implies Target Generalizability Unit</a:t>
            </a:r>
            <a:endParaRPr/>
          </a:p>
        </p:txBody>
      </p:sp>
      <p:grpSp>
        <p:nvGrpSpPr>
          <p:cNvPr id="643" name="Google Shape;643;p39"/>
          <p:cNvGrpSpPr/>
          <p:nvPr/>
        </p:nvGrpSpPr>
        <p:grpSpPr>
          <a:xfrm>
            <a:off x="694261" y="1567654"/>
            <a:ext cx="1353340" cy="1376572"/>
            <a:chOff x="2771325" y="459125"/>
            <a:chExt cx="3623400" cy="3685600"/>
          </a:xfrm>
        </p:grpSpPr>
        <p:sp>
          <p:nvSpPr>
            <p:cNvPr id="644" name="Google Shape;644;p39"/>
            <p:cNvSpPr/>
            <p:nvPr/>
          </p:nvSpPr>
          <p:spPr>
            <a:xfrm>
              <a:off x="2771325" y="3921225"/>
              <a:ext cx="3623400" cy="223500"/>
            </a:xfrm>
            <a:prstGeom prst="trapezoid">
              <a:avLst>
                <a:gd fmla="val 44417" name="adj"/>
              </a:avLst>
            </a:prstGeom>
            <a:solidFill>
              <a:srgbClr val="FFFFFF"/>
            </a:soli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9"/>
            <p:cNvSpPr/>
            <p:nvPr/>
          </p:nvSpPr>
          <p:spPr>
            <a:xfrm>
              <a:off x="2913300" y="1100250"/>
              <a:ext cx="3317400" cy="2912100"/>
            </a:xfrm>
            <a:prstGeom prst="rect">
              <a:avLst/>
            </a:prstGeom>
            <a:solidFill>
              <a:srgbClr val="FFFFFF"/>
            </a:soli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9"/>
            <p:cNvSpPr/>
            <p:nvPr/>
          </p:nvSpPr>
          <p:spPr>
            <a:xfrm>
              <a:off x="3802650" y="488075"/>
              <a:ext cx="1538700" cy="612300"/>
            </a:xfrm>
            <a:prstGeom prst="rect">
              <a:avLst/>
            </a:prstGeom>
            <a:solidFill>
              <a:srgbClr val="FFFFFF"/>
            </a:soli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9"/>
            <p:cNvSpPr/>
            <p:nvPr/>
          </p:nvSpPr>
          <p:spPr>
            <a:xfrm>
              <a:off x="4236900" y="459125"/>
              <a:ext cx="670200" cy="670200"/>
            </a:xfrm>
            <a:prstGeom prst="mathPlus">
              <a:avLst>
                <a:gd fmla="val 23520" name="adj1"/>
              </a:avLst>
            </a:prstGeom>
            <a:solidFill>
              <a:srgbClr val="EA9999"/>
            </a:solidFill>
            <a:ln cap="flat" cmpd="sng" w="35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9"/>
            <p:cNvSpPr/>
            <p:nvPr/>
          </p:nvSpPr>
          <p:spPr>
            <a:xfrm>
              <a:off x="4941525" y="2994750"/>
              <a:ext cx="1085100" cy="10176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49" name="Google Shape;649;p39"/>
            <p:cNvCxnSpPr>
              <a:stCxn id="648" idx="0"/>
              <a:endCxn id="648" idx="2"/>
            </p:cNvCxnSpPr>
            <p:nvPr/>
          </p:nvCxnSpPr>
          <p:spPr>
            <a:xfrm>
              <a:off x="5484075" y="2994750"/>
              <a:ext cx="0" cy="1017600"/>
            </a:xfrm>
            <a:prstGeom prst="straightConnector1">
              <a:avLst/>
            </a:prstGeom>
            <a:noFill/>
            <a:ln cap="flat" cmpd="sng" w="35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50" name="Google Shape;650;p39"/>
            <p:cNvSpPr/>
            <p:nvPr/>
          </p:nvSpPr>
          <p:spPr>
            <a:xfrm>
              <a:off x="311745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9"/>
            <p:cNvSpPr/>
            <p:nvPr/>
          </p:nvSpPr>
          <p:spPr>
            <a:xfrm>
              <a:off x="3725475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9"/>
            <p:cNvSpPr/>
            <p:nvPr/>
          </p:nvSpPr>
          <p:spPr>
            <a:xfrm>
              <a:off x="433350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9"/>
            <p:cNvSpPr/>
            <p:nvPr/>
          </p:nvSpPr>
          <p:spPr>
            <a:xfrm>
              <a:off x="4941525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9"/>
            <p:cNvSpPr/>
            <p:nvPr/>
          </p:nvSpPr>
          <p:spPr>
            <a:xfrm>
              <a:off x="554955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9"/>
            <p:cNvSpPr/>
            <p:nvPr/>
          </p:nvSpPr>
          <p:spPr>
            <a:xfrm>
              <a:off x="311745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9"/>
            <p:cNvSpPr/>
            <p:nvPr/>
          </p:nvSpPr>
          <p:spPr>
            <a:xfrm>
              <a:off x="3725475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9"/>
            <p:cNvSpPr/>
            <p:nvPr/>
          </p:nvSpPr>
          <p:spPr>
            <a:xfrm>
              <a:off x="433350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9"/>
            <p:cNvSpPr/>
            <p:nvPr/>
          </p:nvSpPr>
          <p:spPr>
            <a:xfrm>
              <a:off x="4941525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9"/>
            <p:cNvSpPr/>
            <p:nvPr/>
          </p:nvSpPr>
          <p:spPr>
            <a:xfrm>
              <a:off x="554955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9"/>
            <p:cNvSpPr/>
            <p:nvPr/>
          </p:nvSpPr>
          <p:spPr>
            <a:xfrm>
              <a:off x="3117450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9"/>
            <p:cNvSpPr/>
            <p:nvPr/>
          </p:nvSpPr>
          <p:spPr>
            <a:xfrm>
              <a:off x="3725475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9"/>
            <p:cNvSpPr/>
            <p:nvPr/>
          </p:nvSpPr>
          <p:spPr>
            <a:xfrm>
              <a:off x="4333500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3" name="Google Shape;663;p39"/>
          <p:cNvGrpSpPr/>
          <p:nvPr/>
        </p:nvGrpSpPr>
        <p:grpSpPr>
          <a:xfrm>
            <a:off x="694261" y="3211829"/>
            <a:ext cx="1353340" cy="1376572"/>
            <a:chOff x="2771325" y="459125"/>
            <a:chExt cx="3623400" cy="3685600"/>
          </a:xfrm>
        </p:grpSpPr>
        <p:sp>
          <p:nvSpPr>
            <p:cNvPr id="664" name="Google Shape;664;p39"/>
            <p:cNvSpPr/>
            <p:nvPr/>
          </p:nvSpPr>
          <p:spPr>
            <a:xfrm>
              <a:off x="2771325" y="3921225"/>
              <a:ext cx="3623400" cy="223500"/>
            </a:xfrm>
            <a:prstGeom prst="trapezoid">
              <a:avLst>
                <a:gd fmla="val 44417" name="adj"/>
              </a:avLst>
            </a:prstGeom>
            <a:solidFill>
              <a:srgbClr val="FFFFFF"/>
            </a:soli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9"/>
            <p:cNvSpPr/>
            <p:nvPr/>
          </p:nvSpPr>
          <p:spPr>
            <a:xfrm>
              <a:off x="2913300" y="1100250"/>
              <a:ext cx="3317400" cy="2912100"/>
            </a:xfrm>
            <a:prstGeom prst="rect">
              <a:avLst/>
            </a:prstGeom>
            <a:solidFill>
              <a:srgbClr val="FFFFFF"/>
            </a:soli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9"/>
            <p:cNvSpPr/>
            <p:nvPr/>
          </p:nvSpPr>
          <p:spPr>
            <a:xfrm>
              <a:off x="3802650" y="488075"/>
              <a:ext cx="1538700" cy="612300"/>
            </a:xfrm>
            <a:prstGeom prst="rect">
              <a:avLst/>
            </a:prstGeom>
            <a:solidFill>
              <a:srgbClr val="FFFFFF"/>
            </a:soli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9"/>
            <p:cNvSpPr/>
            <p:nvPr/>
          </p:nvSpPr>
          <p:spPr>
            <a:xfrm>
              <a:off x="4236900" y="459125"/>
              <a:ext cx="670200" cy="670200"/>
            </a:xfrm>
            <a:prstGeom prst="mathPlus">
              <a:avLst>
                <a:gd fmla="val 23520" name="adj1"/>
              </a:avLst>
            </a:prstGeom>
            <a:solidFill>
              <a:srgbClr val="EA9999"/>
            </a:solidFill>
            <a:ln cap="flat" cmpd="sng" w="35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9"/>
            <p:cNvSpPr/>
            <p:nvPr/>
          </p:nvSpPr>
          <p:spPr>
            <a:xfrm>
              <a:off x="4941525" y="2994750"/>
              <a:ext cx="1085100" cy="10176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69" name="Google Shape;669;p39"/>
            <p:cNvCxnSpPr>
              <a:stCxn id="668" idx="0"/>
              <a:endCxn id="668" idx="2"/>
            </p:cNvCxnSpPr>
            <p:nvPr/>
          </p:nvCxnSpPr>
          <p:spPr>
            <a:xfrm>
              <a:off x="5484075" y="2994750"/>
              <a:ext cx="0" cy="1017600"/>
            </a:xfrm>
            <a:prstGeom prst="straightConnector1">
              <a:avLst/>
            </a:prstGeom>
            <a:noFill/>
            <a:ln cap="flat" cmpd="sng" w="35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70" name="Google Shape;670;p39"/>
            <p:cNvSpPr/>
            <p:nvPr/>
          </p:nvSpPr>
          <p:spPr>
            <a:xfrm>
              <a:off x="311745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9"/>
            <p:cNvSpPr/>
            <p:nvPr/>
          </p:nvSpPr>
          <p:spPr>
            <a:xfrm>
              <a:off x="3725475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9"/>
            <p:cNvSpPr/>
            <p:nvPr/>
          </p:nvSpPr>
          <p:spPr>
            <a:xfrm>
              <a:off x="433350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9"/>
            <p:cNvSpPr/>
            <p:nvPr/>
          </p:nvSpPr>
          <p:spPr>
            <a:xfrm>
              <a:off x="4941525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9"/>
            <p:cNvSpPr/>
            <p:nvPr/>
          </p:nvSpPr>
          <p:spPr>
            <a:xfrm>
              <a:off x="554955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9"/>
            <p:cNvSpPr/>
            <p:nvPr/>
          </p:nvSpPr>
          <p:spPr>
            <a:xfrm>
              <a:off x="311745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9"/>
            <p:cNvSpPr/>
            <p:nvPr/>
          </p:nvSpPr>
          <p:spPr>
            <a:xfrm>
              <a:off x="3725475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9"/>
            <p:cNvSpPr/>
            <p:nvPr/>
          </p:nvSpPr>
          <p:spPr>
            <a:xfrm>
              <a:off x="433350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9"/>
            <p:cNvSpPr/>
            <p:nvPr/>
          </p:nvSpPr>
          <p:spPr>
            <a:xfrm>
              <a:off x="4941525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9"/>
            <p:cNvSpPr/>
            <p:nvPr/>
          </p:nvSpPr>
          <p:spPr>
            <a:xfrm>
              <a:off x="554955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9"/>
            <p:cNvSpPr/>
            <p:nvPr/>
          </p:nvSpPr>
          <p:spPr>
            <a:xfrm>
              <a:off x="3117450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9"/>
            <p:cNvSpPr/>
            <p:nvPr/>
          </p:nvSpPr>
          <p:spPr>
            <a:xfrm>
              <a:off x="3725475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9"/>
            <p:cNvSpPr/>
            <p:nvPr/>
          </p:nvSpPr>
          <p:spPr>
            <a:xfrm>
              <a:off x="4333500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3" name="Google Shape;683;p39"/>
          <p:cNvGrpSpPr/>
          <p:nvPr/>
        </p:nvGrpSpPr>
        <p:grpSpPr>
          <a:xfrm>
            <a:off x="2446962" y="1596762"/>
            <a:ext cx="330968" cy="668844"/>
            <a:chOff x="979050" y="682850"/>
            <a:chExt cx="519900" cy="1050650"/>
          </a:xfrm>
        </p:grpSpPr>
        <p:sp>
          <p:nvSpPr>
            <p:cNvPr id="684" name="Google Shape;684;p39"/>
            <p:cNvSpPr/>
            <p:nvPr/>
          </p:nvSpPr>
          <p:spPr>
            <a:xfrm>
              <a:off x="1112725" y="682850"/>
              <a:ext cx="247800" cy="247800"/>
            </a:xfrm>
            <a:prstGeom prst="ellipse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9"/>
            <p:cNvSpPr/>
            <p:nvPr/>
          </p:nvSpPr>
          <p:spPr>
            <a:xfrm>
              <a:off x="979050" y="930650"/>
              <a:ext cx="519900" cy="419400"/>
            </a:xfrm>
            <a:prstGeom prst="round2SameRect">
              <a:avLst>
                <a:gd fmla="val 27945" name="adj1"/>
                <a:gd fmla="val 0" name="adj2"/>
              </a:avLst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9"/>
            <p:cNvSpPr/>
            <p:nvPr/>
          </p:nvSpPr>
          <p:spPr>
            <a:xfrm>
              <a:off x="11016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9"/>
            <p:cNvSpPr/>
            <p:nvPr/>
          </p:nvSpPr>
          <p:spPr>
            <a:xfrm>
              <a:off x="12715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9"/>
            <p:cNvSpPr/>
            <p:nvPr/>
          </p:nvSpPr>
          <p:spPr>
            <a:xfrm>
              <a:off x="1101600" y="1059300"/>
              <a:ext cx="285300" cy="3585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9"/>
            <p:cNvSpPr/>
            <p:nvPr/>
          </p:nvSpPr>
          <p:spPr>
            <a:xfrm>
              <a:off x="1107125" y="1032900"/>
              <a:ext cx="274200" cy="378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9"/>
            <p:cNvSpPr/>
            <p:nvPr/>
          </p:nvSpPr>
          <p:spPr>
            <a:xfrm>
              <a:off x="1107125" y="1390900"/>
              <a:ext cx="1044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39"/>
            <p:cNvSpPr/>
            <p:nvPr/>
          </p:nvSpPr>
          <p:spPr>
            <a:xfrm>
              <a:off x="1276425" y="1390900"/>
              <a:ext cx="1050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2" name="Google Shape;692;p39"/>
          <p:cNvGrpSpPr/>
          <p:nvPr/>
        </p:nvGrpSpPr>
        <p:grpSpPr>
          <a:xfrm>
            <a:off x="2446962" y="2418850"/>
            <a:ext cx="330968" cy="668844"/>
            <a:chOff x="979050" y="682850"/>
            <a:chExt cx="519900" cy="1050650"/>
          </a:xfrm>
        </p:grpSpPr>
        <p:sp>
          <p:nvSpPr>
            <p:cNvPr id="693" name="Google Shape;693;p39"/>
            <p:cNvSpPr/>
            <p:nvPr/>
          </p:nvSpPr>
          <p:spPr>
            <a:xfrm>
              <a:off x="1112725" y="682850"/>
              <a:ext cx="247800" cy="247800"/>
            </a:xfrm>
            <a:prstGeom prst="ellipse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9"/>
            <p:cNvSpPr/>
            <p:nvPr/>
          </p:nvSpPr>
          <p:spPr>
            <a:xfrm>
              <a:off x="979050" y="930650"/>
              <a:ext cx="519900" cy="419400"/>
            </a:xfrm>
            <a:prstGeom prst="round2SameRect">
              <a:avLst>
                <a:gd fmla="val 27945" name="adj1"/>
                <a:gd fmla="val 0" name="adj2"/>
              </a:avLst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9"/>
            <p:cNvSpPr/>
            <p:nvPr/>
          </p:nvSpPr>
          <p:spPr>
            <a:xfrm>
              <a:off x="11016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9"/>
            <p:cNvSpPr/>
            <p:nvPr/>
          </p:nvSpPr>
          <p:spPr>
            <a:xfrm>
              <a:off x="12715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9"/>
            <p:cNvSpPr/>
            <p:nvPr/>
          </p:nvSpPr>
          <p:spPr>
            <a:xfrm>
              <a:off x="1101600" y="1059300"/>
              <a:ext cx="285300" cy="3585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9"/>
            <p:cNvSpPr/>
            <p:nvPr/>
          </p:nvSpPr>
          <p:spPr>
            <a:xfrm>
              <a:off x="1107125" y="1032900"/>
              <a:ext cx="274200" cy="378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9"/>
            <p:cNvSpPr/>
            <p:nvPr/>
          </p:nvSpPr>
          <p:spPr>
            <a:xfrm>
              <a:off x="1107125" y="1390900"/>
              <a:ext cx="1044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9"/>
            <p:cNvSpPr/>
            <p:nvPr/>
          </p:nvSpPr>
          <p:spPr>
            <a:xfrm>
              <a:off x="1276425" y="1390900"/>
              <a:ext cx="1050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1" name="Google Shape;701;p39"/>
          <p:cNvGrpSpPr/>
          <p:nvPr/>
        </p:nvGrpSpPr>
        <p:grpSpPr>
          <a:xfrm>
            <a:off x="2446962" y="3661330"/>
            <a:ext cx="330968" cy="668844"/>
            <a:chOff x="979050" y="682850"/>
            <a:chExt cx="519900" cy="1050650"/>
          </a:xfrm>
        </p:grpSpPr>
        <p:sp>
          <p:nvSpPr>
            <p:cNvPr id="702" name="Google Shape;702;p39"/>
            <p:cNvSpPr/>
            <p:nvPr/>
          </p:nvSpPr>
          <p:spPr>
            <a:xfrm>
              <a:off x="1112725" y="682850"/>
              <a:ext cx="247800" cy="247800"/>
            </a:xfrm>
            <a:prstGeom prst="ellipse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9"/>
            <p:cNvSpPr/>
            <p:nvPr/>
          </p:nvSpPr>
          <p:spPr>
            <a:xfrm>
              <a:off x="979050" y="930650"/>
              <a:ext cx="519900" cy="419400"/>
            </a:xfrm>
            <a:prstGeom prst="round2SameRect">
              <a:avLst>
                <a:gd fmla="val 27945" name="adj1"/>
                <a:gd fmla="val 0" name="adj2"/>
              </a:avLst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9"/>
            <p:cNvSpPr/>
            <p:nvPr/>
          </p:nvSpPr>
          <p:spPr>
            <a:xfrm>
              <a:off x="11016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9"/>
            <p:cNvSpPr/>
            <p:nvPr/>
          </p:nvSpPr>
          <p:spPr>
            <a:xfrm>
              <a:off x="12715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9"/>
            <p:cNvSpPr/>
            <p:nvPr/>
          </p:nvSpPr>
          <p:spPr>
            <a:xfrm>
              <a:off x="1101600" y="1059300"/>
              <a:ext cx="285300" cy="3585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9"/>
            <p:cNvSpPr/>
            <p:nvPr/>
          </p:nvSpPr>
          <p:spPr>
            <a:xfrm>
              <a:off x="1107125" y="1032900"/>
              <a:ext cx="274200" cy="378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9"/>
            <p:cNvSpPr/>
            <p:nvPr/>
          </p:nvSpPr>
          <p:spPr>
            <a:xfrm>
              <a:off x="1107125" y="1390900"/>
              <a:ext cx="1044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9"/>
            <p:cNvSpPr/>
            <p:nvPr/>
          </p:nvSpPr>
          <p:spPr>
            <a:xfrm>
              <a:off x="1276425" y="1390900"/>
              <a:ext cx="1050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0" name="Google Shape;710;p39"/>
          <p:cNvSpPr txBox="1"/>
          <p:nvPr/>
        </p:nvSpPr>
        <p:spPr>
          <a:xfrm>
            <a:off x="3177275" y="1469484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1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1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711" name="Google Shape;711;p39"/>
          <p:cNvSpPr txBox="1"/>
          <p:nvPr/>
        </p:nvSpPr>
        <p:spPr>
          <a:xfrm>
            <a:off x="3177275" y="1931184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2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2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712" name="Google Shape;712;p39"/>
          <p:cNvSpPr txBox="1"/>
          <p:nvPr/>
        </p:nvSpPr>
        <p:spPr>
          <a:xfrm>
            <a:off x="3177275" y="2522421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3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3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713" name="Google Shape;713;p39"/>
          <p:cNvSpPr txBox="1"/>
          <p:nvPr/>
        </p:nvSpPr>
        <p:spPr>
          <a:xfrm>
            <a:off x="3177275" y="3534051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4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4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714" name="Google Shape;714;p39"/>
          <p:cNvSpPr txBox="1"/>
          <p:nvPr/>
        </p:nvSpPr>
        <p:spPr>
          <a:xfrm>
            <a:off x="3177275" y="3995751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5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5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715" name="Google Shape;715;p39"/>
          <p:cNvSpPr/>
          <p:nvPr/>
        </p:nvSpPr>
        <p:spPr>
          <a:xfrm>
            <a:off x="2353088" y="1511784"/>
            <a:ext cx="518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16" name="Google Shape;716;p39"/>
          <p:cNvSpPr/>
          <p:nvPr/>
        </p:nvSpPr>
        <p:spPr>
          <a:xfrm>
            <a:off x="2353075" y="2333859"/>
            <a:ext cx="518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17" name="Google Shape;717;p39"/>
          <p:cNvSpPr/>
          <p:nvPr/>
        </p:nvSpPr>
        <p:spPr>
          <a:xfrm>
            <a:off x="2353088" y="3576338"/>
            <a:ext cx="518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718" name="Google Shape;718;p39"/>
          <p:cNvCxnSpPr>
            <a:stCxn id="645" idx="3"/>
            <a:endCxn id="715" idx="1"/>
          </p:cNvCxnSpPr>
          <p:nvPr/>
        </p:nvCxnSpPr>
        <p:spPr>
          <a:xfrm flipH="1" rot="10800000">
            <a:off x="1986338" y="1931248"/>
            <a:ext cx="366600" cy="41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" name="Google Shape;719;p39"/>
          <p:cNvCxnSpPr>
            <a:stCxn id="645" idx="3"/>
            <a:endCxn id="716" idx="1"/>
          </p:cNvCxnSpPr>
          <p:nvPr/>
        </p:nvCxnSpPr>
        <p:spPr>
          <a:xfrm>
            <a:off x="1986338" y="2350948"/>
            <a:ext cx="3666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" name="Google Shape;720;p39"/>
          <p:cNvCxnSpPr>
            <a:stCxn id="665" idx="3"/>
            <a:endCxn id="717" idx="1"/>
          </p:cNvCxnSpPr>
          <p:nvPr/>
        </p:nvCxnSpPr>
        <p:spPr>
          <a:xfrm>
            <a:off x="1986338" y="3995123"/>
            <a:ext cx="3666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" name="Google Shape;721;p39"/>
          <p:cNvCxnSpPr>
            <a:stCxn id="715" idx="3"/>
            <a:endCxn id="710" idx="1"/>
          </p:cNvCxnSpPr>
          <p:nvPr/>
        </p:nvCxnSpPr>
        <p:spPr>
          <a:xfrm flipH="1" rot="10800000">
            <a:off x="2871788" y="1700484"/>
            <a:ext cx="305400" cy="23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" name="Google Shape;722;p39"/>
          <p:cNvCxnSpPr>
            <a:stCxn id="715" idx="3"/>
            <a:endCxn id="711" idx="1"/>
          </p:cNvCxnSpPr>
          <p:nvPr/>
        </p:nvCxnSpPr>
        <p:spPr>
          <a:xfrm>
            <a:off x="2871788" y="1931184"/>
            <a:ext cx="305400" cy="23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39"/>
          <p:cNvCxnSpPr>
            <a:stCxn id="716" idx="3"/>
            <a:endCxn id="712" idx="1"/>
          </p:cNvCxnSpPr>
          <p:nvPr/>
        </p:nvCxnSpPr>
        <p:spPr>
          <a:xfrm>
            <a:off x="2871775" y="2753259"/>
            <a:ext cx="30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" name="Google Shape;724;p39"/>
          <p:cNvCxnSpPr>
            <a:stCxn id="717" idx="3"/>
            <a:endCxn id="713" idx="1"/>
          </p:cNvCxnSpPr>
          <p:nvPr/>
        </p:nvCxnSpPr>
        <p:spPr>
          <a:xfrm flipH="1" rot="10800000">
            <a:off x="2871788" y="3765038"/>
            <a:ext cx="305400" cy="23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5" name="Google Shape;725;p39"/>
          <p:cNvCxnSpPr>
            <a:stCxn id="717" idx="3"/>
            <a:endCxn id="714" idx="1"/>
          </p:cNvCxnSpPr>
          <p:nvPr/>
        </p:nvCxnSpPr>
        <p:spPr>
          <a:xfrm>
            <a:off x="2871788" y="3995738"/>
            <a:ext cx="305400" cy="23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6" name="Google Shape;726;p39"/>
          <p:cNvSpPr txBox="1"/>
          <p:nvPr/>
        </p:nvSpPr>
        <p:spPr>
          <a:xfrm>
            <a:off x="4001225" y="1050075"/>
            <a:ext cx="125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By Clinic?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27" name="Google Shape;727;p39"/>
          <p:cNvSpPr txBox="1"/>
          <p:nvPr/>
        </p:nvSpPr>
        <p:spPr>
          <a:xfrm>
            <a:off x="5317475" y="1050075"/>
            <a:ext cx="13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By Patient?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28" name="Google Shape;728;p39"/>
          <p:cNvSpPr txBox="1"/>
          <p:nvPr/>
        </p:nvSpPr>
        <p:spPr>
          <a:xfrm>
            <a:off x="6734825" y="1050075"/>
            <a:ext cx="13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By Sample?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29" name="Google Shape;729;p39"/>
          <p:cNvSpPr/>
          <p:nvPr/>
        </p:nvSpPr>
        <p:spPr>
          <a:xfrm>
            <a:off x="4193425" y="1560875"/>
            <a:ext cx="861900" cy="14076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30" name="Google Shape;730;p39"/>
          <p:cNvSpPr/>
          <p:nvPr/>
        </p:nvSpPr>
        <p:spPr>
          <a:xfrm>
            <a:off x="5563175" y="1544125"/>
            <a:ext cx="861900" cy="874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31" name="Google Shape;731;p39"/>
          <p:cNvSpPr/>
          <p:nvPr/>
        </p:nvSpPr>
        <p:spPr>
          <a:xfrm>
            <a:off x="5563175" y="2548650"/>
            <a:ext cx="861900" cy="4197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32" name="Google Shape;732;p39"/>
          <p:cNvSpPr/>
          <p:nvPr/>
        </p:nvSpPr>
        <p:spPr>
          <a:xfrm>
            <a:off x="6980525" y="2543400"/>
            <a:ext cx="861900" cy="4197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33" name="Google Shape;733;p39"/>
          <p:cNvSpPr/>
          <p:nvPr/>
        </p:nvSpPr>
        <p:spPr>
          <a:xfrm>
            <a:off x="6980525" y="2006888"/>
            <a:ext cx="861900" cy="419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34" name="Google Shape;734;p39"/>
          <p:cNvSpPr/>
          <p:nvPr/>
        </p:nvSpPr>
        <p:spPr>
          <a:xfrm>
            <a:off x="6980525" y="1516275"/>
            <a:ext cx="861900" cy="419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35" name="Google Shape;735;p39"/>
          <p:cNvSpPr/>
          <p:nvPr/>
        </p:nvSpPr>
        <p:spPr>
          <a:xfrm>
            <a:off x="4193425" y="3623000"/>
            <a:ext cx="861900" cy="874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36" name="Google Shape;736;p39"/>
          <p:cNvSpPr/>
          <p:nvPr/>
        </p:nvSpPr>
        <p:spPr>
          <a:xfrm>
            <a:off x="5563175" y="3623000"/>
            <a:ext cx="861900" cy="874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37" name="Google Shape;737;p39"/>
          <p:cNvSpPr/>
          <p:nvPr/>
        </p:nvSpPr>
        <p:spPr>
          <a:xfrm>
            <a:off x="6980525" y="4095850"/>
            <a:ext cx="861900" cy="419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38" name="Google Shape;738;p39"/>
          <p:cNvSpPr/>
          <p:nvPr/>
        </p:nvSpPr>
        <p:spPr>
          <a:xfrm>
            <a:off x="6980525" y="3605238"/>
            <a:ext cx="861900" cy="419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(and data) Determine All</a:t>
            </a:r>
            <a:endParaRPr/>
          </a:p>
        </p:txBody>
      </p:sp>
      <p:sp>
        <p:nvSpPr>
          <p:cNvPr id="744" name="Google Shape;744;p40"/>
          <p:cNvSpPr/>
          <p:nvPr/>
        </p:nvSpPr>
        <p:spPr>
          <a:xfrm>
            <a:off x="2006888" y="1466825"/>
            <a:ext cx="2500200" cy="50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Roboto Light"/>
                <a:ea typeface="Roboto Light"/>
                <a:cs typeface="Roboto Light"/>
                <a:sym typeface="Roboto Light"/>
              </a:rPr>
              <a:t>Data Modality</a:t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45" name="Google Shape;745;p40"/>
          <p:cNvSpPr/>
          <p:nvPr/>
        </p:nvSpPr>
        <p:spPr>
          <a:xfrm>
            <a:off x="2876718" y="3922325"/>
            <a:ext cx="2496300" cy="50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Data Split</a:t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46" name="Google Shape;746;p40"/>
          <p:cNvSpPr/>
          <p:nvPr/>
        </p:nvSpPr>
        <p:spPr>
          <a:xfrm>
            <a:off x="311700" y="3922225"/>
            <a:ext cx="2496300" cy="50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Encoder Class</a:t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747" name="Google Shape;747;p40"/>
          <p:cNvCxnSpPr>
            <a:stCxn id="744" idx="2"/>
            <a:endCxn id="746" idx="0"/>
          </p:cNvCxnSpPr>
          <p:nvPr/>
        </p:nvCxnSpPr>
        <p:spPr>
          <a:xfrm flipH="1">
            <a:off x="1559888" y="1973525"/>
            <a:ext cx="1697100" cy="19488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8" name="Google Shape;748;p40"/>
          <p:cNvCxnSpPr>
            <a:stCxn id="744" idx="2"/>
            <a:endCxn id="745" idx="0"/>
          </p:cNvCxnSpPr>
          <p:nvPr/>
        </p:nvCxnSpPr>
        <p:spPr>
          <a:xfrm>
            <a:off x="3256988" y="1973525"/>
            <a:ext cx="867900" cy="19488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9" name="Google Shape;749;p40"/>
          <p:cNvCxnSpPr>
            <a:stCxn id="750" idx="2"/>
            <a:endCxn id="751" idx="0"/>
          </p:cNvCxnSpPr>
          <p:nvPr/>
        </p:nvCxnSpPr>
        <p:spPr>
          <a:xfrm>
            <a:off x="5887004" y="1973525"/>
            <a:ext cx="1725900" cy="858900"/>
          </a:xfrm>
          <a:prstGeom prst="straightConnector1">
            <a:avLst/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2" name="Google Shape;752;p40"/>
          <p:cNvCxnSpPr>
            <a:stCxn id="744" idx="2"/>
            <a:endCxn id="753" idx="0"/>
          </p:cNvCxnSpPr>
          <p:nvPr/>
        </p:nvCxnSpPr>
        <p:spPr>
          <a:xfrm>
            <a:off x="3256988" y="1973525"/>
            <a:ext cx="3432900" cy="19488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4" name="Google Shape;754;p40"/>
          <p:cNvCxnSpPr>
            <a:stCxn id="751" idx="2"/>
            <a:endCxn id="753" idx="0"/>
          </p:cNvCxnSpPr>
          <p:nvPr/>
        </p:nvCxnSpPr>
        <p:spPr>
          <a:xfrm flipH="1">
            <a:off x="6689837" y="3339125"/>
            <a:ext cx="923100" cy="583200"/>
          </a:xfrm>
          <a:prstGeom prst="straightConnector1">
            <a:avLst/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5" name="Google Shape;755;p40"/>
          <p:cNvCxnSpPr>
            <a:stCxn id="750" idx="2"/>
            <a:endCxn id="746" idx="0"/>
          </p:cNvCxnSpPr>
          <p:nvPr/>
        </p:nvCxnSpPr>
        <p:spPr>
          <a:xfrm flipH="1">
            <a:off x="1559804" y="1973525"/>
            <a:ext cx="4327200" cy="19488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756" name="Google Shape;756;p40"/>
          <p:cNvCxnSpPr>
            <a:stCxn id="750" idx="2"/>
            <a:endCxn id="745" idx="0"/>
          </p:cNvCxnSpPr>
          <p:nvPr/>
        </p:nvCxnSpPr>
        <p:spPr>
          <a:xfrm flipH="1">
            <a:off x="4124804" y="1973525"/>
            <a:ext cx="1762200" cy="19488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0" name="Google Shape;750;p40"/>
          <p:cNvSpPr/>
          <p:nvPr/>
        </p:nvSpPr>
        <p:spPr>
          <a:xfrm>
            <a:off x="4636904" y="1466825"/>
            <a:ext cx="2500200" cy="50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Roboto Light"/>
                <a:ea typeface="Roboto Light"/>
                <a:cs typeface="Roboto Light"/>
                <a:sym typeface="Roboto Light"/>
              </a:rPr>
              <a:t>Modeling Problem</a:t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51" name="Google Shape;751;p40"/>
          <p:cNvSpPr/>
          <p:nvPr/>
        </p:nvSpPr>
        <p:spPr>
          <a:xfrm>
            <a:off x="6364787" y="2832425"/>
            <a:ext cx="2496300" cy="50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Roboto Light"/>
                <a:ea typeface="Roboto Light"/>
                <a:cs typeface="Roboto Light"/>
                <a:sym typeface="Roboto Light"/>
              </a:rPr>
              <a:t>Target Loss</a:t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53" name="Google Shape;753;p40"/>
          <p:cNvSpPr/>
          <p:nvPr/>
        </p:nvSpPr>
        <p:spPr>
          <a:xfrm>
            <a:off x="5441762" y="3922225"/>
            <a:ext cx="2496300" cy="50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Roboto Light"/>
                <a:ea typeface="Roboto Light"/>
                <a:cs typeface="Roboto Light"/>
                <a:sym typeface="Roboto Light"/>
              </a:rPr>
              <a:t>Training Algorithm</a:t>
            </a:r>
            <a:endParaRPr sz="22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common loss variety</a:t>
            </a:r>
            <a:endParaRPr/>
          </a:p>
        </p:txBody>
      </p:sp>
      <p:sp>
        <p:nvSpPr>
          <p:cNvPr id="762" name="Google Shape;762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Define a generative model of your data random variables 𝘅, 𝗒.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model both 𝘅, 𝗒 or just 𝗒 | 𝘅.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the parameters for that generative model that maximize the likelihood of the data you observe.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results in minimizing a “negative log likelihood” loss.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4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question, then? How do we model</a:t>
            </a:r>
            <a:br>
              <a:rPr lang="en"/>
            </a:br>
            <a:r>
              <a:rPr lang="en"/>
              <a:t>𝘅, 𝗒 or 𝗒 | 𝘅.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simplest model we can use?</a:t>
            </a:r>
            <a:endParaRPr/>
          </a:p>
        </p:txBody>
      </p:sp>
      <p:cxnSp>
        <p:nvCxnSpPr>
          <p:cNvPr id="773" name="Google Shape;773;p43"/>
          <p:cNvCxnSpPr/>
          <p:nvPr/>
        </p:nvCxnSpPr>
        <p:spPr>
          <a:xfrm>
            <a:off x="4228150" y="1673941"/>
            <a:ext cx="0" cy="294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74" name="Google Shape;774;p43"/>
          <p:cNvCxnSpPr/>
          <p:nvPr/>
        </p:nvCxnSpPr>
        <p:spPr>
          <a:xfrm>
            <a:off x="1742375" y="3183991"/>
            <a:ext cx="5070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75" name="Google Shape;775;p43"/>
          <p:cNvSpPr/>
          <p:nvPr/>
        </p:nvSpPr>
        <p:spPr>
          <a:xfrm>
            <a:off x="4710250" y="188301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76" name="Google Shape;776;p43"/>
          <p:cNvSpPr/>
          <p:nvPr/>
        </p:nvSpPr>
        <p:spPr>
          <a:xfrm>
            <a:off x="4856850" y="228516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77" name="Google Shape;777;p43"/>
          <p:cNvSpPr/>
          <p:nvPr/>
        </p:nvSpPr>
        <p:spPr>
          <a:xfrm>
            <a:off x="5259000" y="1990366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78" name="Google Shape;778;p43"/>
          <p:cNvSpPr/>
          <p:nvPr/>
        </p:nvSpPr>
        <p:spPr>
          <a:xfrm>
            <a:off x="3488975" y="2398041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79" name="Google Shape;779;p43"/>
          <p:cNvSpPr/>
          <p:nvPr/>
        </p:nvSpPr>
        <p:spPr>
          <a:xfrm>
            <a:off x="4820375" y="333451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80" name="Google Shape;780;p43"/>
          <p:cNvSpPr/>
          <p:nvPr/>
        </p:nvSpPr>
        <p:spPr>
          <a:xfrm>
            <a:off x="4444250" y="3683716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81" name="Google Shape;781;p43"/>
          <p:cNvSpPr/>
          <p:nvPr/>
        </p:nvSpPr>
        <p:spPr>
          <a:xfrm>
            <a:off x="5961500" y="3557341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82" name="Google Shape;782;p43"/>
          <p:cNvSpPr/>
          <p:nvPr/>
        </p:nvSpPr>
        <p:spPr>
          <a:xfrm>
            <a:off x="5289175" y="2861791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83" name="Google Shape;783;p43"/>
          <p:cNvSpPr/>
          <p:nvPr/>
        </p:nvSpPr>
        <p:spPr>
          <a:xfrm>
            <a:off x="3228750" y="333451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84" name="Google Shape;784;p43"/>
          <p:cNvSpPr/>
          <p:nvPr/>
        </p:nvSpPr>
        <p:spPr>
          <a:xfrm>
            <a:off x="3577950" y="3834241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85" name="Google Shape;785;p43"/>
          <p:cNvSpPr/>
          <p:nvPr/>
        </p:nvSpPr>
        <p:spPr>
          <a:xfrm>
            <a:off x="3341200" y="4032916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86" name="Google Shape;786;p43"/>
          <p:cNvSpPr/>
          <p:nvPr/>
        </p:nvSpPr>
        <p:spPr>
          <a:xfrm>
            <a:off x="3528425" y="4183441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87" name="Google Shape;787;p43"/>
          <p:cNvSpPr/>
          <p:nvPr/>
        </p:nvSpPr>
        <p:spPr>
          <a:xfrm>
            <a:off x="3877625" y="4068691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88" name="Google Shape;788;p43"/>
          <p:cNvSpPr/>
          <p:nvPr/>
        </p:nvSpPr>
        <p:spPr>
          <a:xfrm>
            <a:off x="2554825" y="3557341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89" name="Google Shape;789;p43"/>
          <p:cNvSpPr/>
          <p:nvPr/>
        </p:nvSpPr>
        <p:spPr>
          <a:xfrm>
            <a:off x="1882500" y="3906541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90" name="Google Shape;790;p43"/>
          <p:cNvSpPr/>
          <p:nvPr/>
        </p:nvSpPr>
        <p:spPr>
          <a:xfrm>
            <a:off x="2145600" y="368371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91" name="Google Shape;791;p43"/>
          <p:cNvSpPr/>
          <p:nvPr/>
        </p:nvSpPr>
        <p:spPr>
          <a:xfrm>
            <a:off x="2494800" y="2544391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92" name="Google Shape;792;p43"/>
          <p:cNvSpPr/>
          <p:nvPr/>
        </p:nvSpPr>
        <p:spPr>
          <a:xfrm>
            <a:off x="7209050" y="1217791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93" name="Google Shape;793;p43"/>
          <p:cNvSpPr/>
          <p:nvPr/>
        </p:nvSpPr>
        <p:spPr>
          <a:xfrm>
            <a:off x="7209050" y="1534216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94" name="Google Shape;794;p43"/>
          <p:cNvSpPr txBox="1"/>
          <p:nvPr/>
        </p:nvSpPr>
        <p:spPr>
          <a:xfrm>
            <a:off x="7585150" y="1193216"/>
            <a:ext cx="11442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Label 1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95" name="Google Shape;795;p43"/>
          <p:cNvSpPr txBox="1"/>
          <p:nvPr/>
        </p:nvSpPr>
        <p:spPr>
          <a:xfrm>
            <a:off x="7585150" y="1521916"/>
            <a:ext cx="11442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Label 0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96" name="Google Shape;796;p43"/>
          <p:cNvSpPr/>
          <p:nvPr/>
        </p:nvSpPr>
        <p:spPr>
          <a:xfrm>
            <a:off x="2844000" y="3070316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97" name="Google Shape;797;p43"/>
          <p:cNvSpPr/>
          <p:nvPr/>
        </p:nvSpPr>
        <p:spPr>
          <a:xfrm>
            <a:off x="4309025" y="3210991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98" name="Google Shape;798;p43"/>
          <p:cNvSpPr/>
          <p:nvPr/>
        </p:nvSpPr>
        <p:spPr>
          <a:xfrm>
            <a:off x="5759875" y="2078891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99" name="Google Shape;799;p43"/>
          <p:cNvSpPr/>
          <p:nvPr/>
        </p:nvSpPr>
        <p:spPr>
          <a:xfrm>
            <a:off x="6639050" y="1673941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00" name="Google Shape;800;p43"/>
          <p:cNvSpPr/>
          <p:nvPr/>
        </p:nvSpPr>
        <p:spPr>
          <a:xfrm>
            <a:off x="3193200" y="208926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01" name="Google Shape;801;p43"/>
          <p:cNvSpPr/>
          <p:nvPr/>
        </p:nvSpPr>
        <p:spPr>
          <a:xfrm>
            <a:off x="4263025" y="199036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02" name="Google Shape;802;p43"/>
          <p:cNvSpPr/>
          <p:nvPr/>
        </p:nvSpPr>
        <p:spPr>
          <a:xfrm>
            <a:off x="5554950" y="4207816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03" name="Google Shape;803;p43"/>
          <p:cNvSpPr/>
          <p:nvPr/>
        </p:nvSpPr>
        <p:spPr>
          <a:xfrm>
            <a:off x="3139775" y="1421416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04" name="Google Shape;804;p43"/>
          <p:cNvSpPr/>
          <p:nvPr/>
        </p:nvSpPr>
        <p:spPr>
          <a:xfrm>
            <a:off x="3803400" y="3210991"/>
            <a:ext cx="319500" cy="319500"/>
          </a:xfrm>
          <a:prstGeom prst="ellipse">
            <a:avLst/>
          </a:prstGeom>
          <a:solidFill>
            <a:srgbClr val="FFF2CC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Roboto"/>
                <a:ea typeface="Roboto"/>
                <a:cs typeface="Roboto"/>
                <a:sym typeface="Roboto"/>
              </a:rPr>
              <a:t>?</a:t>
            </a:r>
            <a:endParaRPr b="1" sz="2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simplest </a:t>
            </a:r>
            <a:r>
              <a:rPr i="1" lang="en"/>
              <a:t>non-trivial</a:t>
            </a:r>
            <a:r>
              <a:rPr lang="en"/>
              <a:t> model we can use?</a:t>
            </a:r>
            <a:endParaRPr/>
          </a:p>
        </p:txBody>
      </p:sp>
      <p:cxnSp>
        <p:nvCxnSpPr>
          <p:cNvPr id="810" name="Google Shape;810;p44"/>
          <p:cNvCxnSpPr/>
          <p:nvPr/>
        </p:nvCxnSpPr>
        <p:spPr>
          <a:xfrm>
            <a:off x="4228150" y="1673941"/>
            <a:ext cx="0" cy="294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11" name="Google Shape;811;p44"/>
          <p:cNvCxnSpPr/>
          <p:nvPr/>
        </p:nvCxnSpPr>
        <p:spPr>
          <a:xfrm>
            <a:off x="1742375" y="3183991"/>
            <a:ext cx="5070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12" name="Google Shape;812;p44"/>
          <p:cNvSpPr/>
          <p:nvPr/>
        </p:nvSpPr>
        <p:spPr>
          <a:xfrm>
            <a:off x="4710250" y="188301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13" name="Google Shape;813;p44"/>
          <p:cNvSpPr/>
          <p:nvPr/>
        </p:nvSpPr>
        <p:spPr>
          <a:xfrm>
            <a:off x="4856850" y="228516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14" name="Google Shape;814;p44"/>
          <p:cNvSpPr/>
          <p:nvPr/>
        </p:nvSpPr>
        <p:spPr>
          <a:xfrm>
            <a:off x="5259000" y="1990366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15" name="Google Shape;815;p44"/>
          <p:cNvSpPr/>
          <p:nvPr/>
        </p:nvSpPr>
        <p:spPr>
          <a:xfrm>
            <a:off x="3488975" y="2398041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16" name="Google Shape;816;p44"/>
          <p:cNvSpPr/>
          <p:nvPr/>
        </p:nvSpPr>
        <p:spPr>
          <a:xfrm>
            <a:off x="4820375" y="333451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17" name="Google Shape;817;p44"/>
          <p:cNvSpPr/>
          <p:nvPr/>
        </p:nvSpPr>
        <p:spPr>
          <a:xfrm>
            <a:off x="4444250" y="3683716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18" name="Google Shape;818;p44"/>
          <p:cNvSpPr/>
          <p:nvPr/>
        </p:nvSpPr>
        <p:spPr>
          <a:xfrm>
            <a:off x="5961500" y="3557341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19" name="Google Shape;819;p44"/>
          <p:cNvSpPr/>
          <p:nvPr/>
        </p:nvSpPr>
        <p:spPr>
          <a:xfrm>
            <a:off x="5289175" y="2861791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20" name="Google Shape;820;p44"/>
          <p:cNvSpPr/>
          <p:nvPr/>
        </p:nvSpPr>
        <p:spPr>
          <a:xfrm>
            <a:off x="3228750" y="333451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21" name="Google Shape;821;p44"/>
          <p:cNvSpPr/>
          <p:nvPr/>
        </p:nvSpPr>
        <p:spPr>
          <a:xfrm>
            <a:off x="3577950" y="3834241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22" name="Google Shape;822;p44"/>
          <p:cNvSpPr/>
          <p:nvPr/>
        </p:nvSpPr>
        <p:spPr>
          <a:xfrm>
            <a:off x="3341200" y="4032916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23" name="Google Shape;823;p44"/>
          <p:cNvSpPr/>
          <p:nvPr/>
        </p:nvSpPr>
        <p:spPr>
          <a:xfrm>
            <a:off x="3528425" y="4183441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24" name="Google Shape;824;p44"/>
          <p:cNvSpPr/>
          <p:nvPr/>
        </p:nvSpPr>
        <p:spPr>
          <a:xfrm>
            <a:off x="3877625" y="4068691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25" name="Google Shape;825;p44"/>
          <p:cNvSpPr/>
          <p:nvPr/>
        </p:nvSpPr>
        <p:spPr>
          <a:xfrm>
            <a:off x="2554825" y="3557341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26" name="Google Shape;826;p44"/>
          <p:cNvSpPr/>
          <p:nvPr/>
        </p:nvSpPr>
        <p:spPr>
          <a:xfrm>
            <a:off x="1882500" y="3906541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27" name="Google Shape;827;p44"/>
          <p:cNvSpPr/>
          <p:nvPr/>
        </p:nvSpPr>
        <p:spPr>
          <a:xfrm>
            <a:off x="2145600" y="368371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28" name="Google Shape;828;p44"/>
          <p:cNvSpPr/>
          <p:nvPr/>
        </p:nvSpPr>
        <p:spPr>
          <a:xfrm>
            <a:off x="2494800" y="2544391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29" name="Google Shape;829;p44"/>
          <p:cNvSpPr/>
          <p:nvPr/>
        </p:nvSpPr>
        <p:spPr>
          <a:xfrm>
            <a:off x="7209050" y="1217791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30" name="Google Shape;830;p44"/>
          <p:cNvSpPr/>
          <p:nvPr/>
        </p:nvSpPr>
        <p:spPr>
          <a:xfrm>
            <a:off x="7209050" y="1534216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31" name="Google Shape;831;p44"/>
          <p:cNvSpPr txBox="1"/>
          <p:nvPr/>
        </p:nvSpPr>
        <p:spPr>
          <a:xfrm>
            <a:off x="7585150" y="1193216"/>
            <a:ext cx="11442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Label 1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32" name="Google Shape;832;p44"/>
          <p:cNvSpPr txBox="1"/>
          <p:nvPr/>
        </p:nvSpPr>
        <p:spPr>
          <a:xfrm>
            <a:off x="7585150" y="1521916"/>
            <a:ext cx="11442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Label 0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33" name="Google Shape;833;p44"/>
          <p:cNvSpPr/>
          <p:nvPr/>
        </p:nvSpPr>
        <p:spPr>
          <a:xfrm>
            <a:off x="2844000" y="3070316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34" name="Google Shape;834;p44"/>
          <p:cNvSpPr/>
          <p:nvPr/>
        </p:nvSpPr>
        <p:spPr>
          <a:xfrm>
            <a:off x="4309025" y="3210991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35" name="Google Shape;835;p44"/>
          <p:cNvSpPr/>
          <p:nvPr/>
        </p:nvSpPr>
        <p:spPr>
          <a:xfrm>
            <a:off x="5759875" y="2078891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36" name="Google Shape;836;p44"/>
          <p:cNvSpPr/>
          <p:nvPr/>
        </p:nvSpPr>
        <p:spPr>
          <a:xfrm>
            <a:off x="6639050" y="1673941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37" name="Google Shape;837;p44"/>
          <p:cNvSpPr/>
          <p:nvPr/>
        </p:nvSpPr>
        <p:spPr>
          <a:xfrm>
            <a:off x="3193200" y="208926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38" name="Google Shape;838;p44"/>
          <p:cNvSpPr/>
          <p:nvPr/>
        </p:nvSpPr>
        <p:spPr>
          <a:xfrm>
            <a:off x="4263025" y="199036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39" name="Google Shape;839;p44"/>
          <p:cNvSpPr/>
          <p:nvPr/>
        </p:nvSpPr>
        <p:spPr>
          <a:xfrm>
            <a:off x="5554950" y="4207816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40" name="Google Shape;840;p44"/>
          <p:cNvSpPr/>
          <p:nvPr/>
        </p:nvSpPr>
        <p:spPr>
          <a:xfrm>
            <a:off x="3139775" y="1421416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41" name="Google Shape;841;p44"/>
          <p:cNvSpPr/>
          <p:nvPr/>
        </p:nvSpPr>
        <p:spPr>
          <a:xfrm>
            <a:off x="3803400" y="3210991"/>
            <a:ext cx="319500" cy="319500"/>
          </a:xfrm>
          <a:prstGeom prst="ellipse">
            <a:avLst/>
          </a:prstGeom>
          <a:solidFill>
            <a:srgbClr val="FFF2CC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Roboto"/>
                <a:ea typeface="Roboto"/>
                <a:cs typeface="Roboto"/>
                <a:sym typeface="Roboto"/>
              </a:rPr>
              <a:t>?</a:t>
            </a:r>
            <a:endParaRPr b="1" sz="2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45"/>
          <p:cNvSpPr/>
          <p:nvPr/>
        </p:nvSpPr>
        <p:spPr>
          <a:xfrm rot="1762751">
            <a:off x="-2070882" y="2749728"/>
            <a:ext cx="9304767" cy="3749845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47" name="Google Shape;847;p45"/>
          <p:cNvSpPr/>
          <p:nvPr/>
        </p:nvSpPr>
        <p:spPr>
          <a:xfrm rot="1762731">
            <a:off x="-209569" y="-1803700"/>
            <a:ext cx="11055032" cy="5435249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48" name="Google Shape;848;p45"/>
          <p:cNvSpPr/>
          <p:nvPr/>
        </p:nvSpPr>
        <p:spPr>
          <a:xfrm>
            <a:off x="-789225" y="-707575"/>
            <a:ext cx="10355100" cy="168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49" name="Google Shape;84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separate the classes linearly?</a:t>
            </a:r>
            <a:endParaRPr/>
          </a:p>
        </p:txBody>
      </p:sp>
      <p:cxnSp>
        <p:nvCxnSpPr>
          <p:cNvPr id="850" name="Google Shape;850;p45"/>
          <p:cNvCxnSpPr/>
          <p:nvPr/>
        </p:nvCxnSpPr>
        <p:spPr>
          <a:xfrm>
            <a:off x="4228150" y="1673941"/>
            <a:ext cx="0" cy="294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51" name="Google Shape;851;p45"/>
          <p:cNvCxnSpPr/>
          <p:nvPr/>
        </p:nvCxnSpPr>
        <p:spPr>
          <a:xfrm>
            <a:off x="1742375" y="3183991"/>
            <a:ext cx="507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52" name="Google Shape;852;p45"/>
          <p:cNvSpPr/>
          <p:nvPr/>
        </p:nvSpPr>
        <p:spPr>
          <a:xfrm>
            <a:off x="4710250" y="188301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53" name="Google Shape;853;p45"/>
          <p:cNvSpPr/>
          <p:nvPr/>
        </p:nvSpPr>
        <p:spPr>
          <a:xfrm>
            <a:off x="4856850" y="228516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54" name="Google Shape;854;p45"/>
          <p:cNvSpPr/>
          <p:nvPr/>
        </p:nvSpPr>
        <p:spPr>
          <a:xfrm>
            <a:off x="5259000" y="1990366"/>
            <a:ext cx="349200" cy="349200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55" name="Google Shape;855;p45"/>
          <p:cNvSpPr/>
          <p:nvPr/>
        </p:nvSpPr>
        <p:spPr>
          <a:xfrm>
            <a:off x="3488975" y="2398041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56" name="Google Shape;856;p45"/>
          <p:cNvSpPr/>
          <p:nvPr/>
        </p:nvSpPr>
        <p:spPr>
          <a:xfrm>
            <a:off x="4820375" y="333451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57" name="Google Shape;857;p45"/>
          <p:cNvSpPr/>
          <p:nvPr/>
        </p:nvSpPr>
        <p:spPr>
          <a:xfrm>
            <a:off x="4444250" y="3683716"/>
            <a:ext cx="349200" cy="349200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58" name="Google Shape;858;p45"/>
          <p:cNvSpPr/>
          <p:nvPr/>
        </p:nvSpPr>
        <p:spPr>
          <a:xfrm>
            <a:off x="5961500" y="3557341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59" name="Google Shape;859;p45"/>
          <p:cNvSpPr/>
          <p:nvPr/>
        </p:nvSpPr>
        <p:spPr>
          <a:xfrm>
            <a:off x="5289175" y="2861791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60" name="Google Shape;860;p45"/>
          <p:cNvSpPr/>
          <p:nvPr/>
        </p:nvSpPr>
        <p:spPr>
          <a:xfrm>
            <a:off x="3228750" y="333451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61" name="Google Shape;861;p45"/>
          <p:cNvSpPr/>
          <p:nvPr/>
        </p:nvSpPr>
        <p:spPr>
          <a:xfrm>
            <a:off x="3577950" y="3834241"/>
            <a:ext cx="349200" cy="349200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62" name="Google Shape;862;p45"/>
          <p:cNvSpPr/>
          <p:nvPr/>
        </p:nvSpPr>
        <p:spPr>
          <a:xfrm>
            <a:off x="3341200" y="4032916"/>
            <a:ext cx="349200" cy="349200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63" name="Google Shape;863;p45"/>
          <p:cNvSpPr/>
          <p:nvPr/>
        </p:nvSpPr>
        <p:spPr>
          <a:xfrm>
            <a:off x="3528425" y="4183441"/>
            <a:ext cx="349200" cy="349200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64" name="Google Shape;864;p45"/>
          <p:cNvSpPr/>
          <p:nvPr/>
        </p:nvSpPr>
        <p:spPr>
          <a:xfrm>
            <a:off x="3877625" y="4068691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65" name="Google Shape;865;p45"/>
          <p:cNvSpPr/>
          <p:nvPr/>
        </p:nvSpPr>
        <p:spPr>
          <a:xfrm>
            <a:off x="2554825" y="3557341"/>
            <a:ext cx="349200" cy="349200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66" name="Google Shape;866;p45"/>
          <p:cNvSpPr/>
          <p:nvPr/>
        </p:nvSpPr>
        <p:spPr>
          <a:xfrm>
            <a:off x="1882500" y="3906541"/>
            <a:ext cx="349200" cy="349200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67" name="Google Shape;867;p45"/>
          <p:cNvSpPr/>
          <p:nvPr/>
        </p:nvSpPr>
        <p:spPr>
          <a:xfrm>
            <a:off x="2145600" y="368371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68" name="Google Shape;868;p45"/>
          <p:cNvSpPr/>
          <p:nvPr/>
        </p:nvSpPr>
        <p:spPr>
          <a:xfrm>
            <a:off x="2494800" y="2544391"/>
            <a:ext cx="349200" cy="349200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69" name="Google Shape;869;p45"/>
          <p:cNvSpPr/>
          <p:nvPr/>
        </p:nvSpPr>
        <p:spPr>
          <a:xfrm rot="1800079">
            <a:off x="659760" y="1081620"/>
            <a:ext cx="349186" cy="349186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70" name="Google Shape;870;p45"/>
          <p:cNvSpPr/>
          <p:nvPr/>
        </p:nvSpPr>
        <p:spPr>
          <a:xfrm rot="1800079">
            <a:off x="445298" y="1485340"/>
            <a:ext cx="349186" cy="349186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71" name="Google Shape;871;p45"/>
          <p:cNvSpPr txBox="1"/>
          <p:nvPr/>
        </p:nvSpPr>
        <p:spPr>
          <a:xfrm rot="1800009">
            <a:off x="938356" y="1445490"/>
            <a:ext cx="1144195" cy="37378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Label 1</a:t>
            </a:r>
            <a:endParaRPr sz="18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72" name="Google Shape;872;p45"/>
          <p:cNvSpPr txBox="1"/>
          <p:nvPr/>
        </p:nvSpPr>
        <p:spPr>
          <a:xfrm rot="1800009">
            <a:off x="717756" y="1859840"/>
            <a:ext cx="1144195" cy="37378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Label 0</a:t>
            </a:r>
            <a:endParaRPr sz="18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73" name="Google Shape;873;p45"/>
          <p:cNvSpPr/>
          <p:nvPr/>
        </p:nvSpPr>
        <p:spPr>
          <a:xfrm>
            <a:off x="2844000" y="3070316"/>
            <a:ext cx="349200" cy="349200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74" name="Google Shape;874;p45"/>
          <p:cNvSpPr/>
          <p:nvPr/>
        </p:nvSpPr>
        <p:spPr>
          <a:xfrm>
            <a:off x="4309025" y="3210991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75" name="Google Shape;875;p45"/>
          <p:cNvSpPr/>
          <p:nvPr/>
        </p:nvSpPr>
        <p:spPr>
          <a:xfrm>
            <a:off x="5759875" y="2078891"/>
            <a:ext cx="349200" cy="349200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76" name="Google Shape;876;p45"/>
          <p:cNvSpPr/>
          <p:nvPr/>
        </p:nvSpPr>
        <p:spPr>
          <a:xfrm>
            <a:off x="6639050" y="1673941"/>
            <a:ext cx="349200" cy="349200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77" name="Google Shape;877;p45"/>
          <p:cNvSpPr/>
          <p:nvPr/>
        </p:nvSpPr>
        <p:spPr>
          <a:xfrm>
            <a:off x="3193200" y="208926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78" name="Google Shape;878;p45"/>
          <p:cNvSpPr/>
          <p:nvPr/>
        </p:nvSpPr>
        <p:spPr>
          <a:xfrm>
            <a:off x="4263025" y="199036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79" name="Google Shape;879;p45"/>
          <p:cNvSpPr/>
          <p:nvPr/>
        </p:nvSpPr>
        <p:spPr>
          <a:xfrm>
            <a:off x="5554950" y="4207816"/>
            <a:ext cx="349200" cy="349200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80" name="Google Shape;880;p45"/>
          <p:cNvSpPr/>
          <p:nvPr/>
        </p:nvSpPr>
        <p:spPr>
          <a:xfrm>
            <a:off x="3139775" y="1421416"/>
            <a:ext cx="349200" cy="349200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881" name="Google Shape;881;p45"/>
          <p:cNvCxnSpPr/>
          <p:nvPr/>
        </p:nvCxnSpPr>
        <p:spPr>
          <a:xfrm>
            <a:off x="554175" y="1350825"/>
            <a:ext cx="6661800" cy="3758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82" name="Google Shape;882;p45"/>
          <p:cNvSpPr/>
          <p:nvPr/>
        </p:nvSpPr>
        <p:spPr>
          <a:xfrm>
            <a:off x="3803400" y="3210991"/>
            <a:ext cx="319500" cy="319500"/>
          </a:xfrm>
          <a:prstGeom prst="ellipse">
            <a:avLst/>
          </a:prstGeom>
          <a:solidFill>
            <a:srgbClr val="FFF2CC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Roboto"/>
                <a:ea typeface="Roboto"/>
                <a:cs typeface="Roboto"/>
                <a:sym typeface="Roboto"/>
              </a:rPr>
              <a:t>?</a:t>
            </a:r>
            <a:endParaRPr b="1" sz="2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guess what we’ve seen before!</a:t>
            </a:r>
            <a:endParaRPr/>
          </a:p>
        </p:txBody>
      </p:sp>
      <p:cxnSp>
        <p:nvCxnSpPr>
          <p:cNvPr id="888" name="Google Shape;888;p46"/>
          <p:cNvCxnSpPr/>
          <p:nvPr/>
        </p:nvCxnSpPr>
        <p:spPr>
          <a:xfrm>
            <a:off x="4228150" y="1673941"/>
            <a:ext cx="0" cy="294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89" name="Google Shape;889;p46"/>
          <p:cNvCxnSpPr/>
          <p:nvPr/>
        </p:nvCxnSpPr>
        <p:spPr>
          <a:xfrm>
            <a:off x="1742375" y="3183991"/>
            <a:ext cx="5070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90" name="Google Shape;890;p46"/>
          <p:cNvSpPr/>
          <p:nvPr/>
        </p:nvSpPr>
        <p:spPr>
          <a:xfrm>
            <a:off x="4710250" y="188301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91" name="Google Shape;891;p46"/>
          <p:cNvSpPr/>
          <p:nvPr/>
        </p:nvSpPr>
        <p:spPr>
          <a:xfrm>
            <a:off x="4856850" y="228516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92" name="Google Shape;892;p46"/>
          <p:cNvSpPr/>
          <p:nvPr/>
        </p:nvSpPr>
        <p:spPr>
          <a:xfrm>
            <a:off x="5259000" y="1990366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93" name="Google Shape;893;p46"/>
          <p:cNvSpPr/>
          <p:nvPr/>
        </p:nvSpPr>
        <p:spPr>
          <a:xfrm>
            <a:off x="3488975" y="2398041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94" name="Google Shape;894;p46"/>
          <p:cNvSpPr/>
          <p:nvPr/>
        </p:nvSpPr>
        <p:spPr>
          <a:xfrm>
            <a:off x="4820375" y="333451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95" name="Google Shape;895;p46"/>
          <p:cNvSpPr/>
          <p:nvPr/>
        </p:nvSpPr>
        <p:spPr>
          <a:xfrm>
            <a:off x="4444250" y="3683716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96" name="Google Shape;896;p46"/>
          <p:cNvSpPr/>
          <p:nvPr/>
        </p:nvSpPr>
        <p:spPr>
          <a:xfrm>
            <a:off x="5961500" y="3557341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97" name="Google Shape;897;p46"/>
          <p:cNvSpPr/>
          <p:nvPr/>
        </p:nvSpPr>
        <p:spPr>
          <a:xfrm>
            <a:off x="5289175" y="2861791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98" name="Google Shape;898;p46"/>
          <p:cNvSpPr/>
          <p:nvPr/>
        </p:nvSpPr>
        <p:spPr>
          <a:xfrm>
            <a:off x="3228750" y="333451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99" name="Google Shape;899;p46"/>
          <p:cNvSpPr/>
          <p:nvPr/>
        </p:nvSpPr>
        <p:spPr>
          <a:xfrm>
            <a:off x="3577950" y="3834241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00" name="Google Shape;900;p46"/>
          <p:cNvSpPr/>
          <p:nvPr/>
        </p:nvSpPr>
        <p:spPr>
          <a:xfrm>
            <a:off x="3341200" y="4032916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01" name="Google Shape;901;p46"/>
          <p:cNvSpPr/>
          <p:nvPr/>
        </p:nvSpPr>
        <p:spPr>
          <a:xfrm>
            <a:off x="3528425" y="4183441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02" name="Google Shape;902;p46"/>
          <p:cNvSpPr/>
          <p:nvPr/>
        </p:nvSpPr>
        <p:spPr>
          <a:xfrm>
            <a:off x="3877625" y="4068691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03" name="Google Shape;903;p46"/>
          <p:cNvSpPr/>
          <p:nvPr/>
        </p:nvSpPr>
        <p:spPr>
          <a:xfrm>
            <a:off x="2554825" y="3557341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04" name="Google Shape;904;p46"/>
          <p:cNvSpPr/>
          <p:nvPr/>
        </p:nvSpPr>
        <p:spPr>
          <a:xfrm>
            <a:off x="1882500" y="3906541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05" name="Google Shape;905;p46"/>
          <p:cNvSpPr/>
          <p:nvPr/>
        </p:nvSpPr>
        <p:spPr>
          <a:xfrm>
            <a:off x="2145600" y="368371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06" name="Google Shape;906;p46"/>
          <p:cNvSpPr/>
          <p:nvPr/>
        </p:nvSpPr>
        <p:spPr>
          <a:xfrm>
            <a:off x="2494800" y="2544391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07" name="Google Shape;907;p46"/>
          <p:cNvSpPr/>
          <p:nvPr/>
        </p:nvSpPr>
        <p:spPr>
          <a:xfrm>
            <a:off x="7209050" y="1217791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08" name="Google Shape;908;p46"/>
          <p:cNvSpPr/>
          <p:nvPr/>
        </p:nvSpPr>
        <p:spPr>
          <a:xfrm>
            <a:off x="7209050" y="1534216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09" name="Google Shape;909;p46"/>
          <p:cNvSpPr txBox="1"/>
          <p:nvPr/>
        </p:nvSpPr>
        <p:spPr>
          <a:xfrm>
            <a:off x="7585150" y="1193216"/>
            <a:ext cx="11442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Label 1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10" name="Google Shape;910;p46"/>
          <p:cNvSpPr txBox="1"/>
          <p:nvPr/>
        </p:nvSpPr>
        <p:spPr>
          <a:xfrm>
            <a:off x="7585150" y="1521916"/>
            <a:ext cx="11442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Label 0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11" name="Google Shape;911;p46"/>
          <p:cNvSpPr/>
          <p:nvPr/>
        </p:nvSpPr>
        <p:spPr>
          <a:xfrm>
            <a:off x="2844000" y="3070316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12" name="Google Shape;912;p46"/>
          <p:cNvSpPr/>
          <p:nvPr/>
        </p:nvSpPr>
        <p:spPr>
          <a:xfrm>
            <a:off x="4309025" y="3210991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13" name="Google Shape;913;p46"/>
          <p:cNvSpPr/>
          <p:nvPr/>
        </p:nvSpPr>
        <p:spPr>
          <a:xfrm>
            <a:off x="5759875" y="2078891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14" name="Google Shape;914;p46"/>
          <p:cNvSpPr/>
          <p:nvPr/>
        </p:nvSpPr>
        <p:spPr>
          <a:xfrm>
            <a:off x="6639050" y="1673941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15" name="Google Shape;915;p46"/>
          <p:cNvSpPr/>
          <p:nvPr/>
        </p:nvSpPr>
        <p:spPr>
          <a:xfrm>
            <a:off x="3193200" y="208926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16" name="Google Shape;916;p46"/>
          <p:cNvSpPr/>
          <p:nvPr/>
        </p:nvSpPr>
        <p:spPr>
          <a:xfrm>
            <a:off x="4263025" y="1990366"/>
            <a:ext cx="349200" cy="3492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17" name="Google Shape;917;p46"/>
          <p:cNvSpPr/>
          <p:nvPr/>
        </p:nvSpPr>
        <p:spPr>
          <a:xfrm>
            <a:off x="5554950" y="4207816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18" name="Google Shape;918;p46"/>
          <p:cNvSpPr/>
          <p:nvPr/>
        </p:nvSpPr>
        <p:spPr>
          <a:xfrm>
            <a:off x="3139775" y="1421416"/>
            <a:ext cx="349200" cy="3492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28575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19" name="Google Shape;919;p46"/>
          <p:cNvSpPr/>
          <p:nvPr/>
        </p:nvSpPr>
        <p:spPr>
          <a:xfrm>
            <a:off x="3803400" y="3210991"/>
            <a:ext cx="319500" cy="319500"/>
          </a:xfrm>
          <a:prstGeom prst="ellipse">
            <a:avLst/>
          </a:prstGeom>
          <a:solidFill>
            <a:srgbClr val="FFF2CC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Roboto"/>
                <a:ea typeface="Roboto"/>
                <a:cs typeface="Roboto"/>
                <a:sym typeface="Roboto"/>
              </a:rPr>
              <a:t>?</a:t>
            </a:r>
            <a:endParaRPr b="1" sz="2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47"/>
          <p:cNvSpPr/>
          <p:nvPr/>
        </p:nvSpPr>
        <p:spPr>
          <a:xfrm>
            <a:off x="5805035" y="3352678"/>
            <a:ext cx="1344600" cy="1344600"/>
          </a:xfrm>
          <a:prstGeom prst="ellipse">
            <a:avLst/>
          </a:prstGeom>
          <a:solidFill>
            <a:srgbClr val="FCE5CD"/>
          </a:solidFill>
          <a:ln cap="flat" cmpd="sng" w="2857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25" name="Google Shape;925;p47"/>
          <p:cNvSpPr/>
          <p:nvPr/>
        </p:nvSpPr>
        <p:spPr>
          <a:xfrm>
            <a:off x="1887583" y="3809999"/>
            <a:ext cx="429900" cy="429900"/>
          </a:xfrm>
          <a:prstGeom prst="ellipse">
            <a:avLst/>
          </a:prstGeom>
          <a:solidFill>
            <a:srgbClr val="FCE5CD"/>
          </a:solidFill>
          <a:ln cap="flat" cmpd="sng" w="2857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26" name="Google Shape;92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we learning in the nearest neighbor</a:t>
            </a:r>
            <a:r>
              <a:rPr lang="en"/>
              <a:t> model?</a:t>
            </a:r>
            <a:endParaRPr/>
          </a:p>
        </p:txBody>
      </p:sp>
      <p:sp>
        <p:nvSpPr>
          <p:cNvPr id="927" name="Google Shape;927;p47"/>
          <p:cNvSpPr txBox="1"/>
          <p:nvPr>
            <p:ph idx="1" type="body"/>
          </p:nvPr>
        </p:nvSpPr>
        <p:spPr>
          <a:xfrm>
            <a:off x="311700" y="1152475"/>
            <a:ext cx="6419700" cy="19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(number of neighbors) or </a:t>
            </a:r>
            <a:r>
              <a:rPr i="1" lang="en"/>
              <a:t>r</a:t>
            </a:r>
            <a:r>
              <a:rPr lang="en"/>
              <a:t> (radius of neighborhood)</a:t>
            </a:r>
            <a:endParaRPr/>
          </a:p>
        </p:txBody>
      </p:sp>
      <p:cxnSp>
        <p:nvCxnSpPr>
          <p:cNvPr id="928" name="Google Shape;928;p47"/>
          <p:cNvCxnSpPr/>
          <p:nvPr/>
        </p:nvCxnSpPr>
        <p:spPr>
          <a:xfrm>
            <a:off x="2303455" y="2950932"/>
            <a:ext cx="0" cy="1820077"/>
          </a:xfrm>
          <a:prstGeom prst="straightConnector1">
            <a:avLst/>
          </a:prstGeom>
          <a:noFill/>
          <a:ln cap="flat" cmpd="sng" w="117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29" name="Google Shape;929;p47"/>
          <p:cNvCxnSpPr/>
          <p:nvPr/>
        </p:nvCxnSpPr>
        <p:spPr>
          <a:xfrm>
            <a:off x="767111" y="3884216"/>
            <a:ext cx="3133694" cy="0"/>
          </a:xfrm>
          <a:prstGeom prst="straightConnector1">
            <a:avLst/>
          </a:prstGeom>
          <a:noFill/>
          <a:ln cap="flat" cmpd="sng" w="117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30" name="Google Shape;930;p47"/>
          <p:cNvSpPr/>
          <p:nvPr/>
        </p:nvSpPr>
        <p:spPr>
          <a:xfrm>
            <a:off x="2601419" y="3080150"/>
            <a:ext cx="215804" cy="215804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31" name="Google Shape;931;p47"/>
          <p:cNvSpPr/>
          <p:nvPr/>
        </p:nvSpPr>
        <p:spPr>
          <a:xfrm>
            <a:off x="2692026" y="3328699"/>
            <a:ext cx="215804" cy="215804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32" name="Google Shape;932;p47"/>
          <p:cNvSpPr/>
          <p:nvPr/>
        </p:nvSpPr>
        <p:spPr>
          <a:xfrm>
            <a:off x="2940576" y="3146498"/>
            <a:ext cx="215804" cy="215804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33" name="Google Shape;933;p47"/>
          <p:cNvSpPr/>
          <p:nvPr/>
        </p:nvSpPr>
        <p:spPr>
          <a:xfrm>
            <a:off x="1846605" y="3398461"/>
            <a:ext cx="215804" cy="215804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34" name="Google Shape;934;p47"/>
          <p:cNvSpPr/>
          <p:nvPr/>
        </p:nvSpPr>
        <p:spPr>
          <a:xfrm>
            <a:off x="2669482" y="3977248"/>
            <a:ext cx="215804" cy="215804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35" name="Google Shape;935;p47"/>
          <p:cNvSpPr/>
          <p:nvPr/>
        </p:nvSpPr>
        <p:spPr>
          <a:xfrm>
            <a:off x="2437016" y="4193070"/>
            <a:ext cx="215804" cy="215804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36" name="Google Shape;936;p47"/>
          <p:cNvSpPr/>
          <p:nvPr/>
        </p:nvSpPr>
        <p:spPr>
          <a:xfrm>
            <a:off x="3374759" y="4114964"/>
            <a:ext cx="215804" cy="215804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37" name="Google Shape;937;p47"/>
          <p:cNvSpPr/>
          <p:nvPr/>
        </p:nvSpPr>
        <p:spPr>
          <a:xfrm>
            <a:off x="2959226" y="3685081"/>
            <a:ext cx="215804" cy="215804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38" name="Google Shape;938;p47"/>
          <p:cNvSpPr/>
          <p:nvPr/>
        </p:nvSpPr>
        <p:spPr>
          <a:xfrm>
            <a:off x="1685771" y="3977248"/>
            <a:ext cx="215804" cy="215804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39" name="Google Shape;939;p47"/>
          <p:cNvSpPr/>
          <p:nvPr/>
        </p:nvSpPr>
        <p:spPr>
          <a:xfrm>
            <a:off x="1901596" y="4286102"/>
            <a:ext cx="215804" cy="215804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40" name="Google Shape;940;p47"/>
          <p:cNvSpPr/>
          <p:nvPr/>
        </p:nvSpPr>
        <p:spPr>
          <a:xfrm>
            <a:off x="1755272" y="4408893"/>
            <a:ext cx="215804" cy="215804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41" name="Google Shape;941;p47"/>
          <p:cNvSpPr/>
          <p:nvPr/>
        </p:nvSpPr>
        <p:spPr>
          <a:xfrm>
            <a:off x="1870987" y="4501925"/>
            <a:ext cx="215804" cy="215804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42" name="Google Shape;942;p47"/>
          <p:cNvSpPr/>
          <p:nvPr/>
        </p:nvSpPr>
        <p:spPr>
          <a:xfrm>
            <a:off x="2086811" y="4431004"/>
            <a:ext cx="215804" cy="215804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43" name="Google Shape;943;p47"/>
          <p:cNvSpPr/>
          <p:nvPr/>
        </p:nvSpPr>
        <p:spPr>
          <a:xfrm>
            <a:off x="1269249" y="4114964"/>
            <a:ext cx="215804" cy="215804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44" name="Google Shape;944;p47"/>
          <p:cNvSpPr/>
          <p:nvPr/>
        </p:nvSpPr>
        <p:spPr>
          <a:xfrm>
            <a:off x="853716" y="4330787"/>
            <a:ext cx="215804" cy="215804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45" name="Google Shape;945;p47"/>
          <p:cNvSpPr/>
          <p:nvPr/>
        </p:nvSpPr>
        <p:spPr>
          <a:xfrm>
            <a:off x="1016326" y="4193070"/>
            <a:ext cx="215804" cy="215804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46" name="Google Shape;946;p47"/>
          <p:cNvSpPr/>
          <p:nvPr/>
        </p:nvSpPr>
        <p:spPr>
          <a:xfrm>
            <a:off x="1232150" y="3488912"/>
            <a:ext cx="215804" cy="215804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47" name="Google Shape;947;p47"/>
          <p:cNvSpPr/>
          <p:nvPr/>
        </p:nvSpPr>
        <p:spPr>
          <a:xfrm>
            <a:off x="1447975" y="3813959"/>
            <a:ext cx="215804" cy="215804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48" name="Google Shape;948;p47"/>
          <p:cNvSpPr/>
          <p:nvPr/>
        </p:nvSpPr>
        <p:spPr>
          <a:xfrm>
            <a:off x="2353440" y="3900903"/>
            <a:ext cx="215804" cy="215804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49" name="Google Shape;949;p47"/>
          <p:cNvSpPr/>
          <p:nvPr/>
        </p:nvSpPr>
        <p:spPr>
          <a:xfrm>
            <a:off x="3250144" y="3201211"/>
            <a:ext cx="215804" cy="215804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50" name="Google Shape;950;p47"/>
          <p:cNvSpPr/>
          <p:nvPr/>
        </p:nvSpPr>
        <p:spPr>
          <a:xfrm>
            <a:off x="3793522" y="2950932"/>
            <a:ext cx="215804" cy="215804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51" name="Google Shape;951;p47"/>
          <p:cNvSpPr/>
          <p:nvPr/>
        </p:nvSpPr>
        <p:spPr>
          <a:xfrm>
            <a:off x="1663799" y="3207623"/>
            <a:ext cx="215804" cy="215804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52" name="Google Shape;952;p47"/>
          <p:cNvSpPr/>
          <p:nvPr/>
        </p:nvSpPr>
        <p:spPr>
          <a:xfrm>
            <a:off x="2325009" y="3146498"/>
            <a:ext cx="215804" cy="215804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53" name="Google Shape;953;p47"/>
          <p:cNvSpPr/>
          <p:nvPr/>
        </p:nvSpPr>
        <p:spPr>
          <a:xfrm>
            <a:off x="3123489" y="4516990"/>
            <a:ext cx="215804" cy="215804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54" name="Google Shape;954;p47"/>
          <p:cNvSpPr/>
          <p:nvPr/>
        </p:nvSpPr>
        <p:spPr>
          <a:xfrm>
            <a:off x="1630780" y="2794859"/>
            <a:ext cx="215804" cy="215804"/>
          </a:xfrm>
          <a:prstGeom prst="mathMinus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55" name="Google Shape;955;p47"/>
          <p:cNvSpPr/>
          <p:nvPr/>
        </p:nvSpPr>
        <p:spPr>
          <a:xfrm>
            <a:off x="2003677" y="3923812"/>
            <a:ext cx="197658" cy="197658"/>
          </a:xfrm>
          <a:prstGeom prst="ellipse">
            <a:avLst/>
          </a:prstGeom>
          <a:solidFill>
            <a:srgbClr val="FFF2CC"/>
          </a:solidFill>
          <a:ln cap="flat" cmpd="sng" w="176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60">
                <a:latin typeface="Roboto"/>
                <a:ea typeface="Roboto"/>
                <a:cs typeface="Roboto"/>
                <a:sym typeface="Roboto"/>
              </a:rPr>
              <a:t>?</a:t>
            </a:r>
            <a:endParaRPr b="1" sz="136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56" name="Google Shape;956;p47"/>
          <p:cNvGrpSpPr/>
          <p:nvPr/>
        </p:nvGrpSpPr>
        <p:grpSpPr>
          <a:xfrm>
            <a:off x="5134686" y="2794859"/>
            <a:ext cx="3242215" cy="1976149"/>
            <a:chOff x="1014525" y="3173614"/>
            <a:chExt cx="3001773" cy="1829598"/>
          </a:xfrm>
        </p:grpSpPr>
        <p:cxnSp>
          <p:nvCxnSpPr>
            <p:cNvPr id="957" name="Google Shape;957;p47"/>
            <p:cNvCxnSpPr/>
            <p:nvPr/>
          </p:nvCxnSpPr>
          <p:spPr>
            <a:xfrm>
              <a:off x="2436934" y="3318112"/>
              <a:ext cx="0" cy="1685100"/>
            </a:xfrm>
            <a:prstGeom prst="straightConnector1">
              <a:avLst/>
            </a:prstGeom>
            <a:noFill/>
            <a:ln cap="flat" cmpd="sng" w="1177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58" name="Google Shape;958;p47"/>
            <p:cNvCxnSpPr/>
            <p:nvPr/>
          </p:nvCxnSpPr>
          <p:spPr>
            <a:xfrm>
              <a:off x="1014525" y="4182184"/>
              <a:ext cx="2901300" cy="0"/>
            </a:xfrm>
            <a:prstGeom prst="straightConnector1">
              <a:avLst/>
            </a:prstGeom>
            <a:noFill/>
            <a:ln cap="flat" cmpd="sng" w="1177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59" name="Google Shape;959;p47"/>
            <p:cNvSpPr/>
            <p:nvPr/>
          </p:nvSpPr>
          <p:spPr>
            <a:xfrm>
              <a:off x="2712801" y="3437748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60" name="Google Shape;960;p47"/>
            <p:cNvSpPr/>
            <p:nvPr/>
          </p:nvSpPr>
          <p:spPr>
            <a:xfrm>
              <a:off x="2796689" y="3667864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61" name="Google Shape;961;p47"/>
            <p:cNvSpPr/>
            <p:nvPr/>
          </p:nvSpPr>
          <p:spPr>
            <a:xfrm>
              <a:off x="3026807" y="3499175"/>
              <a:ext cx="199800" cy="199800"/>
            </a:xfrm>
            <a:prstGeom prst="mathMinus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62" name="Google Shape;962;p47"/>
            <p:cNvSpPr/>
            <p:nvPr/>
          </p:nvSpPr>
          <p:spPr>
            <a:xfrm>
              <a:off x="2013964" y="3732453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63" name="Google Shape;963;p47"/>
            <p:cNvSpPr/>
            <p:nvPr/>
          </p:nvSpPr>
          <p:spPr>
            <a:xfrm>
              <a:off x="2775817" y="426831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64" name="Google Shape;964;p47"/>
            <p:cNvSpPr/>
            <p:nvPr/>
          </p:nvSpPr>
          <p:spPr>
            <a:xfrm>
              <a:off x="2560591" y="4468134"/>
              <a:ext cx="199800" cy="199800"/>
            </a:xfrm>
            <a:prstGeom prst="mathMinus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65" name="Google Shape;965;p47"/>
            <p:cNvSpPr/>
            <p:nvPr/>
          </p:nvSpPr>
          <p:spPr>
            <a:xfrm>
              <a:off x="3428791" y="4395820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66" name="Google Shape;966;p47"/>
            <p:cNvSpPr/>
            <p:nvPr/>
          </p:nvSpPr>
          <p:spPr>
            <a:xfrm>
              <a:off x="3044073" y="399781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67" name="Google Shape;967;p47"/>
            <p:cNvSpPr/>
            <p:nvPr/>
          </p:nvSpPr>
          <p:spPr>
            <a:xfrm>
              <a:off x="1865058" y="426831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68" name="Google Shape;968;p47"/>
            <p:cNvSpPr/>
            <p:nvPr/>
          </p:nvSpPr>
          <p:spPr>
            <a:xfrm>
              <a:off x="2064877" y="4554266"/>
              <a:ext cx="199800" cy="199800"/>
            </a:xfrm>
            <a:prstGeom prst="mathMinus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69" name="Google Shape;969;p47"/>
            <p:cNvSpPr/>
            <p:nvPr/>
          </p:nvSpPr>
          <p:spPr>
            <a:xfrm>
              <a:off x="1929404" y="4667951"/>
              <a:ext cx="199800" cy="199800"/>
            </a:xfrm>
            <a:prstGeom prst="mathMinus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70" name="Google Shape;970;p47"/>
            <p:cNvSpPr/>
            <p:nvPr/>
          </p:nvSpPr>
          <p:spPr>
            <a:xfrm>
              <a:off x="2036538" y="4754084"/>
              <a:ext cx="199800" cy="199800"/>
            </a:xfrm>
            <a:prstGeom prst="mathMinus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71" name="Google Shape;971;p47"/>
            <p:cNvSpPr/>
            <p:nvPr/>
          </p:nvSpPr>
          <p:spPr>
            <a:xfrm>
              <a:off x="2236357" y="4688422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72" name="Google Shape;972;p47"/>
            <p:cNvSpPr/>
            <p:nvPr/>
          </p:nvSpPr>
          <p:spPr>
            <a:xfrm>
              <a:off x="1479425" y="4395820"/>
              <a:ext cx="199800" cy="199800"/>
            </a:xfrm>
            <a:prstGeom prst="mathMinus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73" name="Google Shape;973;p47"/>
            <p:cNvSpPr/>
            <p:nvPr/>
          </p:nvSpPr>
          <p:spPr>
            <a:xfrm>
              <a:off x="1094707" y="4595638"/>
              <a:ext cx="199800" cy="199800"/>
            </a:xfrm>
            <a:prstGeom prst="mathMinus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74" name="Google Shape;974;p47"/>
            <p:cNvSpPr/>
            <p:nvPr/>
          </p:nvSpPr>
          <p:spPr>
            <a:xfrm>
              <a:off x="1245258" y="4468134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75" name="Google Shape;975;p47"/>
            <p:cNvSpPr/>
            <p:nvPr/>
          </p:nvSpPr>
          <p:spPr>
            <a:xfrm>
              <a:off x="1445077" y="3816196"/>
              <a:ext cx="199800" cy="199800"/>
            </a:xfrm>
            <a:prstGeom prst="mathMinus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76" name="Google Shape;976;p47"/>
            <p:cNvSpPr/>
            <p:nvPr/>
          </p:nvSpPr>
          <p:spPr>
            <a:xfrm>
              <a:off x="1644896" y="4117138"/>
              <a:ext cx="199800" cy="199800"/>
            </a:xfrm>
            <a:prstGeom prst="mathMinus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77" name="Google Shape;977;p47"/>
            <p:cNvSpPr/>
            <p:nvPr/>
          </p:nvSpPr>
          <p:spPr>
            <a:xfrm>
              <a:off x="2483212" y="4197634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78" name="Google Shape;978;p47"/>
            <p:cNvSpPr/>
            <p:nvPr/>
          </p:nvSpPr>
          <p:spPr>
            <a:xfrm>
              <a:off x="3313417" y="3549830"/>
              <a:ext cx="199800" cy="199800"/>
            </a:xfrm>
            <a:prstGeom prst="mathMinus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79" name="Google Shape;979;p47"/>
            <p:cNvSpPr/>
            <p:nvPr/>
          </p:nvSpPr>
          <p:spPr>
            <a:xfrm>
              <a:off x="3816498" y="3318112"/>
              <a:ext cx="199800" cy="199800"/>
            </a:xfrm>
            <a:prstGeom prst="mathMinus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80" name="Google Shape;980;p47"/>
            <p:cNvSpPr/>
            <p:nvPr/>
          </p:nvSpPr>
          <p:spPr>
            <a:xfrm>
              <a:off x="1844715" y="355576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81" name="Google Shape;981;p47"/>
            <p:cNvSpPr/>
            <p:nvPr/>
          </p:nvSpPr>
          <p:spPr>
            <a:xfrm>
              <a:off x="2456890" y="3499175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82" name="Google Shape;982;p47"/>
            <p:cNvSpPr/>
            <p:nvPr/>
          </p:nvSpPr>
          <p:spPr>
            <a:xfrm>
              <a:off x="3196155" y="4768031"/>
              <a:ext cx="199800" cy="199800"/>
            </a:xfrm>
            <a:prstGeom prst="mathMinus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83" name="Google Shape;983;p47"/>
            <p:cNvSpPr/>
            <p:nvPr/>
          </p:nvSpPr>
          <p:spPr>
            <a:xfrm>
              <a:off x="1814145" y="3173614"/>
              <a:ext cx="199800" cy="199800"/>
            </a:xfrm>
            <a:prstGeom prst="mathMinus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84" name="Google Shape;984;p47"/>
            <p:cNvSpPr/>
            <p:nvPr/>
          </p:nvSpPr>
          <p:spPr>
            <a:xfrm>
              <a:off x="2159388" y="4218844"/>
              <a:ext cx="183000" cy="183000"/>
            </a:xfrm>
            <a:prstGeom prst="ellipse">
              <a:avLst/>
            </a:prstGeom>
            <a:solidFill>
              <a:srgbClr val="FFF2CC"/>
            </a:solidFill>
            <a:ln cap="flat" cmpd="sng" w="176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60">
                  <a:latin typeface="Roboto"/>
                  <a:ea typeface="Roboto"/>
                  <a:cs typeface="Roboto"/>
                  <a:sym typeface="Roboto"/>
                </a:rPr>
                <a:t>?</a:t>
              </a:r>
              <a:endParaRPr b="1" sz="136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48"/>
          <p:cNvSpPr/>
          <p:nvPr/>
        </p:nvSpPr>
        <p:spPr>
          <a:xfrm>
            <a:off x="743403" y="2680422"/>
            <a:ext cx="2689200" cy="2689200"/>
          </a:xfrm>
          <a:prstGeom prst="ellipse">
            <a:avLst/>
          </a:prstGeom>
          <a:gradFill>
            <a:gsLst>
              <a:gs pos="0">
                <a:srgbClr val="B45F06"/>
              </a:gs>
              <a:gs pos="26000">
                <a:srgbClr val="DAAF83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90" name="Google Shape;990;p48"/>
          <p:cNvSpPr/>
          <p:nvPr/>
        </p:nvSpPr>
        <p:spPr>
          <a:xfrm>
            <a:off x="5024124" y="2571751"/>
            <a:ext cx="2906400" cy="2906400"/>
          </a:xfrm>
          <a:prstGeom prst="ellipse">
            <a:avLst/>
          </a:prstGeom>
          <a:gradFill>
            <a:gsLst>
              <a:gs pos="0">
                <a:srgbClr val="B45F06"/>
              </a:gs>
              <a:gs pos="84000">
                <a:srgbClr val="DAAF83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91" name="Google Shape;99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we learning in the nearest neighbor model?</a:t>
            </a:r>
            <a:endParaRPr/>
          </a:p>
        </p:txBody>
      </p:sp>
      <p:sp>
        <p:nvSpPr>
          <p:cNvPr id="992" name="Google Shape;992;p48"/>
          <p:cNvSpPr txBox="1"/>
          <p:nvPr>
            <p:ph idx="1" type="body"/>
          </p:nvPr>
        </p:nvSpPr>
        <p:spPr>
          <a:xfrm>
            <a:off x="311700" y="1152475"/>
            <a:ext cx="6419700" cy="19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(number of neighbors) or </a:t>
            </a:r>
            <a:r>
              <a:rPr i="1" lang="en"/>
              <a:t>r</a:t>
            </a:r>
            <a:r>
              <a:rPr lang="en"/>
              <a:t> (radius of neighborhood)?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Kernel function (weighting distant vs. close neighbors)?</a:t>
            </a:r>
            <a:endParaRPr/>
          </a:p>
        </p:txBody>
      </p:sp>
      <p:grpSp>
        <p:nvGrpSpPr>
          <p:cNvPr id="993" name="Google Shape;993;p48"/>
          <p:cNvGrpSpPr/>
          <p:nvPr/>
        </p:nvGrpSpPr>
        <p:grpSpPr>
          <a:xfrm>
            <a:off x="767111" y="2794859"/>
            <a:ext cx="3242215" cy="1976149"/>
            <a:chOff x="1014525" y="3173614"/>
            <a:chExt cx="3001773" cy="1829598"/>
          </a:xfrm>
        </p:grpSpPr>
        <p:cxnSp>
          <p:nvCxnSpPr>
            <p:cNvPr id="994" name="Google Shape;994;p48"/>
            <p:cNvCxnSpPr/>
            <p:nvPr/>
          </p:nvCxnSpPr>
          <p:spPr>
            <a:xfrm>
              <a:off x="2436934" y="3318112"/>
              <a:ext cx="0" cy="1685100"/>
            </a:xfrm>
            <a:prstGeom prst="straightConnector1">
              <a:avLst/>
            </a:prstGeom>
            <a:noFill/>
            <a:ln cap="flat" cmpd="sng" w="1177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95" name="Google Shape;995;p48"/>
            <p:cNvCxnSpPr/>
            <p:nvPr/>
          </p:nvCxnSpPr>
          <p:spPr>
            <a:xfrm>
              <a:off x="1014525" y="4182184"/>
              <a:ext cx="2901300" cy="0"/>
            </a:xfrm>
            <a:prstGeom prst="straightConnector1">
              <a:avLst/>
            </a:prstGeom>
            <a:noFill/>
            <a:ln cap="flat" cmpd="sng" w="1177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96" name="Google Shape;996;p48"/>
            <p:cNvSpPr/>
            <p:nvPr/>
          </p:nvSpPr>
          <p:spPr>
            <a:xfrm>
              <a:off x="2712801" y="3437748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97" name="Google Shape;997;p48"/>
            <p:cNvSpPr/>
            <p:nvPr/>
          </p:nvSpPr>
          <p:spPr>
            <a:xfrm>
              <a:off x="2796689" y="3667864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98" name="Google Shape;998;p48"/>
            <p:cNvSpPr/>
            <p:nvPr/>
          </p:nvSpPr>
          <p:spPr>
            <a:xfrm>
              <a:off x="3026807" y="3499175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99" name="Google Shape;999;p48"/>
            <p:cNvSpPr/>
            <p:nvPr/>
          </p:nvSpPr>
          <p:spPr>
            <a:xfrm>
              <a:off x="2013964" y="3732453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00" name="Google Shape;1000;p48"/>
            <p:cNvSpPr/>
            <p:nvPr/>
          </p:nvSpPr>
          <p:spPr>
            <a:xfrm>
              <a:off x="2775817" y="426831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01" name="Google Shape;1001;p48"/>
            <p:cNvSpPr/>
            <p:nvPr/>
          </p:nvSpPr>
          <p:spPr>
            <a:xfrm>
              <a:off x="2560591" y="4468134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02" name="Google Shape;1002;p48"/>
            <p:cNvSpPr/>
            <p:nvPr/>
          </p:nvSpPr>
          <p:spPr>
            <a:xfrm>
              <a:off x="3428791" y="4395820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03" name="Google Shape;1003;p48"/>
            <p:cNvSpPr/>
            <p:nvPr/>
          </p:nvSpPr>
          <p:spPr>
            <a:xfrm>
              <a:off x="3044073" y="399781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04" name="Google Shape;1004;p48"/>
            <p:cNvSpPr/>
            <p:nvPr/>
          </p:nvSpPr>
          <p:spPr>
            <a:xfrm>
              <a:off x="1865058" y="426831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05" name="Google Shape;1005;p48"/>
            <p:cNvSpPr/>
            <p:nvPr/>
          </p:nvSpPr>
          <p:spPr>
            <a:xfrm>
              <a:off x="2064877" y="4554266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06" name="Google Shape;1006;p48"/>
            <p:cNvSpPr/>
            <p:nvPr/>
          </p:nvSpPr>
          <p:spPr>
            <a:xfrm>
              <a:off x="1929404" y="4667951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07" name="Google Shape;1007;p48"/>
            <p:cNvSpPr/>
            <p:nvPr/>
          </p:nvSpPr>
          <p:spPr>
            <a:xfrm>
              <a:off x="2036538" y="4754084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08" name="Google Shape;1008;p48"/>
            <p:cNvSpPr/>
            <p:nvPr/>
          </p:nvSpPr>
          <p:spPr>
            <a:xfrm>
              <a:off x="2236357" y="4688422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09" name="Google Shape;1009;p48"/>
            <p:cNvSpPr/>
            <p:nvPr/>
          </p:nvSpPr>
          <p:spPr>
            <a:xfrm>
              <a:off x="1479425" y="4395820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10" name="Google Shape;1010;p48"/>
            <p:cNvSpPr/>
            <p:nvPr/>
          </p:nvSpPr>
          <p:spPr>
            <a:xfrm>
              <a:off x="1094707" y="4595638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11" name="Google Shape;1011;p48"/>
            <p:cNvSpPr/>
            <p:nvPr/>
          </p:nvSpPr>
          <p:spPr>
            <a:xfrm>
              <a:off x="1245258" y="4468134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12" name="Google Shape;1012;p48"/>
            <p:cNvSpPr/>
            <p:nvPr/>
          </p:nvSpPr>
          <p:spPr>
            <a:xfrm>
              <a:off x="1445077" y="3816196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13" name="Google Shape;1013;p48"/>
            <p:cNvSpPr/>
            <p:nvPr/>
          </p:nvSpPr>
          <p:spPr>
            <a:xfrm>
              <a:off x="1644896" y="4117138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14" name="Google Shape;1014;p48"/>
            <p:cNvSpPr/>
            <p:nvPr/>
          </p:nvSpPr>
          <p:spPr>
            <a:xfrm>
              <a:off x="2483212" y="4197634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15" name="Google Shape;1015;p48"/>
            <p:cNvSpPr/>
            <p:nvPr/>
          </p:nvSpPr>
          <p:spPr>
            <a:xfrm>
              <a:off x="3313417" y="3549830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16" name="Google Shape;1016;p48"/>
            <p:cNvSpPr/>
            <p:nvPr/>
          </p:nvSpPr>
          <p:spPr>
            <a:xfrm>
              <a:off x="3816498" y="3318112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17" name="Google Shape;1017;p48"/>
            <p:cNvSpPr/>
            <p:nvPr/>
          </p:nvSpPr>
          <p:spPr>
            <a:xfrm>
              <a:off x="1844715" y="355576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18" name="Google Shape;1018;p48"/>
            <p:cNvSpPr/>
            <p:nvPr/>
          </p:nvSpPr>
          <p:spPr>
            <a:xfrm>
              <a:off x="2456890" y="3499175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19" name="Google Shape;1019;p48"/>
            <p:cNvSpPr/>
            <p:nvPr/>
          </p:nvSpPr>
          <p:spPr>
            <a:xfrm>
              <a:off x="3196155" y="4768031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20" name="Google Shape;1020;p48"/>
            <p:cNvSpPr/>
            <p:nvPr/>
          </p:nvSpPr>
          <p:spPr>
            <a:xfrm>
              <a:off x="1814145" y="3173614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21" name="Google Shape;1021;p48"/>
            <p:cNvSpPr/>
            <p:nvPr/>
          </p:nvSpPr>
          <p:spPr>
            <a:xfrm>
              <a:off x="2159388" y="4218844"/>
              <a:ext cx="183000" cy="183000"/>
            </a:xfrm>
            <a:prstGeom prst="ellipse">
              <a:avLst/>
            </a:prstGeom>
            <a:solidFill>
              <a:srgbClr val="FFF2CC"/>
            </a:solidFill>
            <a:ln cap="flat" cmpd="sng" w="176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60">
                  <a:latin typeface="Roboto"/>
                  <a:ea typeface="Roboto"/>
                  <a:cs typeface="Roboto"/>
                  <a:sym typeface="Roboto"/>
                </a:rPr>
                <a:t>?</a:t>
              </a:r>
              <a:endParaRPr b="1" sz="136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22" name="Google Shape;1022;p48"/>
          <p:cNvGrpSpPr/>
          <p:nvPr/>
        </p:nvGrpSpPr>
        <p:grpSpPr>
          <a:xfrm>
            <a:off x="5134686" y="2794859"/>
            <a:ext cx="3242215" cy="1976149"/>
            <a:chOff x="1014525" y="3173614"/>
            <a:chExt cx="3001773" cy="1829598"/>
          </a:xfrm>
        </p:grpSpPr>
        <p:cxnSp>
          <p:nvCxnSpPr>
            <p:cNvPr id="1023" name="Google Shape;1023;p48"/>
            <p:cNvCxnSpPr/>
            <p:nvPr/>
          </p:nvCxnSpPr>
          <p:spPr>
            <a:xfrm>
              <a:off x="2436934" y="3318112"/>
              <a:ext cx="0" cy="1685100"/>
            </a:xfrm>
            <a:prstGeom prst="straightConnector1">
              <a:avLst/>
            </a:prstGeom>
            <a:noFill/>
            <a:ln cap="flat" cmpd="sng" w="1177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24" name="Google Shape;1024;p48"/>
            <p:cNvCxnSpPr/>
            <p:nvPr/>
          </p:nvCxnSpPr>
          <p:spPr>
            <a:xfrm>
              <a:off x="1014525" y="4182184"/>
              <a:ext cx="2901300" cy="0"/>
            </a:xfrm>
            <a:prstGeom prst="straightConnector1">
              <a:avLst/>
            </a:prstGeom>
            <a:noFill/>
            <a:ln cap="flat" cmpd="sng" w="1177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25" name="Google Shape;1025;p48"/>
            <p:cNvSpPr/>
            <p:nvPr/>
          </p:nvSpPr>
          <p:spPr>
            <a:xfrm>
              <a:off x="2712801" y="3437748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26" name="Google Shape;1026;p48"/>
            <p:cNvSpPr/>
            <p:nvPr/>
          </p:nvSpPr>
          <p:spPr>
            <a:xfrm>
              <a:off x="2796689" y="3667864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27" name="Google Shape;1027;p48"/>
            <p:cNvSpPr/>
            <p:nvPr/>
          </p:nvSpPr>
          <p:spPr>
            <a:xfrm>
              <a:off x="3026807" y="3499175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28" name="Google Shape;1028;p48"/>
            <p:cNvSpPr/>
            <p:nvPr/>
          </p:nvSpPr>
          <p:spPr>
            <a:xfrm>
              <a:off x="2013964" y="3732453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29" name="Google Shape;1029;p48"/>
            <p:cNvSpPr/>
            <p:nvPr/>
          </p:nvSpPr>
          <p:spPr>
            <a:xfrm>
              <a:off x="2775817" y="426831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30" name="Google Shape;1030;p48"/>
            <p:cNvSpPr/>
            <p:nvPr/>
          </p:nvSpPr>
          <p:spPr>
            <a:xfrm>
              <a:off x="2560591" y="4468134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31" name="Google Shape;1031;p48"/>
            <p:cNvSpPr/>
            <p:nvPr/>
          </p:nvSpPr>
          <p:spPr>
            <a:xfrm>
              <a:off x="3428791" y="4395820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32" name="Google Shape;1032;p48"/>
            <p:cNvSpPr/>
            <p:nvPr/>
          </p:nvSpPr>
          <p:spPr>
            <a:xfrm>
              <a:off x="3044073" y="399781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33" name="Google Shape;1033;p48"/>
            <p:cNvSpPr/>
            <p:nvPr/>
          </p:nvSpPr>
          <p:spPr>
            <a:xfrm>
              <a:off x="1865058" y="426831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34" name="Google Shape;1034;p48"/>
            <p:cNvSpPr/>
            <p:nvPr/>
          </p:nvSpPr>
          <p:spPr>
            <a:xfrm>
              <a:off x="2064877" y="4554266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35" name="Google Shape;1035;p48"/>
            <p:cNvSpPr/>
            <p:nvPr/>
          </p:nvSpPr>
          <p:spPr>
            <a:xfrm>
              <a:off x="1929404" y="4667951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36" name="Google Shape;1036;p48"/>
            <p:cNvSpPr/>
            <p:nvPr/>
          </p:nvSpPr>
          <p:spPr>
            <a:xfrm>
              <a:off x="2036538" y="4754084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37" name="Google Shape;1037;p48"/>
            <p:cNvSpPr/>
            <p:nvPr/>
          </p:nvSpPr>
          <p:spPr>
            <a:xfrm>
              <a:off x="2236357" y="4688422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38" name="Google Shape;1038;p48"/>
            <p:cNvSpPr/>
            <p:nvPr/>
          </p:nvSpPr>
          <p:spPr>
            <a:xfrm>
              <a:off x="1479425" y="4395820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39" name="Google Shape;1039;p48"/>
            <p:cNvSpPr/>
            <p:nvPr/>
          </p:nvSpPr>
          <p:spPr>
            <a:xfrm>
              <a:off x="1094707" y="4595638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40" name="Google Shape;1040;p48"/>
            <p:cNvSpPr/>
            <p:nvPr/>
          </p:nvSpPr>
          <p:spPr>
            <a:xfrm>
              <a:off x="1245258" y="4468134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41" name="Google Shape;1041;p48"/>
            <p:cNvSpPr/>
            <p:nvPr/>
          </p:nvSpPr>
          <p:spPr>
            <a:xfrm>
              <a:off x="1445077" y="3816196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42" name="Google Shape;1042;p48"/>
            <p:cNvSpPr/>
            <p:nvPr/>
          </p:nvSpPr>
          <p:spPr>
            <a:xfrm>
              <a:off x="1644896" y="4117138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43" name="Google Shape;1043;p48"/>
            <p:cNvSpPr/>
            <p:nvPr/>
          </p:nvSpPr>
          <p:spPr>
            <a:xfrm>
              <a:off x="2483212" y="4197634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44" name="Google Shape;1044;p48"/>
            <p:cNvSpPr/>
            <p:nvPr/>
          </p:nvSpPr>
          <p:spPr>
            <a:xfrm>
              <a:off x="3313417" y="3549830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45" name="Google Shape;1045;p48"/>
            <p:cNvSpPr/>
            <p:nvPr/>
          </p:nvSpPr>
          <p:spPr>
            <a:xfrm>
              <a:off x="3816498" y="3318112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46" name="Google Shape;1046;p48"/>
            <p:cNvSpPr/>
            <p:nvPr/>
          </p:nvSpPr>
          <p:spPr>
            <a:xfrm>
              <a:off x="1844715" y="355576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47" name="Google Shape;1047;p48"/>
            <p:cNvSpPr/>
            <p:nvPr/>
          </p:nvSpPr>
          <p:spPr>
            <a:xfrm>
              <a:off x="2456890" y="3499175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48" name="Google Shape;1048;p48"/>
            <p:cNvSpPr/>
            <p:nvPr/>
          </p:nvSpPr>
          <p:spPr>
            <a:xfrm>
              <a:off x="3196155" y="4768031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49" name="Google Shape;1049;p48"/>
            <p:cNvSpPr/>
            <p:nvPr/>
          </p:nvSpPr>
          <p:spPr>
            <a:xfrm>
              <a:off x="1814145" y="3173614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50" name="Google Shape;1050;p48"/>
            <p:cNvSpPr/>
            <p:nvPr/>
          </p:nvSpPr>
          <p:spPr>
            <a:xfrm>
              <a:off x="2159388" y="4218844"/>
              <a:ext cx="183000" cy="183000"/>
            </a:xfrm>
            <a:prstGeom prst="ellipse">
              <a:avLst/>
            </a:prstGeom>
            <a:solidFill>
              <a:srgbClr val="FFF2CC"/>
            </a:solidFill>
            <a:ln cap="flat" cmpd="sng" w="176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60">
                  <a:latin typeface="Roboto"/>
                  <a:ea typeface="Roboto"/>
                  <a:cs typeface="Roboto"/>
                  <a:sym typeface="Roboto"/>
                </a:rPr>
                <a:t>?</a:t>
              </a:r>
              <a:endParaRPr b="1" sz="136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we learning in the nearest neighbor model?</a:t>
            </a:r>
            <a:endParaRPr/>
          </a:p>
        </p:txBody>
      </p:sp>
      <p:sp>
        <p:nvSpPr>
          <p:cNvPr id="1056" name="Google Shape;1056;p49"/>
          <p:cNvSpPr txBox="1"/>
          <p:nvPr>
            <p:ph idx="1" type="body"/>
          </p:nvPr>
        </p:nvSpPr>
        <p:spPr>
          <a:xfrm>
            <a:off x="311700" y="1152475"/>
            <a:ext cx="6419700" cy="19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(number of neighbors) or </a:t>
            </a:r>
            <a:r>
              <a:rPr i="1" lang="en"/>
              <a:t>r</a:t>
            </a:r>
            <a:r>
              <a:rPr lang="en"/>
              <a:t> (radius of neighborhood)?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Kernel function (weighting distant vs. close neighbors)?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Distance function itself!</a:t>
            </a:r>
            <a:endParaRPr/>
          </a:p>
        </p:txBody>
      </p:sp>
      <p:grpSp>
        <p:nvGrpSpPr>
          <p:cNvPr id="1057" name="Google Shape;1057;p49"/>
          <p:cNvGrpSpPr/>
          <p:nvPr/>
        </p:nvGrpSpPr>
        <p:grpSpPr>
          <a:xfrm>
            <a:off x="767111" y="2794859"/>
            <a:ext cx="3242215" cy="1976149"/>
            <a:chOff x="1014525" y="3173614"/>
            <a:chExt cx="3001773" cy="1829598"/>
          </a:xfrm>
        </p:grpSpPr>
        <p:cxnSp>
          <p:nvCxnSpPr>
            <p:cNvPr id="1058" name="Google Shape;1058;p49"/>
            <p:cNvCxnSpPr/>
            <p:nvPr/>
          </p:nvCxnSpPr>
          <p:spPr>
            <a:xfrm>
              <a:off x="2436934" y="3318112"/>
              <a:ext cx="0" cy="1685100"/>
            </a:xfrm>
            <a:prstGeom prst="straightConnector1">
              <a:avLst/>
            </a:prstGeom>
            <a:noFill/>
            <a:ln cap="flat" cmpd="sng" w="1177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59" name="Google Shape;1059;p49"/>
            <p:cNvCxnSpPr/>
            <p:nvPr/>
          </p:nvCxnSpPr>
          <p:spPr>
            <a:xfrm>
              <a:off x="1014525" y="4182184"/>
              <a:ext cx="2901300" cy="0"/>
            </a:xfrm>
            <a:prstGeom prst="straightConnector1">
              <a:avLst/>
            </a:prstGeom>
            <a:noFill/>
            <a:ln cap="flat" cmpd="sng" w="1177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060" name="Google Shape;1060;p49"/>
            <p:cNvSpPr/>
            <p:nvPr/>
          </p:nvSpPr>
          <p:spPr>
            <a:xfrm>
              <a:off x="2712801" y="3437748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61" name="Google Shape;1061;p49"/>
            <p:cNvSpPr/>
            <p:nvPr/>
          </p:nvSpPr>
          <p:spPr>
            <a:xfrm>
              <a:off x="2796689" y="3667864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62" name="Google Shape;1062;p49"/>
            <p:cNvSpPr/>
            <p:nvPr/>
          </p:nvSpPr>
          <p:spPr>
            <a:xfrm>
              <a:off x="3026807" y="3499175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63" name="Google Shape;1063;p49"/>
            <p:cNvSpPr/>
            <p:nvPr/>
          </p:nvSpPr>
          <p:spPr>
            <a:xfrm>
              <a:off x="2013964" y="3732453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64" name="Google Shape;1064;p49"/>
            <p:cNvSpPr/>
            <p:nvPr/>
          </p:nvSpPr>
          <p:spPr>
            <a:xfrm>
              <a:off x="2775817" y="426831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65" name="Google Shape;1065;p49"/>
            <p:cNvSpPr/>
            <p:nvPr/>
          </p:nvSpPr>
          <p:spPr>
            <a:xfrm>
              <a:off x="2560591" y="4468134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66" name="Google Shape;1066;p49"/>
            <p:cNvSpPr/>
            <p:nvPr/>
          </p:nvSpPr>
          <p:spPr>
            <a:xfrm>
              <a:off x="3428791" y="4395820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67" name="Google Shape;1067;p49"/>
            <p:cNvSpPr/>
            <p:nvPr/>
          </p:nvSpPr>
          <p:spPr>
            <a:xfrm>
              <a:off x="3044073" y="399781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68" name="Google Shape;1068;p49"/>
            <p:cNvSpPr/>
            <p:nvPr/>
          </p:nvSpPr>
          <p:spPr>
            <a:xfrm>
              <a:off x="1865058" y="426831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69" name="Google Shape;1069;p49"/>
            <p:cNvSpPr/>
            <p:nvPr/>
          </p:nvSpPr>
          <p:spPr>
            <a:xfrm>
              <a:off x="2064877" y="4554266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70" name="Google Shape;1070;p49"/>
            <p:cNvSpPr/>
            <p:nvPr/>
          </p:nvSpPr>
          <p:spPr>
            <a:xfrm>
              <a:off x="1929404" y="4667951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71" name="Google Shape;1071;p49"/>
            <p:cNvSpPr/>
            <p:nvPr/>
          </p:nvSpPr>
          <p:spPr>
            <a:xfrm>
              <a:off x="2036538" y="4754084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72" name="Google Shape;1072;p49"/>
            <p:cNvSpPr/>
            <p:nvPr/>
          </p:nvSpPr>
          <p:spPr>
            <a:xfrm>
              <a:off x="2236357" y="4688422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73" name="Google Shape;1073;p49"/>
            <p:cNvSpPr/>
            <p:nvPr/>
          </p:nvSpPr>
          <p:spPr>
            <a:xfrm>
              <a:off x="1479425" y="4395820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74" name="Google Shape;1074;p49"/>
            <p:cNvSpPr/>
            <p:nvPr/>
          </p:nvSpPr>
          <p:spPr>
            <a:xfrm>
              <a:off x="1094707" y="4595638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75" name="Google Shape;1075;p49"/>
            <p:cNvSpPr/>
            <p:nvPr/>
          </p:nvSpPr>
          <p:spPr>
            <a:xfrm>
              <a:off x="1245258" y="4468134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76" name="Google Shape;1076;p49"/>
            <p:cNvSpPr/>
            <p:nvPr/>
          </p:nvSpPr>
          <p:spPr>
            <a:xfrm>
              <a:off x="1445077" y="3816196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77" name="Google Shape;1077;p49"/>
            <p:cNvSpPr/>
            <p:nvPr/>
          </p:nvSpPr>
          <p:spPr>
            <a:xfrm>
              <a:off x="1644896" y="4117138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78" name="Google Shape;1078;p49"/>
            <p:cNvSpPr/>
            <p:nvPr/>
          </p:nvSpPr>
          <p:spPr>
            <a:xfrm>
              <a:off x="2483212" y="4197634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79" name="Google Shape;1079;p49"/>
            <p:cNvSpPr/>
            <p:nvPr/>
          </p:nvSpPr>
          <p:spPr>
            <a:xfrm>
              <a:off x="3313417" y="3549830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80" name="Google Shape;1080;p49"/>
            <p:cNvSpPr/>
            <p:nvPr/>
          </p:nvSpPr>
          <p:spPr>
            <a:xfrm>
              <a:off x="3816498" y="3318112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81" name="Google Shape;1081;p49"/>
            <p:cNvSpPr/>
            <p:nvPr/>
          </p:nvSpPr>
          <p:spPr>
            <a:xfrm>
              <a:off x="1844715" y="355576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82" name="Google Shape;1082;p49"/>
            <p:cNvSpPr/>
            <p:nvPr/>
          </p:nvSpPr>
          <p:spPr>
            <a:xfrm>
              <a:off x="2456890" y="3499175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83" name="Google Shape;1083;p49"/>
            <p:cNvSpPr/>
            <p:nvPr/>
          </p:nvSpPr>
          <p:spPr>
            <a:xfrm>
              <a:off x="3196155" y="4768031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84" name="Google Shape;1084;p49"/>
            <p:cNvSpPr/>
            <p:nvPr/>
          </p:nvSpPr>
          <p:spPr>
            <a:xfrm>
              <a:off x="1814145" y="3173614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85" name="Google Shape;1085;p49"/>
            <p:cNvSpPr/>
            <p:nvPr/>
          </p:nvSpPr>
          <p:spPr>
            <a:xfrm>
              <a:off x="2159388" y="4218844"/>
              <a:ext cx="183000" cy="183000"/>
            </a:xfrm>
            <a:prstGeom prst="ellipse">
              <a:avLst/>
            </a:prstGeom>
            <a:solidFill>
              <a:srgbClr val="FFF2CC"/>
            </a:solidFill>
            <a:ln cap="flat" cmpd="sng" w="176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60">
                  <a:latin typeface="Roboto"/>
                  <a:ea typeface="Roboto"/>
                  <a:cs typeface="Roboto"/>
                  <a:sym typeface="Roboto"/>
                </a:rPr>
                <a:t>?</a:t>
              </a:r>
              <a:endParaRPr b="1" sz="136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086" name="Google Shape;1086;p49"/>
          <p:cNvCxnSpPr/>
          <p:nvPr/>
        </p:nvCxnSpPr>
        <p:spPr>
          <a:xfrm>
            <a:off x="6671025" y="3576300"/>
            <a:ext cx="0" cy="709950"/>
          </a:xfrm>
          <a:prstGeom prst="straightConnector1">
            <a:avLst/>
          </a:prstGeom>
          <a:noFill/>
          <a:ln cap="flat" cmpd="sng" w="117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87" name="Google Shape;1087;p49"/>
          <p:cNvCxnSpPr/>
          <p:nvPr/>
        </p:nvCxnSpPr>
        <p:spPr>
          <a:xfrm>
            <a:off x="5134686" y="3884216"/>
            <a:ext cx="3133694" cy="0"/>
          </a:xfrm>
          <a:prstGeom prst="straightConnector1">
            <a:avLst/>
          </a:prstGeom>
          <a:noFill/>
          <a:ln cap="flat" cmpd="sng" w="117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88" name="Google Shape;1088;p49"/>
          <p:cNvSpPr/>
          <p:nvPr/>
        </p:nvSpPr>
        <p:spPr>
          <a:xfrm>
            <a:off x="6968994" y="3217550"/>
            <a:ext cx="215700" cy="2157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89" name="Google Shape;1089;p49"/>
          <p:cNvSpPr/>
          <p:nvPr/>
        </p:nvSpPr>
        <p:spPr>
          <a:xfrm>
            <a:off x="7059601" y="3466099"/>
            <a:ext cx="215700" cy="2157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90" name="Google Shape;1090;p49"/>
          <p:cNvSpPr/>
          <p:nvPr/>
        </p:nvSpPr>
        <p:spPr>
          <a:xfrm>
            <a:off x="7308152" y="3283898"/>
            <a:ext cx="215700" cy="2157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91" name="Google Shape;1091;p49"/>
          <p:cNvSpPr/>
          <p:nvPr/>
        </p:nvSpPr>
        <p:spPr>
          <a:xfrm>
            <a:off x="6214180" y="3535861"/>
            <a:ext cx="215700" cy="2157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92" name="Google Shape;1092;p49"/>
          <p:cNvSpPr/>
          <p:nvPr/>
        </p:nvSpPr>
        <p:spPr>
          <a:xfrm>
            <a:off x="7037058" y="3884223"/>
            <a:ext cx="215700" cy="2157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93" name="Google Shape;1093;p49"/>
          <p:cNvSpPr/>
          <p:nvPr/>
        </p:nvSpPr>
        <p:spPr>
          <a:xfrm>
            <a:off x="6804592" y="3869145"/>
            <a:ext cx="215700" cy="2157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94" name="Google Shape;1094;p49"/>
          <p:cNvSpPr/>
          <p:nvPr/>
        </p:nvSpPr>
        <p:spPr>
          <a:xfrm>
            <a:off x="7742335" y="3965314"/>
            <a:ext cx="215700" cy="2157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95" name="Google Shape;1095;p49"/>
          <p:cNvSpPr/>
          <p:nvPr/>
        </p:nvSpPr>
        <p:spPr>
          <a:xfrm>
            <a:off x="7326801" y="3738443"/>
            <a:ext cx="215700" cy="2157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96" name="Google Shape;1096;p49"/>
          <p:cNvSpPr/>
          <p:nvPr/>
        </p:nvSpPr>
        <p:spPr>
          <a:xfrm>
            <a:off x="6053347" y="3977248"/>
            <a:ext cx="215804" cy="215804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97" name="Google Shape;1097;p49"/>
          <p:cNvSpPr/>
          <p:nvPr/>
        </p:nvSpPr>
        <p:spPr>
          <a:xfrm>
            <a:off x="6269171" y="4058327"/>
            <a:ext cx="215700" cy="2157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98" name="Google Shape;1098;p49"/>
          <p:cNvSpPr/>
          <p:nvPr/>
        </p:nvSpPr>
        <p:spPr>
          <a:xfrm>
            <a:off x="6122847" y="4181118"/>
            <a:ext cx="215700" cy="2157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99" name="Google Shape;1099;p49"/>
          <p:cNvSpPr/>
          <p:nvPr/>
        </p:nvSpPr>
        <p:spPr>
          <a:xfrm>
            <a:off x="6238562" y="4274150"/>
            <a:ext cx="215700" cy="2157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00" name="Google Shape;1100;p49"/>
          <p:cNvSpPr/>
          <p:nvPr/>
        </p:nvSpPr>
        <p:spPr>
          <a:xfrm>
            <a:off x="6454387" y="4203229"/>
            <a:ext cx="215700" cy="2157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01" name="Google Shape;1101;p49"/>
          <p:cNvSpPr/>
          <p:nvPr/>
        </p:nvSpPr>
        <p:spPr>
          <a:xfrm>
            <a:off x="5636825" y="3884227"/>
            <a:ext cx="215700" cy="2157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02" name="Google Shape;1102;p49"/>
          <p:cNvSpPr/>
          <p:nvPr/>
        </p:nvSpPr>
        <p:spPr>
          <a:xfrm>
            <a:off x="5221291" y="4100049"/>
            <a:ext cx="215700" cy="2157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03" name="Google Shape;1103;p49"/>
          <p:cNvSpPr/>
          <p:nvPr/>
        </p:nvSpPr>
        <p:spPr>
          <a:xfrm>
            <a:off x="5383901" y="3962333"/>
            <a:ext cx="215700" cy="2157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04" name="Google Shape;1104;p49"/>
          <p:cNvSpPr/>
          <p:nvPr/>
        </p:nvSpPr>
        <p:spPr>
          <a:xfrm>
            <a:off x="5599726" y="3653337"/>
            <a:ext cx="215700" cy="2157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05" name="Google Shape;1105;p49"/>
          <p:cNvSpPr/>
          <p:nvPr/>
        </p:nvSpPr>
        <p:spPr>
          <a:xfrm>
            <a:off x="5815550" y="3813959"/>
            <a:ext cx="215804" cy="215804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06" name="Google Shape;1106;p49"/>
          <p:cNvSpPr/>
          <p:nvPr/>
        </p:nvSpPr>
        <p:spPr>
          <a:xfrm>
            <a:off x="6721016" y="3800328"/>
            <a:ext cx="215700" cy="2157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07" name="Google Shape;1107;p49"/>
          <p:cNvSpPr/>
          <p:nvPr/>
        </p:nvSpPr>
        <p:spPr>
          <a:xfrm>
            <a:off x="7617720" y="3338611"/>
            <a:ext cx="215700" cy="2157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08" name="Google Shape;1108;p49"/>
          <p:cNvSpPr/>
          <p:nvPr/>
        </p:nvSpPr>
        <p:spPr>
          <a:xfrm>
            <a:off x="8161098" y="3285669"/>
            <a:ext cx="215700" cy="2157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09" name="Google Shape;1109;p49"/>
          <p:cNvSpPr/>
          <p:nvPr/>
        </p:nvSpPr>
        <p:spPr>
          <a:xfrm>
            <a:off x="6031375" y="3345023"/>
            <a:ext cx="215700" cy="2157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10" name="Google Shape;1110;p49"/>
          <p:cNvSpPr/>
          <p:nvPr/>
        </p:nvSpPr>
        <p:spPr>
          <a:xfrm>
            <a:off x="6692585" y="3283898"/>
            <a:ext cx="215700" cy="215700"/>
          </a:xfrm>
          <a:prstGeom prst="mathPlus">
            <a:avLst>
              <a:gd fmla="val 23520" name="adj1"/>
            </a:avLst>
          </a:prstGeom>
          <a:solidFill>
            <a:srgbClr val="D9EAD3"/>
          </a:solidFill>
          <a:ln cap="flat" cmpd="sng" w="1765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11" name="Google Shape;1111;p49"/>
          <p:cNvSpPr/>
          <p:nvPr/>
        </p:nvSpPr>
        <p:spPr>
          <a:xfrm>
            <a:off x="7491065" y="4193065"/>
            <a:ext cx="215700" cy="2157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12" name="Google Shape;1112;p49"/>
          <p:cNvSpPr/>
          <p:nvPr/>
        </p:nvSpPr>
        <p:spPr>
          <a:xfrm>
            <a:off x="5998355" y="3129597"/>
            <a:ext cx="215700" cy="215700"/>
          </a:xfrm>
          <a:prstGeom prst="mathMultiply">
            <a:avLst>
              <a:gd fmla="val 23520" name="adj1"/>
            </a:avLst>
          </a:prstGeom>
          <a:solidFill>
            <a:srgbClr val="E6B8AF"/>
          </a:solidFill>
          <a:ln cap="flat" cmpd="sng" w="1765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525" lIns="56525" spcFirstLastPara="1" rIns="56525" wrap="square" tIns="56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5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13" name="Google Shape;1113;p49"/>
          <p:cNvSpPr/>
          <p:nvPr/>
        </p:nvSpPr>
        <p:spPr>
          <a:xfrm>
            <a:off x="6371252" y="3923812"/>
            <a:ext cx="197658" cy="197658"/>
          </a:xfrm>
          <a:prstGeom prst="ellipse">
            <a:avLst/>
          </a:prstGeom>
          <a:solidFill>
            <a:srgbClr val="FFF2CC"/>
          </a:solidFill>
          <a:ln cap="flat" cmpd="sng" w="176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60">
                <a:latin typeface="Roboto"/>
                <a:ea typeface="Roboto"/>
                <a:cs typeface="Roboto"/>
                <a:sym typeface="Roboto"/>
              </a:rPr>
              <a:t>?</a:t>
            </a:r>
            <a:endParaRPr b="1" sz="136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50"/>
          <p:cNvSpPr/>
          <p:nvPr/>
        </p:nvSpPr>
        <p:spPr>
          <a:xfrm>
            <a:off x="7146300" y="3891500"/>
            <a:ext cx="830400" cy="10788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19" name="Google Shape;1119;p50"/>
          <p:cNvSpPr/>
          <p:nvPr/>
        </p:nvSpPr>
        <p:spPr>
          <a:xfrm>
            <a:off x="7622700" y="3873525"/>
            <a:ext cx="830400" cy="5727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20" name="Google Shape;1120;p50"/>
          <p:cNvSpPr/>
          <p:nvPr/>
        </p:nvSpPr>
        <p:spPr>
          <a:xfrm>
            <a:off x="7089925" y="3490525"/>
            <a:ext cx="830400" cy="4011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21" name="Google Shape;1121;p50"/>
          <p:cNvSpPr/>
          <p:nvPr/>
        </p:nvSpPr>
        <p:spPr>
          <a:xfrm>
            <a:off x="7089925" y="2752950"/>
            <a:ext cx="830400" cy="7377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22" name="Google Shape;1122;p50"/>
          <p:cNvSpPr/>
          <p:nvPr/>
        </p:nvSpPr>
        <p:spPr>
          <a:xfrm>
            <a:off x="6447450" y="4334650"/>
            <a:ext cx="712200" cy="5226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23" name="Google Shape;1123;p50"/>
          <p:cNvSpPr/>
          <p:nvPr/>
        </p:nvSpPr>
        <p:spPr>
          <a:xfrm>
            <a:off x="5735250" y="2660025"/>
            <a:ext cx="712200" cy="16746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24" name="Google Shape;1124;p50"/>
          <p:cNvSpPr/>
          <p:nvPr/>
        </p:nvSpPr>
        <p:spPr>
          <a:xfrm>
            <a:off x="6460800" y="3891500"/>
            <a:ext cx="830400" cy="5727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25" name="Google Shape;1125;p50"/>
          <p:cNvSpPr/>
          <p:nvPr/>
        </p:nvSpPr>
        <p:spPr>
          <a:xfrm>
            <a:off x="5775300" y="4292600"/>
            <a:ext cx="712200" cy="5226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26" name="Google Shape;1126;p50"/>
          <p:cNvSpPr/>
          <p:nvPr/>
        </p:nvSpPr>
        <p:spPr>
          <a:xfrm>
            <a:off x="5089800" y="2718650"/>
            <a:ext cx="685500" cy="20967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27" name="Google Shape;1127;p50"/>
          <p:cNvSpPr/>
          <p:nvPr/>
        </p:nvSpPr>
        <p:spPr>
          <a:xfrm>
            <a:off x="5775300" y="3128575"/>
            <a:ext cx="685500" cy="5727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28" name="Google Shape;1128;p50"/>
          <p:cNvSpPr/>
          <p:nvPr/>
        </p:nvSpPr>
        <p:spPr>
          <a:xfrm>
            <a:off x="7767600" y="2812825"/>
            <a:ext cx="685500" cy="10788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29" name="Google Shape;1129;p50"/>
          <p:cNvSpPr/>
          <p:nvPr/>
        </p:nvSpPr>
        <p:spPr>
          <a:xfrm>
            <a:off x="6063475" y="3891500"/>
            <a:ext cx="516900" cy="4011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30" name="Google Shape;1130;p50"/>
          <p:cNvSpPr/>
          <p:nvPr/>
        </p:nvSpPr>
        <p:spPr>
          <a:xfrm>
            <a:off x="6460800" y="2920675"/>
            <a:ext cx="830400" cy="10044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31" name="Google Shape;1131;p50"/>
          <p:cNvSpPr/>
          <p:nvPr/>
        </p:nvSpPr>
        <p:spPr>
          <a:xfrm>
            <a:off x="1573775" y="4274625"/>
            <a:ext cx="1371000" cy="5226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32" name="Google Shape;1132;p50"/>
          <p:cNvSpPr/>
          <p:nvPr/>
        </p:nvSpPr>
        <p:spPr>
          <a:xfrm>
            <a:off x="888275" y="2700675"/>
            <a:ext cx="685500" cy="20967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33" name="Google Shape;1133;p50"/>
          <p:cNvSpPr/>
          <p:nvPr/>
        </p:nvSpPr>
        <p:spPr>
          <a:xfrm>
            <a:off x="1573775" y="2794850"/>
            <a:ext cx="685500" cy="10788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34" name="Google Shape;1134;p50"/>
          <p:cNvSpPr/>
          <p:nvPr/>
        </p:nvSpPr>
        <p:spPr>
          <a:xfrm>
            <a:off x="3566075" y="2794850"/>
            <a:ext cx="685500" cy="10788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35" name="Google Shape;1135;p50"/>
          <p:cNvSpPr/>
          <p:nvPr/>
        </p:nvSpPr>
        <p:spPr>
          <a:xfrm>
            <a:off x="2944775" y="3873525"/>
            <a:ext cx="830400" cy="10788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36" name="Google Shape;1136;p50"/>
          <p:cNvSpPr/>
          <p:nvPr/>
        </p:nvSpPr>
        <p:spPr>
          <a:xfrm>
            <a:off x="1573775" y="3873525"/>
            <a:ext cx="685500" cy="4011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37" name="Google Shape;1137;p50"/>
          <p:cNvSpPr/>
          <p:nvPr/>
        </p:nvSpPr>
        <p:spPr>
          <a:xfrm>
            <a:off x="2259275" y="3873525"/>
            <a:ext cx="685500" cy="5727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38" name="Google Shape;1138;p50"/>
          <p:cNvSpPr/>
          <p:nvPr/>
        </p:nvSpPr>
        <p:spPr>
          <a:xfrm>
            <a:off x="2259275" y="2869125"/>
            <a:ext cx="1306800" cy="10044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39" name="Google Shape;113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we learning in the nearest neighbor model?</a:t>
            </a:r>
            <a:endParaRPr/>
          </a:p>
        </p:txBody>
      </p:sp>
      <p:sp>
        <p:nvSpPr>
          <p:cNvPr id="1140" name="Google Shape;1140;p50"/>
          <p:cNvSpPr txBox="1"/>
          <p:nvPr>
            <p:ph idx="1" type="body"/>
          </p:nvPr>
        </p:nvSpPr>
        <p:spPr>
          <a:xfrm>
            <a:off x="311700" y="1152475"/>
            <a:ext cx="6419700" cy="19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k</a:t>
            </a:r>
            <a:r>
              <a:rPr lang="en"/>
              <a:t> (number of neighbors) or </a:t>
            </a:r>
            <a:r>
              <a:rPr i="1" lang="en"/>
              <a:t>r</a:t>
            </a:r>
            <a:r>
              <a:rPr lang="en"/>
              <a:t> (radius of neighborhood)?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Kernel function (weighting distant vs. close neighbors)?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Distance function itself!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Index to make inference efficient?</a:t>
            </a:r>
            <a:endParaRPr/>
          </a:p>
        </p:txBody>
      </p:sp>
      <p:grpSp>
        <p:nvGrpSpPr>
          <p:cNvPr id="1141" name="Google Shape;1141;p50"/>
          <p:cNvGrpSpPr/>
          <p:nvPr/>
        </p:nvGrpSpPr>
        <p:grpSpPr>
          <a:xfrm>
            <a:off x="767111" y="2794859"/>
            <a:ext cx="3242215" cy="1976149"/>
            <a:chOff x="1014525" y="3173614"/>
            <a:chExt cx="3001773" cy="1829598"/>
          </a:xfrm>
        </p:grpSpPr>
        <p:cxnSp>
          <p:nvCxnSpPr>
            <p:cNvPr id="1142" name="Google Shape;1142;p50"/>
            <p:cNvCxnSpPr/>
            <p:nvPr/>
          </p:nvCxnSpPr>
          <p:spPr>
            <a:xfrm>
              <a:off x="2436934" y="3318112"/>
              <a:ext cx="0" cy="1685100"/>
            </a:xfrm>
            <a:prstGeom prst="straightConnector1">
              <a:avLst/>
            </a:prstGeom>
            <a:noFill/>
            <a:ln cap="flat" cmpd="sng" w="1177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43" name="Google Shape;1143;p50"/>
            <p:cNvCxnSpPr/>
            <p:nvPr/>
          </p:nvCxnSpPr>
          <p:spPr>
            <a:xfrm>
              <a:off x="1014525" y="4182184"/>
              <a:ext cx="2901300" cy="0"/>
            </a:xfrm>
            <a:prstGeom prst="straightConnector1">
              <a:avLst/>
            </a:prstGeom>
            <a:noFill/>
            <a:ln cap="flat" cmpd="sng" w="1177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44" name="Google Shape;1144;p50"/>
            <p:cNvSpPr/>
            <p:nvPr/>
          </p:nvSpPr>
          <p:spPr>
            <a:xfrm>
              <a:off x="2712801" y="3437748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45" name="Google Shape;1145;p50"/>
            <p:cNvSpPr/>
            <p:nvPr/>
          </p:nvSpPr>
          <p:spPr>
            <a:xfrm>
              <a:off x="2796689" y="3667864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46" name="Google Shape;1146;p50"/>
            <p:cNvSpPr/>
            <p:nvPr/>
          </p:nvSpPr>
          <p:spPr>
            <a:xfrm>
              <a:off x="3026807" y="3499175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47" name="Google Shape;1147;p50"/>
            <p:cNvSpPr/>
            <p:nvPr/>
          </p:nvSpPr>
          <p:spPr>
            <a:xfrm>
              <a:off x="2013964" y="3732453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48" name="Google Shape;1148;p50"/>
            <p:cNvSpPr/>
            <p:nvPr/>
          </p:nvSpPr>
          <p:spPr>
            <a:xfrm>
              <a:off x="2775817" y="426831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49" name="Google Shape;1149;p50"/>
            <p:cNvSpPr/>
            <p:nvPr/>
          </p:nvSpPr>
          <p:spPr>
            <a:xfrm>
              <a:off x="2560591" y="4468134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50" name="Google Shape;1150;p50"/>
            <p:cNvSpPr/>
            <p:nvPr/>
          </p:nvSpPr>
          <p:spPr>
            <a:xfrm>
              <a:off x="3428791" y="4395820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51" name="Google Shape;1151;p50"/>
            <p:cNvSpPr/>
            <p:nvPr/>
          </p:nvSpPr>
          <p:spPr>
            <a:xfrm>
              <a:off x="3044073" y="399781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52" name="Google Shape;1152;p50"/>
            <p:cNvSpPr/>
            <p:nvPr/>
          </p:nvSpPr>
          <p:spPr>
            <a:xfrm>
              <a:off x="1865058" y="426831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53" name="Google Shape;1153;p50"/>
            <p:cNvSpPr/>
            <p:nvPr/>
          </p:nvSpPr>
          <p:spPr>
            <a:xfrm>
              <a:off x="2064877" y="4554266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54" name="Google Shape;1154;p50"/>
            <p:cNvSpPr/>
            <p:nvPr/>
          </p:nvSpPr>
          <p:spPr>
            <a:xfrm>
              <a:off x="1929404" y="4667951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55" name="Google Shape;1155;p50"/>
            <p:cNvSpPr/>
            <p:nvPr/>
          </p:nvSpPr>
          <p:spPr>
            <a:xfrm>
              <a:off x="2036538" y="4754084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56" name="Google Shape;1156;p50"/>
            <p:cNvSpPr/>
            <p:nvPr/>
          </p:nvSpPr>
          <p:spPr>
            <a:xfrm>
              <a:off x="2236357" y="4688422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57" name="Google Shape;1157;p50"/>
            <p:cNvSpPr/>
            <p:nvPr/>
          </p:nvSpPr>
          <p:spPr>
            <a:xfrm>
              <a:off x="1479425" y="4395820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58" name="Google Shape;1158;p50"/>
            <p:cNvSpPr/>
            <p:nvPr/>
          </p:nvSpPr>
          <p:spPr>
            <a:xfrm>
              <a:off x="1094707" y="4595638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59" name="Google Shape;1159;p50"/>
            <p:cNvSpPr/>
            <p:nvPr/>
          </p:nvSpPr>
          <p:spPr>
            <a:xfrm>
              <a:off x="1245258" y="4468134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60" name="Google Shape;1160;p50"/>
            <p:cNvSpPr/>
            <p:nvPr/>
          </p:nvSpPr>
          <p:spPr>
            <a:xfrm>
              <a:off x="1445077" y="3816196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61" name="Google Shape;1161;p50"/>
            <p:cNvSpPr/>
            <p:nvPr/>
          </p:nvSpPr>
          <p:spPr>
            <a:xfrm>
              <a:off x="1644896" y="4117138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62" name="Google Shape;1162;p50"/>
            <p:cNvSpPr/>
            <p:nvPr/>
          </p:nvSpPr>
          <p:spPr>
            <a:xfrm>
              <a:off x="2483212" y="4197634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63" name="Google Shape;1163;p50"/>
            <p:cNvSpPr/>
            <p:nvPr/>
          </p:nvSpPr>
          <p:spPr>
            <a:xfrm>
              <a:off x="3313417" y="3549830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64" name="Google Shape;1164;p50"/>
            <p:cNvSpPr/>
            <p:nvPr/>
          </p:nvSpPr>
          <p:spPr>
            <a:xfrm>
              <a:off x="3816498" y="3318112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65" name="Google Shape;1165;p50"/>
            <p:cNvSpPr/>
            <p:nvPr/>
          </p:nvSpPr>
          <p:spPr>
            <a:xfrm>
              <a:off x="1844715" y="355576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66" name="Google Shape;1166;p50"/>
            <p:cNvSpPr/>
            <p:nvPr/>
          </p:nvSpPr>
          <p:spPr>
            <a:xfrm>
              <a:off x="2456890" y="3499175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67" name="Google Shape;1167;p50"/>
            <p:cNvSpPr/>
            <p:nvPr/>
          </p:nvSpPr>
          <p:spPr>
            <a:xfrm>
              <a:off x="3196155" y="4768031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68" name="Google Shape;1168;p50"/>
            <p:cNvSpPr/>
            <p:nvPr/>
          </p:nvSpPr>
          <p:spPr>
            <a:xfrm>
              <a:off x="1814145" y="3173614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69" name="Google Shape;1169;p50"/>
            <p:cNvSpPr/>
            <p:nvPr/>
          </p:nvSpPr>
          <p:spPr>
            <a:xfrm>
              <a:off x="2159388" y="4218844"/>
              <a:ext cx="183000" cy="183000"/>
            </a:xfrm>
            <a:prstGeom prst="ellipse">
              <a:avLst/>
            </a:prstGeom>
            <a:solidFill>
              <a:srgbClr val="FFF2CC"/>
            </a:solidFill>
            <a:ln cap="flat" cmpd="sng" w="176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60">
                  <a:latin typeface="Roboto"/>
                  <a:ea typeface="Roboto"/>
                  <a:cs typeface="Roboto"/>
                  <a:sym typeface="Roboto"/>
                </a:rPr>
                <a:t>?</a:t>
              </a:r>
              <a:endParaRPr b="1" sz="136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70" name="Google Shape;1170;p50"/>
          <p:cNvGrpSpPr/>
          <p:nvPr/>
        </p:nvGrpSpPr>
        <p:grpSpPr>
          <a:xfrm>
            <a:off x="5134686" y="2794859"/>
            <a:ext cx="3242215" cy="1976149"/>
            <a:chOff x="1014525" y="3173614"/>
            <a:chExt cx="3001773" cy="1829598"/>
          </a:xfrm>
        </p:grpSpPr>
        <p:cxnSp>
          <p:nvCxnSpPr>
            <p:cNvPr id="1171" name="Google Shape;1171;p50"/>
            <p:cNvCxnSpPr/>
            <p:nvPr/>
          </p:nvCxnSpPr>
          <p:spPr>
            <a:xfrm>
              <a:off x="2436934" y="3318112"/>
              <a:ext cx="0" cy="1685100"/>
            </a:xfrm>
            <a:prstGeom prst="straightConnector1">
              <a:avLst/>
            </a:prstGeom>
            <a:noFill/>
            <a:ln cap="flat" cmpd="sng" w="1177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72" name="Google Shape;1172;p50"/>
            <p:cNvCxnSpPr/>
            <p:nvPr/>
          </p:nvCxnSpPr>
          <p:spPr>
            <a:xfrm>
              <a:off x="1014525" y="4182184"/>
              <a:ext cx="2901300" cy="0"/>
            </a:xfrm>
            <a:prstGeom prst="straightConnector1">
              <a:avLst/>
            </a:prstGeom>
            <a:noFill/>
            <a:ln cap="flat" cmpd="sng" w="1177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73" name="Google Shape;1173;p50"/>
            <p:cNvSpPr/>
            <p:nvPr/>
          </p:nvSpPr>
          <p:spPr>
            <a:xfrm>
              <a:off x="2712801" y="3437748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74" name="Google Shape;1174;p50"/>
            <p:cNvSpPr/>
            <p:nvPr/>
          </p:nvSpPr>
          <p:spPr>
            <a:xfrm>
              <a:off x="2796689" y="3667864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75" name="Google Shape;1175;p50"/>
            <p:cNvSpPr/>
            <p:nvPr/>
          </p:nvSpPr>
          <p:spPr>
            <a:xfrm>
              <a:off x="3026807" y="3499175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76" name="Google Shape;1176;p50"/>
            <p:cNvSpPr/>
            <p:nvPr/>
          </p:nvSpPr>
          <p:spPr>
            <a:xfrm>
              <a:off x="2013964" y="3732453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77" name="Google Shape;1177;p50"/>
            <p:cNvSpPr/>
            <p:nvPr/>
          </p:nvSpPr>
          <p:spPr>
            <a:xfrm>
              <a:off x="2775817" y="426831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78" name="Google Shape;1178;p50"/>
            <p:cNvSpPr/>
            <p:nvPr/>
          </p:nvSpPr>
          <p:spPr>
            <a:xfrm>
              <a:off x="2560591" y="4468134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79" name="Google Shape;1179;p50"/>
            <p:cNvSpPr/>
            <p:nvPr/>
          </p:nvSpPr>
          <p:spPr>
            <a:xfrm>
              <a:off x="3428791" y="4395820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80" name="Google Shape;1180;p50"/>
            <p:cNvSpPr/>
            <p:nvPr/>
          </p:nvSpPr>
          <p:spPr>
            <a:xfrm>
              <a:off x="3044073" y="399781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81" name="Google Shape;1181;p50"/>
            <p:cNvSpPr/>
            <p:nvPr/>
          </p:nvSpPr>
          <p:spPr>
            <a:xfrm>
              <a:off x="1865058" y="426831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82" name="Google Shape;1182;p50"/>
            <p:cNvSpPr/>
            <p:nvPr/>
          </p:nvSpPr>
          <p:spPr>
            <a:xfrm>
              <a:off x="2064877" y="4554266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83" name="Google Shape;1183;p50"/>
            <p:cNvSpPr/>
            <p:nvPr/>
          </p:nvSpPr>
          <p:spPr>
            <a:xfrm>
              <a:off x="1929404" y="4667951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84" name="Google Shape;1184;p50"/>
            <p:cNvSpPr/>
            <p:nvPr/>
          </p:nvSpPr>
          <p:spPr>
            <a:xfrm>
              <a:off x="2036538" y="4754084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85" name="Google Shape;1185;p50"/>
            <p:cNvSpPr/>
            <p:nvPr/>
          </p:nvSpPr>
          <p:spPr>
            <a:xfrm>
              <a:off x="2236357" y="4688422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86" name="Google Shape;1186;p50"/>
            <p:cNvSpPr/>
            <p:nvPr/>
          </p:nvSpPr>
          <p:spPr>
            <a:xfrm>
              <a:off x="1479425" y="4395820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87" name="Google Shape;1187;p50"/>
            <p:cNvSpPr/>
            <p:nvPr/>
          </p:nvSpPr>
          <p:spPr>
            <a:xfrm>
              <a:off x="1094707" y="4595638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88" name="Google Shape;1188;p50"/>
            <p:cNvSpPr/>
            <p:nvPr/>
          </p:nvSpPr>
          <p:spPr>
            <a:xfrm>
              <a:off x="1245258" y="4468134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89" name="Google Shape;1189;p50"/>
            <p:cNvSpPr/>
            <p:nvPr/>
          </p:nvSpPr>
          <p:spPr>
            <a:xfrm>
              <a:off x="1445077" y="3816196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90" name="Google Shape;1190;p50"/>
            <p:cNvSpPr/>
            <p:nvPr/>
          </p:nvSpPr>
          <p:spPr>
            <a:xfrm>
              <a:off x="1644896" y="4117138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91" name="Google Shape;1191;p50"/>
            <p:cNvSpPr/>
            <p:nvPr/>
          </p:nvSpPr>
          <p:spPr>
            <a:xfrm>
              <a:off x="2483212" y="4197634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92" name="Google Shape;1192;p50"/>
            <p:cNvSpPr/>
            <p:nvPr/>
          </p:nvSpPr>
          <p:spPr>
            <a:xfrm>
              <a:off x="3313417" y="3549830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93" name="Google Shape;1193;p50"/>
            <p:cNvSpPr/>
            <p:nvPr/>
          </p:nvSpPr>
          <p:spPr>
            <a:xfrm>
              <a:off x="3816498" y="3318112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94" name="Google Shape;1194;p50"/>
            <p:cNvSpPr/>
            <p:nvPr/>
          </p:nvSpPr>
          <p:spPr>
            <a:xfrm>
              <a:off x="1844715" y="3555767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95" name="Google Shape;1195;p50"/>
            <p:cNvSpPr/>
            <p:nvPr/>
          </p:nvSpPr>
          <p:spPr>
            <a:xfrm>
              <a:off x="2456890" y="3499175"/>
              <a:ext cx="199800" cy="1998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17650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96" name="Google Shape;1196;p50"/>
            <p:cNvSpPr/>
            <p:nvPr/>
          </p:nvSpPr>
          <p:spPr>
            <a:xfrm>
              <a:off x="3196155" y="4768031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97" name="Google Shape;1197;p50"/>
            <p:cNvSpPr/>
            <p:nvPr/>
          </p:nvSpPr>
          <p:spPr>
            <a:xfrm>
              <a:off x="1814145" y="3173614"/>
              <a:ext cx="199800" cy="1998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17650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525" lIns="56525" spcFirstLastPara="1" rIns="56525" wrap="square" tIns="56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98" name="Google Shape;1198;p50"/>
            <p:cNvSpPr/>
            <p:nvPr/>
          </p:nvSpPr>
          <p:spPr>
            <a:xfrm>
              <a:off x="2159388" y="4218844"/>
              <a:ext cx="183000" cy="183000"/>
            </a:xfrm>
            <a:prstGeom prst="ellipse">
              <a:avLst/>
            </a:prstGeom>
            <a:solidFill>
              <a:srgbClr val="FFF2CC"/>
            </a:solidFill>
            <a:ln cap="flat" cmpd="sng" w="176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60">
                  <a:latin typeface="Roboto"/>
                  <a:ea typeface="Roboto"/>
                  <a:cs typeface="Roboto"/>
                  <a:sym typeface="Roboto"/>
                </a:rPr>
                <a:t>?</a:t>
              </a:r>
              <a:endParaRPr b="1" sz="136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5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train these?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Hyperparameters vs. Parameters?</a:t>
            </a:r>
            <a:endParaRPr/>
          </a:p>
        </p:txBody>
      </p:sp>
      <p:sp>
        <p:nvSpPr>
          <p:cNvPr id="1209" name="Google Shape;1209;p5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Hyperparameters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Usually Non-differentiable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May only indirectly influence the per-sample level prediction/loss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Often fit on the</a:t>
            </a:r>
            <a:br>
              <a:rPr lang="en" sz="1800"/>
            </a:br>
            <a:r>
              <a:rPr lang="en" sz="1800"/>
              <a:t>“validation” / “dev” / “tuning” set.</a:t>
            </a:r>
            <a:endParaRPr sz="1800"/>
          </a:p>
        </p:txBody>
      </p:sp>
      <p:sp>
        <p:nvSpPr>
          <p:cNvPr id="1210" name="Google Shape;1210;p5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r>
              <a:rPr lang="en" sz="1800"/>
              <a:t>arameters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Usually Differentiable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Usually directly influence the per-sample level prediction/loss.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Fit on the “train” set</a:t>
            </a:r>
            <a:endParaRPr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information is being transferred?</a:t>
            </a:r>
            <a:endParaRPr/>
          </a:p>
        </p:txBody>
      </p:sp>
      <p:sp>
        <p:nvSpPr>
          <p:cNvPr id="1216" name="Google Shape;1216;p53"/>
          <p:cNvSpPr txBox="1"/>
          <p:nvPr/>
        </p:nvSpPr>
        <p:spPr>
          <a:xfrm>
            <a:off x="6993863" y="1982468"/>
            <a:ext cx="17073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0" lIns="85000" spcFirstLastPara="1" rIns="85000" wrap="square" tIns="85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116"/>
              </a:spcAft>
              <a:buNone/>
            </a:pPr>
            <a:r>
              <a:rPr lang="en" sz="6694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𝛝</a:t>
            </a:r>
            <a:endParaRPr sz="6694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1217" name="Google Shape;1217;p53"/>
          <p:cNvSpPr txBox="1"/>
          <p:nvPr/>
        </p:nvSpPr>
        <p:spPr>
          <a:xfrm>
            <a:off x="442827" y="1982468"/>
            <a:ext cx="17073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0" lIns="85000" spcFirstLastPara="1" rIns="85000" wrap="square" tIns="85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116"/>
              </a:spcAft>
              <a:buNone/>
            </a:pPr>
            <a:r>
              <a:rPr lang="en" sz="6694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𝘅, 𝗒</a:t>
            </a:r>
            <a:endParaRPr sz="6694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grpSp>
        <p:nvGrpSpPr>
          <p:cNvPr id="1218" name="Google Shape;1218;p53"/>
          <p:cNvGrpSpPr/>
          <p:nvPr/>
        </p:nvGrpSpPr>
        <p:grpSpPr>
          <a:xfrm>
            <a:off x="2614214" y="1656218"/>
            <a:ext cx="3784472" cy="2197775"/>
            <a:chOff x="224150" y="1798650"/>
            <a:chExt cx="5070300" cy="2944500"/>
          </a:xfrm>
        </p:grpSpPr>
        <p:cxnSp>
          <p:nvCxnSpPr>
            <p:cNvPr id="1219" name="Google Shape;1219;p53"/>
            <p:cNvCxnSpPr/>
            <p:nvPr/>
          </p:nvCxnSpPr>
          <p:spPr>
            <a:xfrm>
              <a:off x="2709925" y="1798650"/>
              <a:ext cx="0" cy="2944500"/>
            </a:xfrm>
            <a:prstGeom prst="straightConnector1">
              <a:avLst/>
            </a:prstGeom>
            <a:noFill/>
            <a:ln cap="flat" cmpd="sng" w="142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20" name="Google Shape;1220;p53"/>
            <p:cNvCxnSpPr/>
            <p:nvPr/>
          </p:nvCxnSpPr>
          <p:spPr>
            <a:xfrm>
              <a:off x="224150" y="3270900"/>
              <a:ext cx="5070300" cy="0"/>
            </a:xfrm>
            <a:prstGeom prst="straightConnector1">
              <a:avLst/>
            </a:prstGeom>
            <a:noFill/>
            <a:ln cap="flat" cmpd="sng" w="142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21" name="Google Shape;1221;p53"/>
            <p:cNvSpPr/>
            <p:nvPr/>
          </p:nvSpPr>
          <p:spPr>
            <a:xfrm>
              <a:off x="3192025" y="200772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22" name="Google Shape;1222;p53"/>
            <p:cNvSpPr/>
            <p:nvPr/>
          </p:nvSpPr>
          <p:spPr>
            <a:xfrm>
              <a:off x="3338625" y="240987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23" name="Google Shape;1223;p53"/>
            <p:cNvSpPr/>
            <p:nvPr/>
          </p:nvSpPr>
          <p:spPr>
            <a:xfrm>
              <a:off x="3740775" y="2115075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24" name="Google Shape;1224;p53"/>
            <p:cNvSpPr/>
            <p:nvPr/>
          </p:nvSpPr>
          <p:spPr>
            <a:xfrm>
              <a:off x="1970750" y="2522750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25" name="Google Shape;1225;p53"/>
            <p:cNvSpPr/>
            <p:nvPr/>
          </p:nvSpPr>
          <p:spPr>
            <a:xfrm>
              <a:off x="3302150" y="345922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26" name="Google Shape;1226;p53"/>
            <p:cNvSpPr/>
            <p:nvPr/>
          </p:nvSpPr>
          <p:spPr>
            <a:xfrm>
              <a:off x="2926025" y="3808425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27" name="Google Shape;1227;p53"/>
            <p:cNvSpPr/>
            <p:nvPr/>
          </p:nvSpPr>
          <p:spPr>
            <a:xfrm>
              <a:off x="4443275" y="3682050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28" name="Google Shape;1228;p53"/>
            <p:cNvSpPr/>
            <p:nvPr/>
          </p:nvSpPr>
          <p:spPr>
            <a:xfrm>
              <a:off x="3770950" y="2986500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29" name="Google Shape;1229;p53"/>
            <p:cNvSpPr/>
            <p:nvPr/>
          </p:nvSpPr>
          <p:spPr>
            <a:xfrm>
              <a:off x="1710525" y="345922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30" name="Google Shape;1230;p53"/>
            <p:cNvSpPr/>
            <p:nvPr/>
          </p:nvSpPr>
          <p:spPr>
            <a:xfrm>
              <a:off x="2059725" y="395895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31" name="Google Shape;1231;p53"/>
            <p:cNvSpPr/>
            <p:nvPr/>
          </p:nvSpPr>
          <p:spPr>
            <a:xfrm>
              <a:off x="1822975" y="4157625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32" name="Google Shape;1232;p53"/>
            <p:cNvSpPr/>
            <p:nvPr/>
          </p:nvSpPr>
          <p:spPr>
            <a:xfrm>
              <a:off x="2010200" y="430815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33" name="Google Shape;1233;p53"/>
            <p:cNvSpPr/>
            <p:nvPr/>
          </p:nvSpPr>
          <p:spPr>
            <a:xfrm>
              <a:off x="2359400" y="4193400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34" name="Google Shape;1234;p53"/>
            <p:cNvSpPr/>
            <p:nvPr/>
          </p:nvSpPr>
          <p:spPr>
            <a:xfrm>
              <a:off x="1036600" y="368205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35" name="Google Shape;1235;p53"/>
            <p:cNvSpPr/>
            <p:nvPr/>
          </p:nvSpPr>
          <p:spPr>
            <a:xfrm>
              <a:off x="364275" y="403125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36" name="Google Shape;1236;p53"/>
            <p:cNvSpPr/>
            <p:nvPr/>
          </p:nvSpPr>
          <p:spPr>
            <a:xfrm>
              <a:off x="627375" y="380842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37" name="Google Shape;1237;p53"/>
            <p:cNvSpPr/>
            <p:nvPr/>
          </p:nvSpPr>
          <p:spPr>
            <a:xfrm>
              <a:off x="976575" y="266910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38" name="Google Shape;1238;p53"/>
            <p:cNvSpPr/>
            <p:nvPr/>
          </p:nvSpPr>
          <p:spPr>
            <a:xfrm>
              <a:off x="1325775" y="3195025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39" name="Google Shape;1239;p53"/>
            <p:cNvSpPr/>
            <p:nvPr/>
          </p:nvSpPr>
          <p:spPr>
            <a:xfrm>
              <a:off x="2790800" y="3335700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40" name="Google Shape;1240;p53"/>
            <p:cNvSpPr/>
            <p:nvPr/>
          </p:nvSpPr>
          <p:spPr>
            <a:xfrm>
              <a:off x="4241650" y="220360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41" name="Google Shape;1241;p53"/>
            <p:cNvSpPr/>
            <p:nvPr/>
          </p:nvSpPr>
          <p:spPr>
            <a:xfrm>
              <a:off x="1674975" y="221397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42" name="Google Shape;1242;p53"/>
            <p:cNvSpPr/>
            <p:nvPr/>
          </p:nvSpPr>
          <p:spPr>
            <a:xfrm>
              <a:off x="2744800" y="211507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43" name="Google Shape;1243;p53"/>
            <p:cNvSpPr/>
            <p:nvPr/>
          </p:nvSpPr>
          <p:spPr>
            <a:xfrm>
              <a:off x="4036725" y="4332525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cxnSp>
        <p:nvCxnSpPr>
          <p:cNvPr id="1244" name="Google Shape;1244;p53"/>
          <p:cNvCxnSpPr>
            <a:stCxn id="1217" idx="3"/>
          </p:cNvCxnSpPr>
          <p:nvPr/>
        </p:nvCxnSpPr>
        <p:spPr>
          <a:xfrm>
            <a:off x="2150127" y="2755118"/>
            <a:ext cx="326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5" name="Google Shape;1245;p53"/>
          <p:cNvCxnSpPr>
            <a:endCxn id="1216" idx="1"/>
          </p:cNvCxnSpPr>
          <p:nvPr/>
        </p:nvCxnSpPr>
        <p:spPr>
          <a:xfrm>
            <a:off x="6609863" y="2755118"/>
            <a:ext cx="384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5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Error:</a:t>
            </a:r>
            <a:br>
              <a:rPr lang="en"/>
            </a:br>
            <a:r>
              <a:rPr lang="en"/>
              <a:t>Bias and Variance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these values affect our expected error?</a:t>
            </a:r>
            <a:endParaRPr/>
          </a:p>
        </p:txBody>
      </p:sp>
      <p:pic>
        <p:nvPicPr>
          <p:cNvPr id="1256" name="Google Shape;125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4200"/>
            <a:ext cx="8839199" cy="2915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these values affect our expected error?</a:t>
            </a:r>
            <a:endParaRPr/>
          </a:p>
        </p:txBody>
      </p:sp>
      <p:pic>
        <p:nvPicPr>
          <p:cNvPr id="1262" name="Google Shape;126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4200"/>
            <a:ext cx="8839199" cy="29151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3" name="Google Shape;1263;p56"/>
          <p:cNvCxnSpPr/>
          <p:nvPr/>
        </p:nvCxnSpPr>
        <p:spPr>
          <a:xfrm>
            <a:off x="545700" y="4906375"/>
            <a:ext cx="823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4" name="Google Shape;1264;p56"/>
          <p:cNvSpPr/>
          <p:nvPr/>
        </p:nvSpPr>
        <p:spPr>
          <a:xfrm>
            <a:off x="152400" y="4327075"/>
            <a:ext cx="248100" cy="2469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65" name="Google Shape;1265;p56"/>
          <p:cNvSpPr/>
          <p:nvPr/>
        </p:nvSpPr>
        <p:spPr>
          <a:xfrm>
            <a:off x="152400" y="4079875"/>
            <a:ext cx="248100" cy="243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66" name="Google Shape;1266;p56"/>
          <p:cNvSpPr txBox="1"/>
          <p:nvPr/>
        </p:nvSpPr>
        <p:spPr>
          <a:xfrm>
            <a:off x="400500" y="4076175"/>
            <a:ext cx="645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Bias</a:t>
            </a:r>
            <a:endParaRPr sz="17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67" name="Google Shape;1267;p56"/>
          <p:cNvSpPr txBox="1"/>
          <p:nvPr/>
        </p:nvSpPr>
        <p:spPr>
          <a:xfrm>
            <a:off x="400500" y="4326925"/>
            <a:ext cx="978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Variance</a:t>
            </a:r>
            <a:endParaRPr sz="17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these values affect our expected error?</a:t>
            </a:r>
            <a:endParaRPr/>
          </a:p>
        </p:txBody>
      </p:sp>
      <p:pic>
        <p:nvPicPr>
          <p:cNvPr id="1273" name="Google Shape;127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4200"/>
            <a:ext cx="8839199" cy="29151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4" name="Google Shape;1274;p57"/>
          <p:cNvCxnSpPr/>
          <p:nvPr/>
        </p:nvCxnSpPr>
        <p:spPr>
          <a:xfrm>
            <a:off x="545700" y="4906375"/>
            <a:ext cx="823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5" name="Google Shape;1275;p57"/>
          <p:cNvSpPr/>
          <p:nvPr/>
        </p:nvSpPr>
        <p:spPr>
          <a:xfrm>
            <a:off x="1537850" y="4757550"/>
            <a:ext cx="248100" cy="1488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6" name="Google Shape;1276;p57"/>
          <p:cNvSpPr/>
          <p:nvPr/>
        </p:nvSpPr>
        <p:spPr>
          <a:xfrm>
            <a:off x="4448525" y="4608700"/>
            <a:ext cx="248100" cy="297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7" name="Google Shape;1277;p57"/>
          <p:cNvSpPr/>
          <p:nvPr/>
        </p:nvSpPr>
        <p:spPr>
          <a:xfrm>
            <a:off x="7339350" y="4165225"/>
            <a:ext cx="248100" cy="741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8" name="Google Shape;1278;p57"/>
          <p:cNvSpPr/>
          <p:nvPr/>
        </p:nvSpPr>
        <p:spPr>
          <a:xfrm>
            <a:off x="152400" y="4327075"/>
            <a:ext cx="248100" cy="2469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9" name="Google Shape;1279;p57"/>
          <p:cNvSpPr/>
          <p:nvPr/>
        </p:nvSpPr>
        <p:spPr>
          <a:xfrm>
            <a:off x="152400" y="4079875"/>
            <a:ext cx="248100" cy="243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80" name="Google Shape;1280;p57"/>
          <p:cNvSpPr txBox="1"/>
          <p:nvPr/>
        </p:nvSpPr>
        <p:spPr>
          <a:xfrm>
            <a:off x="400500" y="4076175"/>
            <a:ext cx="645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Bias</a:t>
            </a:r>
            <a:endParaRPr sz="17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81" name="Google Shape;1281;p57"/>
          <p:cNvSpPr txBox="1"/>
          <p:nvPr/>
        </p:nvSpPr>
        <p:spPr>
          <a:xfrm>
            <a:off x="400500" y="4326925"/>
            <a:ext cx="978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Variance</a:t>
            </a:r>
            <a:endParaRPr sz="17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these values affect our expected error?</a:t>
            </a:r>
            <a:endParaRPr/>
          </a:p>
        </p:txBody>
      </p:sp>
      <p:pic>
        <p:nvPicPr>
          <p:cNvPr id="1287" name="Google Shape;128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4200"/>
            <a:ext cx="8839199" cy="29151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8" name="Google Shape;1288;p58"/>
          <p:cNvCxnSpPr/>
          <p:nvPr/>
        </p:nvCxnSpPr>
        <p:spPr>
          <a:xfrm>
            <a:off x="545700" y="4906375"/>
            <a:ext cx="823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9" name="Google Shape;1289;p58"/>
          <p:cNvSpPr/>
          <p:nvPr/>
        </p:nvSpPr>
        <p:spPr>
          <a:xfrm>
            <a:off x="1785950" y="4165375"/>
            <a:ext cx="248100" cy="741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90" name="Google Shape;1290;p58"/>
          <p:cNvSpPr/>
          <p:nvPr/>
        </p:nvSpPr>
        <p:spPr>
          <a:xfrm>
            <a:off x="1537850" y="4757550"/>
            <a:ext cx="248100" cy="1488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91" name="Google Shape;1291;p58"/>
          <p:cNvSpPr/>
          <p:nvPr/>
        </p:nvSpPr>
        <p:spPr>
          <a:xfrm>
            <a:off x="4696625" y="4573975"/>
            <a:ext cx="248100" cy="3324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92" name="Google Shape;1292;p58"/>
          <p:cNvSpPr/>
          <p:nvPr/>
        </p:nvSpPr>
        <p:spPr>
          <a:xfrm>
            <a:off x="4448525" y="4608700"/>
            <a:ext cx="248100" cy="297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93" name="Google Shape;1293;p58"/>
          <p:cNvSpPr/>
          <p:nvPr/>
        </p:nvSpPr>
        <p:spPr>
          <a:xfrm>
            <a:off x="7587450" y="4831950"/>
            <a:ext cx="248100" cy="744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94" name="Google Shape;1294;p58"/>
          <p:cNvSpPr/>
          <p:nvPr/>
        </p:nvSpPr>
        <p:spPr>
          <a:xfrm>
            <a:off x="7339350" y="4165225"/>
            <a:ext cx="248100" cy="7410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95" name="Google Shape;1295;p58"/>
          <p:cNvSpPr/>
          <p:nvPr/>
        </p:nvSpPr>
        <p:spPr>
          <a:xfrm>
            <a:off x="152400" y="4327075"/>
            <a:ext cx="248100" cy="2469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96" name="Google Shape;1296;p58"/>
          <p:cNvSpPr/>
          <p:nvPr/>
        </p:nvSpPr>
        <p:spPr>
          <a:xfrm>
            <a:off x="152400" y="4079875"/>
            <a:ext cx="248100" cy="243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97" name="Google Shape;1297;p58"/>
          <p:cNvSpPr txBox="1"/>
          <p:nvPr/>
        </p:nvSpPr>
        <p:spPr>
          <a:xfrm>
            <a:off x="400500" y="4076175"/>
            <a:ext cx="645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Bias</a:t>
            </a:r>
            <a:endParaRPr sz="17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98" name="Google Shape;1298;p58"/>
          <p:cNvSpPr txBox="1"/>
          <p:nvPr/>
        </p:nvSpPr>
        <p:spPr>
          <a:xfrm>
            <a:off x="400500" y="4326925"/>
            <a:ext cx="978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Variance</a:t>
            </a:r>
            <a:endParaRPr sz="17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5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“bias” and “variance”?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Informally / Quasi-formally</a:t>
            </a:r>
            <a:endParaRPr/>
          </a:p>
        </p:txBody>
      </p:sp>
      <p:sp>
        <p:nvSpPr>
          <p:cNvPr id="1309" name="Google Shape;1309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estimator is </a:t>
            </a:r>
            <a:r>
              <a:rPr i="1" lang="en"/>
              <a:t>un</a:t>
            </a:r>
            <a:r>
              <a:rPr i="1" lang="en"/>
              <a:t>biased</a:t>
            </a:r>
            <a:r>
              <a:rPr lang="en"/>
              <a:t> if, over the statistical process used to estimate it and all sources of randomness, its expected value equals the target property. If not, it is (statistically) </a:t>
            </a:r>
            <a:r>
              <a:rPr i="1" lang="en"/>
              <a:t>biased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“variance” of an estimator refers to how much deviation any given sample of this estimate will take from its expected value.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“bias” in the bias-variance tradeoff thus refers to whether a model will actually model the “right thing” and the variance refers to how much the randomness in the learning process will add uncertainty to our output.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61"/>
          <p:cNvSpPr txBox="1"/>
          <p:nvPr>
            <p:ph type="title"/>
          </p:nvPr>
        </p:nvSpPr>
        <p:spPr>
          <a:xfrm>
            <a:off x="490250" y="450150"/>
            <a:ext cx="7395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“right thing”?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learning over a (binary classification) problem with random variables 𝘅, 𝗒</a:t>
            </a:r>
            <a:endParaRPr/>
          </a:p>
        </p:txBody>
      </p:sp>
      <p:sp>
        <p:nvSpPr>
          <p:cNvPr id="1320" name="Google Shape;1320;p62"/>
          <p:cNvSpPr txBox="1"/>
          <p:nvPr/>
        </p:nvSpPr>
        <p:spPr>
          <a:xfrm>
            <a:off x="6993863" y="1982468"/>
            <a:ext cx="17073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0" lIns="85000" spcFirstLastPara="1" rIns="85000" wrap="square" tIns="85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116"/>
              </a:spcAft>
              <a:buNone/>
            </a:pPr>
            <a:r>
              <a:rPr lang="en" sz="6694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𝛝</a:t>
            </a:r>
            <a:endParaRPr sz="6694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1321" name="Google Shape;1321;p62"/>
          <p:cNvSpPr txBox="1"/>
          <p:nvPr/>
        </p:nvSpPr>
        <p:spPr>
          <a:xfrm>
            <a:off x="442827" y="1982468"/>
            <a:ext cx="17073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00" lIns="85000" spcFirstLastPara="1" rIns="85000" wrap="square" tIns="85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116"/>
              </a:spcAft>
              <a:buNone/>
            </a:pPr>
            <a:r>
              <a:rPr lang="en" sz="6694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rPr>
              <a:t>𝘅, 𝗒</a:t>
            </a:r>
            <a:endParaRPr sz="6694">
              <a:solidFill>
                <a:schemeClr val="dk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grpSp>
        <p:nvGrpSpPr>
          <p:cNvPr id="1322" name="Google Shape;1322;p62"/>
          <p:cNvGrpSpPr/>
          <p:nvPr/>
        </p:nvGrpSpPr>
        <p:grpSpPr>
          <a:xfrm>
            <a:off x="2614214" y="1656218"/>
            <a:ext cx="3784472" cy="2197775"/>
            <a:chOff x="224150" y="1798650"/>
            <a:chExt cx="5070300" cy="2944500"/>
          </a:xfrm>
        </p:grpSpPr>
        <p:cxnSp>
          <p:nvCxnSpPr>
            <p:cNvPr id="1323" name="Google Shape;1323;p62"/>
            <p:cNvCxnSpPr/>
            <p:nvPr/>
          </p:nvCxnSpPr>
          <p:spPr>
            <a:xfrm>
              <a:off x="2709925" y="1798650"/>
              <a:ext cx="0" cy="2944500"/>
            </a:xfrm>
            <a:prstGeom prst="straightConnector1">
              <a:avLst/>
            </a:prstGeom>
            <a:noFill/>
            <a:ln cap="flat" cmpd="sng" w="142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24" name="Google Shape;1324;p62"/>
            <p:cNvCxnSpPr/>
            <p:nvPr/>
          </p:nvCxnSpPr>
          <p:spPr>
            <a:xfrm>
              <a:off x="224150" y="3270900"/>
              <a:ext cx="5070300" cy="0"/>
            </a:xfrm>
            <a:prstGeom prst="straightConnector1">
              <a:avLst/>
            </a:prstGeom>
            <a:noFill/>
            <a:ln cap="flat" cmpd="sng" w="142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25" name="Google Shape;1325;p62"/>
            <p:cNvSpPr/>
            <p:nvPr/>
          </p:nvSpPr>
          <p:spPr>
            <a:xfrm>
              <a:off x="3192025" y="200772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26" name="Google Shape;1326;p62"/>
            <p:cNvSpPr/>
            <p:nvPr/>
          </p:nvSpPr>
          <p:spPr>
            <a:xfrm>
              <a:off x="3338625" y="240987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27" name="Google Shape;1327;p62"/>
            <p:cNvSpPr/>
            <p:nvPr/>
          </p:nvSpPr>
          <p:spPr>
            <a:xfrm>
              <a:off x="3740775" y="2115075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28" name="Google Shape;1328;p62"/>
            <p:cNvSpPr/>
            <p:nvPr/>
          </p:nvSpPr>
          <p:spPr>
            <a:xfrm>
              <a:off x="1970750" y="2522750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29" name="Google Shape;1329;p62"/>
            <p:cNvSpPr/>
            <p:nvPr/>
          </p:nvSpPr>
          <p:spPr>
            <a:xfrm>
              <a:off x="3302150" y="345922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30" name="Google Shape;1330;p62"/>
            <p:cNvSpPr/>
            <p:nvPr/>
          </p:nvSpPr>
          <p:spPr>
            <a:xfrm>
              <a:off x="2926025" y="3808425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31" name="Google Shape;1331;p62"/>
            <p:cNvSpPr/>
            <p:nvPr/>
          </p:nvSpPr>
          <p:spPr>
            <a:xfrm>
              <a:off x="4443275" y="3682050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32" name="Google Shape;1332;p62"/>
            <p:cNvSpPr/>
            <p:nvPr/>
          </p:nvSpPr>
          <p:spPr>
            <a:xfrm>
              <a:off x="3770950" y="2986500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33" name="Google Shape;1333;p62"/>
            <p:cNvSpPr/>
            <p:nvPr/>
          </p:nvSpPr>
          <p:spPr>
            <a:xfrm>
              <a:off x="1710525" y="345922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34" name="Google Shape;1334;p62"/>
            <p:cNvSpPr/>
            <p:nvPr/>
          </p:nvSpPr>
          <p:spPr>
            <a:xfrm>
              <a:off x="2059725" y="395895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35" name="Google Shape;1335;p62"/>
            <p:cNvSpPr/>
            <p:nvPr/>
          </p:nvSpPr>
          <p:spPr>
            <a:xfrm>
              <a:off x="1822975" y="4157625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36" name="Google Shape;1336;p62"/>
            <p:cNvSpPr/>
            <p:nvPr/>
          </p:nvSpPr>
          <p:spPr>
            <a:xfrm>
              <a:off x="2010200" y="430815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37" name="Google Shape;1337;p62"/>
            <p:cNvSpPr/>
            <p:nvPr/>
          </p:nvSpPr>
          <p:spPr>
            <a:xfrm>
              <a:off x="2359400" y="4193400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38" name="Google Shape;1338;p62"/>
            <p:cNvSpPr/>
            <p:nvPr/>
          </p:nvSpPr>
          <p:spPr>
            <a:xfrm>
              <a:off x="1036600" y="368205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39" name="Google Shape;1339;p62"/>
            <p:cNvSpPr/>
            <p:nvPr/>
          </p:nvSpPr>
          <p:spPr>
            <a:xfrm>
              <a:off x="364275" y="403125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40" name="Google Shape;1340;p62"/>
            <p:cNvSpPr/>
            <p:nvPr/>
          </p:nvSpPr>
          <p:spPr>
            <a:xfrm>
              <a:off x="627375" y="380842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41" name="Google Shape;1341;p62"/>
            <p:cNvSpPr/>
            <p:nvPr/>
          </p:nvSpPr>
          <p:spPr>
            <a:xfrm>
              <a:off x="976575" y="266910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42" name="Google Shape;1342;p62"/>
            <p:cNvSpPr/>
            <p:nvPr/>
          </p:nvSpPr>
          <p:spPr>
            <a:xfrm>
              <a:off x="1325775" y="3195025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43" name="Google Shape;1343;p62"/>
            <p:cNvSpPr/>
            <p:nvPr/>
          </p:nvSpPr>
          <p:spPr>
            <a:xfrm>
              <a:off x="2790800" y="3335700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44" name="Google Shape;1344;p62"/>
            <p:cNvSpPr/>
            <p:nvPr/>
          </p:nvSpPr>
          <p:spPr>
            <a:xfrm>
              <a:off x="4241650" y="2203600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45" name="Google Shape;1345;p62"/>
            <p:cNvSpPr/>
            <p:nvPr/>
          </p:nvSpPr>
          <p:spPr>
            <a:xfrm>
              <a:off x="1674975" y="221397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46" name="Google Shape;1346;p62"/>
            <p:cNvSpPr/>
            <p:nvPr/>
          </p:nvSpPr>
          <p:spPr>
            <a:xfrm>
              <a:off x="2744800" y="2115075"/>
              <a:ext cx="349200" cy="349200"/>
            </a:xfrm>
            <a:prstGeom prst="mathPlus">
              <a:avLst>
                <a:gd fmla="val 23520" name="adj1"/>
              </a:avLst>
            </a:prstGeom>
            <a:solidFill>
              <a:srgbClr val="D9EAD3"/>
            </a:solidFill>
            <a:ln cap="flat" cmpd="sng" w="21325">
              <a:solidFill>
                <a:srgbClr val="274E1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47" name="Google Shape;1347;p62"/>
            <p:cNvSpPr/>
            <p:nvPr/>
          </p:nvSpPr>
          <p:spPr>
            <a:xfrm>
              <a:off x="4036725" y="4332525"/>
              <a:ext cx="349200" cy="349200"/>
            </a:xfrm>
            <a:prstGeom prst="mathMultiply">
              <a:avLst>
                <a:gd fmla="val 23520" name="adj1"/>
              </a:avLst>
            </a:prstGeom>
            <a:solidFill>
              <a:srgbClr val="E6B8AF"/>
            </a:solidFill>
            <a:ln cap="flat" cmpd="sng" w="21325">
              <a:solidFill>
                <a:srgbClr val="5B0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225" lIns="68225" spcFirstLastPara="1" rIns="68225" wrap="square" tIns="68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cxnSp>
        <p:nvCxnSpPr>
          <p:cNvPr id="1348" name="Google Shape;1348;p62"/>
          <p:cNvCxnSpPr>
            <a:stCxn id="1321" idx="3"/>
          </p:cNvCxnSpPr>
          <p:nvPr/>
        </p:nvCxnSpPr>
        <p:spPr>
          <a:xfrm>
            <a:off x="2150127" y="2755118"/>
            <a:ext cx="326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9" name="Google Shape;1349;p62"/>
          <p:cNvCxnSpPr>
            <a:endCxn id="1320" idx="1"/>
          </p:cNvCxnSpPr>
          <p:nvPr/>
        </p:nvCxnSpPr>
        <p:spPr>
          <a:xfrm>
            <a:off x="6609863" y="2755118"/>
            <a:ext cx="384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6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“right” output for our model to learn is precisely </a:t>
            </a:r>
            <a:r>
              <a:rPr lang="en"/>
              <a:t>𝑔</a:t>
            </a:r>
            <a:r>
              <a:rPr lang="en"/>
              <a:t>(</a:t>
            </a:r>
            <a:r>
              <a:rPr lang="en"/>
              <a:t>𝒙</a:t>
            </a:r>
            <a:r>
              <a:rPr lang="en"/>
              <a:t>) = </a:t>
            </a:r>
            <a:r>
              <a:rPr lang="en"/>
              <a:t>𝑝</a:t>
            </a:r>
            <a:r>
              <a:rPr baseline="-25000" lang="en"/>
              <a:t>𝗒 | 𝘅=</a:t>
            </a:r>
            <a:r>
              <a:rPr baseline="-25000" lang="en"/>
              <a:t>𝒙</a:t>
            </a:r>
            <a:endParaRPr baseline="-25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“Capacity” or “Complexity” reflects the model’s ability to fit complex functions.</a:t>
            </a:r>
            <a:r>
              <a:rPr lang="en"/>
              <a:t> </a:t>
            </a:r>
            <a:r>
              <a:rPr lang="en"/>
              <a:t>As capacity increases, bias decreases and variance increases.</a:t>
            </a:r>
            <a:endParaRPr/>
          </a:p>
        </p:txBody>
      </p:sp>
      <p:pic>
        <p:nvPicPr>
          <p:cNvPr id="1360" name="Google Shape;136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9076" y="1739350"/>
            <a:ext cx="6799451" cy="332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the sources of this “variance” / “uncertainty”?</a:t>
            </a:r>
            <a:endParaRPr/>
          </a:p>
        </p:txBody>
      </p:sp>
      <p:sp>
        <p:nvSpPr>
          <p:cNvPr id="1366" name="Google Shape;1366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Training dataset sample.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Hyperparameter choice.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Parameter Initialization.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Stochasticity in algorithm.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Test sample*.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6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assess uncertainty?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may need to repeat our split many times</a:t>
            </a:r>
            <a:endParaRPr/>
          </a:p>
        </p:txBody>
      </p:sp>
      <p:grpSp>
        <p:nvGrpSpPr>
          <p:cNvPr id="1377" name="Google Shape;1377;p67"/>
          <p:cNvGrpSpPr/>
          <p:nvPr/>
        </p:nvGrpSpPr>
        <p:grpSpPr>
          <a:xfrm>
            <a:off x="694261" y="1567654"/>
            <a:ext cx="1353340" cy="1376572"/>
            <a:chOff x="2771325" y="459125"/>
            <a:chExt cx="3623400" cy="3685600"/>
          </a:xfrm>
        </p:grpSpPr>
        <p:sp>
          <p:nvSpPr>
            <p:cNvPr id="1378" name="Google Shape;1378;p67"/>
            <p:cNvSpPr/>
            <p:nvPr/>
          </p:nvSpPr>
          <p:spPr>
            <a:xfrm>
              <a:off x="2771325" y="3921225"/>
              <a:ext cx="3623400" cy="223500"/>
            </a:xfrm>
            <a:prstGeom prst="trapezoid">
              <a:avLst>
                <a:gd fmla="val 44417" name="adj"/>
              </a:avLst>
            </a:prstGeom>
            <a:solidFill>
              <a:srgbClr val="FFFFFF"/>
            </a:soli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67"/>
            <p:cNvSpPr/>
            <p:nvPr/>
          </p:nvSpPr>
          <p:spPr>
            <a:xfrm>
              <a:off x="2913300" y="1100250"/>
              <a:ext cx="3317400" cy="2912100"/>
            </a:xfrm>
            <a:prstGeom prst="rect">
              <a:avLst/>
            </a:prstGeom>
            <a:solidFill>
              <a:srgbClr val="FFFFFF"/>
            </a:soli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67"/>
            <p:cNvSpPr/>
            <p:nvPr/>
          </p:nvSpPr>
          <p:spPr>
            <a:xfrm>
              <a:off x="3802650" y="488075"/>
              <a:ext cx="1538700" cy="612300"/>
            </a:xfrm>
            <a:prstGeom prst="rect">
              <a:avLst/>
            </a:prstGeom>
            <a:solidFill>
              <a:srgbClr val="FFFFFF"/>
            </a:soli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67"/>
            <p:cNvSpPr/>
            <p:nvPr/>
          </p:nvSpPr>
          <p:spPr>
            <a:xfrm>
              <a:off x="4236900" y="459125"/>
              <a:ext cx="670200" cy="670200"/>
            </a:xfrm>
            <a:prstGeom prst="mathPlus">
              <a:avLst>
                <a:gd fmla="val 23520" name="adj1"/>
              </a:avLst>
            </a:prstGeom>
            <a:solidFill>
              <a:srgbClr val="EA9999"/>
            </a:solidFill>
            <a:ln cap="flat" cmpd="sng" w="35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67"/>
            <p:cNvSpPr/>
            <p:nvPr/>
          </p:nvSpPr>
          <p:spPr>
            <a:xfrm>
              <a:off x="4941525" y="2994750"/>
              <a:ext cx="1085100" cy="10176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83" name="Google Shape;1383;p67"/>
            <p:cNvCxnSpPr>
              <a:stCxn id="1382" idx="0"/>
              <a:endCxn id="1382" idx="2"/>
            </p:cNvCxnSpPr>
            <p:nvPr/>
          </p:nvCxnSpPr>
          <p:spPr>
            <a:xfrm>
              <a:off x="5484075" y="2994750"/>
              <a:ext cx="0" cy="1017600"/>
            </a:xfrm>
            <a:prstGeom prst="straightConnector1">
              <a:avLst/>
            </a:prstGeom>
            <a:noFill/>
            <a:ln cap="flat" cmpd="sng" w="35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84" name="Google Shape;1384;p67"/>
            <p:cNvSpPr/>
            <p:nvPr/>
          </p:nvSpPr>
          <p:spPr>
            <a:xfrm>
              <a:off x="311745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67"/>
            <p:cNvSpPr/>
            <p:nvPr/>
          </p:nvSpPr>
          <p:spPr>
            <a:xfrm>
              <a:off x="3725475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67"/>
            <p:cNvSpPr/>
            <p:nvPr/>
          </p:nvSpPr>
          <p:spPr>
            <a:xfrm>
              <a:off x="433350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67"/>
            <p:cNvSpPr/>
            <p:nvPr/>
          </p:nvSpPr>
          <p:spPr>
            <a:xfrm>
              <a:off x="4941525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67"/>
            <p:cNvSpPr/>
            <p:nvPr/>
          </p:nvSpPr>
          <p:spPr>
            <a:xfrm>
              <a:off x="554955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67"/>
            <p:cNvSpPr/>
            <p:nvPr/>
          </p:nvSpPr>
          <p:spPr>
            <a:xfrm>
              <a:off x="311745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67"/>
            <p:cNvSpPr/>
            <p:nvPr/>
          </p:nvSpPr>
          <p:spPr>
            <a:xfrm>
              <a:off x="3725475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67"/>
            <p:cNvSpPr/>
            <p:nvPr/>
          </p:nvSpPr>
          <p:spPr>
            <a:xfrm>
              <a:off x="433350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67"/>
            <p:cNvSpPr/>
            <p:nvPr/>
          </p:nvSpPr>
          <p:spPr>
            <a:xfrm>
              <a:off x="4941525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67"/>
            <p:cNvSpPr/>
            <p:nvPr/>
          </p:nvSpPr>
          <p:spPr>
            <a:xfrm>
              <a:off x="554955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67"/>
            <p:cNvSpPr/>
            <p:nvPr/>
          </p:nvSpPr>
          <p:spPr>
            <a:xfrm>
              <a:off x="3117450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67"/>
            <p:cNvSpPr/>
            <p:nvPr/>
          </p:nvSpPr>
          <p:spPr>
            <a:xfrm>
              <a:off x="3725475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67"/>
            <p:cNvSpPr/>
            <p:nvPr/>
          </p:nvSpPr>
          <p:spPr>
            <a:xfrm>
              <a:off x="4333500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7" name="Google Shape;1397;p67"/>
          <p:cNvGrpSpPr/>
          <p:nvPr/>
        </p:nvGrpSpPr>
        <p:grpSpPr>
          <a:xfrm>
            <a:off x="694261" y="3211829"/>
            <a:ext cx="1353340" cy="1376572"/>
            <a:chOff x="2771325" y="459125"/>
            <a:chExt cx="3623400" cy="3685600"/>
          </a:xfrm>
        </p:grpSpPr>
        <p:sp>
          <p:nvSpPr>
            <p:cNvPr id="1398" name="Google Shape;1398;p67"/>
            <p:cNvSpPr/>
            <p:nvPr/>
          </p:nvSpPr>
          <p:spPr>
            <a:xfrm>
              <a:off x="2771325" y="3921225"/>
              <a:ext cx="3623400" cy="223500"/>
            </a:xfrm>
            <a:prstGeom prst="trapezoid">
              <a:avLst>
                <a:gd fmla="val 44417" name="adj"/>
              </a:avLst>
            </a:prstGeom>
            <a:solidFill>
              <a:srgbClr val="FFFFFF"/>
            </a:soli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67"/>
            <p:cNvSpPr/>
            <p:nvPr/>
          </p:nvSpPr>
          <p:spPr>
            <a:xfrm>
              <a:off x="2913300" y="1100250"/>
              <a:ext cx="3317400" cy="2912100"/>
            </a:xfrm>
            <a:prstGeom prst="rect">
              <a:avLst/>
            </a:prstGeom>
            <a:solidFill>
              <a:srgbClr val="FFFFFF"/>
            </a:soli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67"/>
            <p:cNvSpPr/>
            <p:nvPr/>
          </p:nvSpPr>
          <p:spPr>
            <a:xfrm>
              <a:off x="3802650" y="488075"/>
              <a:ext cx="1538700" cy="612300"/>
            </a:xfrm>
            <a:prstGeom prst="rect">
              <a:avLst/>
            </a:prstGeom>
            <a:solidFill>
              <a:srgbClr val="FFFFFF"/>
            </a:soli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67"/>
            <p:cNvSpPr/>
            <p:nvPr/>
          </p:nvSpPr>
          <p:spPr>
            <a:xfrm>
              <a:off x="4236900" y="459125"/>
              <a:ext cx="670200" cy="670200"/>
            </a:xfrm>
            <a:prstGeom prst="mathPlus">
              <a:avLst>
                <a:gd fmla="val 23520" name="adj1"/>
              </a:avLst>
            </a:prstGeom>
            <a:solidFill>
              <a:srgbClr val="EA9999"/>
            </a:solidFill>
            <a:ln cap="flat" cmpd="sng" w="35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67"/>
            <p:cNvSpPr/>
            <p:nvPr/>
          </p:nvSpPr>
          <p:spPr>
            <a:xfrm>
              <a:off x="4941525" y="2994750"/>
              <a:ext cx="1085100" cy="10176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7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03" name="Google Shape;1403;p67"/>
            <p:cNvCxnSpPr>
              <a:stCxn id="1402" idx="0"/>
              <a:endCxn id="1402" idx="2"/>
            </p:cNvCxnSpPr>
            <p:nvPr/>
          </p:nvCxnSpPr>
          <p:spPr>
            <a:xfrm>
              <a:off x="5484075" y="2994750"/>
              <a:ext cx="0" cy="1017600"/>
            </a:xfrm>
            <a:prstGeom prst="straightConnector1">
              <a:avLst/>
            </a:prstGeom>
            <a:noFill/>
            <a:ln cap="flat" cmpd="sng" w="35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04" name="Google Shape;1404;p67"/>
            <p:cNvSpPr/>
            <p:nvPr/>
          </p:nvSpPr>
          <p:spPr>
            <a:xfrm>
              <a:off x="311745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67"/>
            <p:cNvSpPr/>
            <p:nvPr/>
          </p:nvSpPr>
          <p:spPr>
            <a:xfrm>
              <a:off x="3725475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67"/>
            <p:cNvSpPr/>
            <p:nvPr/>
          </p:nvSpPr>
          <p:spPr>
            <a:xfrm>
              <a:off x="433350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67"/>
            <p:cNvSpPr/>
            <p:nvPr/>
          </p:nvSpPr>
          <p:spPr>
            <a:xfrm>
              <a:off x="4941525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67"/>
            <p:cNvSpPr/>
            <p:nvPr/>
          </p:nvSpPr>
          <p:spPr>
            <a:xfrm>
              <a:off x="5549550" y="13319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67"/>
            <p:cNvSpPr/>
            <p:nvPr/>
          </p:nvSpPr>
          <p:spPr>
            <a:xfrm>
              <a:off x="311745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67"/>
            <p:cNvSpPr/>
            <p:nvPr/>
          </p:nvSpPr>
          <p:spPr>
            <a:xfrm>
              <a:off x="3725475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67"/>
            <p:cNvSpPr/>
            <p:nvPr/>
          </p:nvSpPr>
          <p:spPr>
            <a:xfrm>
              <a:off x="433350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67"/>
            <p:cNvSpPr/>
            <p:nvPr/>
          </p:nvSpPr>
          <p:spPr>
            <a:xfrm>
              <a:off x="4941525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67"/>
            <p:cNvSpPr/>
            <p:nvPr/>
          </p:nvSpPr>
          <p:spPr>
            <a:xfrm>
              <a:off x="5549550" y="215855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67"/>
            <p:cNvSpPr/>
            <p:nvPr/>
          </p:nvSpPr>
          <p:spPr>
            <a:xfrm>
              <a:off x="3117450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67"/>
            <p:cNvSpPr/>
            <p:nvPr/>
          </p:nvSpPr>
          <p:spPr>
            <a:xfrm>
              <a:off x="3725475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67"/>
            <p:cNvSpPr/>
            <p:nvPr/>
          </p:nvSpPr>
          <p:spPr>
            <a:xfrm>
              <a:off x="4333500" y="2985200"/>
              <a:ext cx="477000" cy="477000"/>
            </a:xfrm>
            <a:prstGeom prst="rect">
              <a:avLst/>
            </a:prstGeom>
            <a:gradFill>
              <a:gsLst>
                <a:gs pos="0">
                  <a:srgbClr val="CFE2F3"/>
                </a:gs>
                <a:gs pos="50000">
                  <a:srgbClr val="F1F6F6">
                    <a:alpha val="0"/>
                  </a:srgbClr>
                </a:gs>
                <a:gs pos="100000">
                  <a:srgbClr val="CFE2F3"/>
                </a:gs>
              </a:gsLst>
              <a:lin ang="2700006" scaled="0"/>
            </a:gradFill>
            <a:ln cap="flat" cmpd="sng" w="3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150" lIns="34150" spcFirstLastPara="1" rIns="34150" wrap="square" tIns="34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7" name="Google Shape;1417;p67"/>
          <p:cNvGrpSpPr/>
          <p:nvPr/>
        </p:nvGrpSpPr>
        <p:grpSpPr>
          <a:xfrm>
            <a:off x="2446962" y="1596762"/>
            <a:ext cx="330968" cy="668844"/>
            <a:chOff x="979050" y="682850"/>
            <a:chExt cx="519900" cy="1050650"/>
          </a:xfrm>
        </p:grpSpPr>
        <p:sp>
          <p:nvSpPr>
            <p:cNvPr id="1418" name="Google Shape;1418;p67"/>
            <p:cNvSpPr/>
            <p:nvPr/>
          </p:nvSpPr>
          <p:spPr>
            <a:xfrm>
              <a:off x="1112725" y="682850"/>
              <a:ext cx="247800" cy="247800"/>
            </a:xfrm>
            <a:prstGeom prst="ellipse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67"/>
            <p:cNvSpPr/>
            <p:nvPr/>
          </p:nvSpPr>
          <p:spPr>
            <a:xfrm>
              <a:off x="979050" y="930650"/>
              <a:ext cx="519900" cy="419400"/>
            </a:xfrm>
            <a:prstGeom prst="round2SameRect">
              <a:avLst>
                <a:gd fmla="val 27945" name="adj1"/>
                <a:gd fmla="val 0" name="adj2"/>
              </a:avLst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67"/>
            <p:cNvSpPr/>
            <p:nvPr/>
          </p:nvSpPr>
          <p:spPr>
            <a:xfrm>
              <a:off x="11016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67"/>
            <p:cNvSpPr/>
            <p:nvPr/>
          </p:nvSpPr>
          <p:spPr>
            <a:xfrm>
              <a:off x="12715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67"/>
            <p:cNvSpPr/>
            <p:nvPr/>
          </p:nvSpPr>
          <p:spPr>
            <a:xfrm>
              <a:off x="1101600" y="1059300"/>
              <a:ext cx="285300" cy="3585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67"/>
            <p:cNvSpPr/>
            <p:nvPr/>
          </p:nvSpPr>
          <p:spPr>
            <a:xfrm>
              <a:off x="1107125" y="1032900"/>
              <a:ext cx="274200" cy="378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67"/>
            <p:cNvSpPr/>
            <p:nvPr/>
          </p:nvSpPr>
          <p:spPr>
            <a:xfrm>
              <a:off x="1107125" y="1390900"/>
              <a:ext cx="1044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67"/>
            <p:cNvSpPr/>
            <p:nvPr/>
          </p:nvSpPr>
          <p:spPr>
            <a:xfrm>
              <a:off x="1276425" y="1390900"/>
              <a:ext cx="1050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6" name="Google Shape;1426;p67"/>
          <p:cNvGrpSpPr/>
          <p:nvPr/>
        </p:nvGrpSpPr>
        <p:grpSpPr>
          <a:xfrm>
            <a:off x="2446962" y="2418850"/>
            <a:ext cx="330968" cy="668844"/>
            <a:chOff x="979050" y="682850"/>
            <a:chExt cx="519900" cy="1050650"/>
          </a:xfrm>
        </p:grpSpPr>
        <p:sp>
          <p:nvSpPr>
            <p:cNvPr id="1427" name="Google Shape;1427;p67"/>
            <p:cNvSpPr/>
            <p:nvPr/>
          </p:nvSpPr>
          <p:spPr>
            <a:xfrm>
              <a:off x="1112725" y="682850"/>
              <a:ext cx="247800" cy="247800"/>
            </a:xfrm>
            <a:prstGeom prst="ellipse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67"/>
            <p:cNvSpPr/>
            <p:nvPr/>
          </p:nvSpPr>
          <p:spPr>
            <a:xfrm>
              <a:off x="979050" y="930650"/>
              <a:ext cx="519900" cy="419400"/>
            </a:xfrm>
            <a:prstGeom prst="round2SameRect">
              <a:avLst>
                <a:gd fmla="val 27945" name="adj1"/>
                <a:gd fmla="val 0" name="adj2"/>
              </a:avLst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67"/>
            <p:cNvSpPr/>
            <p:nvPr/>
          </p:nvSpPr>
          <p:spPr>
            <a:xfrm>
              <a:off x="11016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67"/>
            <p:cNvSpPr/>
            <p:nvPr/>
          </p:nvSpPr>
          <p:spPr>
            <a:xfrm>
              <a:off x="12715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67"/>
            <p:cNvSpPr/>
            <p:nvPr/>
          </p:nvSpPr>
          <p:spPr>
            <a:xfrm>
              <a:off x="1101600" y="1059300"/>
              <a:ext cx="285300" cy="3585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67"/>
            <p:cNvSpPr/>
            <p:nvPr/>
          </p:nvSpPr>
          <p:spPr>
            <a:xfrm>
              <a:off x="1107125" y="1032900"/>
              <a:ext cx="274200" cy="378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67"/>
            <p:cNvSpPr/>
            <p:nvPr/>
          </p:nvSpPr>
          <p:spPr>
            <a:xfrm>
              <a:off x="1107125" y="1390900"/>
              <a:ext cx="1044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67"/>
            <p:cNvSpPr/>
            <p:nvPr/>
          </p:nvSpPr>
          <p:spPr>
            <a:xfrm>
              <a:off x="1276425" y="1390900"/>
              <a:ext cx="1050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5" name="Google Shape;1435;p67"/>
          <p:cNvGrpSpPr/>
          <p:nvPr/>
        </p:nvGrpSpPr>
        <p:grpSpPr>
          <a:xfrm>
            <a:off x="2446962" y="3661330"/>
            <a:ext cx="330968" cy="668844"/>
            <a:chOff x="979050" y="682850"/>
            <a:chExt cx="519900" cy="1050650"/>
          </a:xfrm>
        </p:grpSpPr>
        <p:sp>
          <p:nvSpPr>
            <p:cNvPr id="1436" name="Google Shape;1436;p67"/>
            <p:cNvSpPr/>
            <p:nvPr/>
          </p:nvSpPr>
          <p:spPr>
            <a:xfrm>
              <a:off x="1112725" y="682850"/>
              <a:ext cx="247800" cy="247800"/>
            </a:xfrm>
            <a:prstGeom prst="ellipse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67"/>
            <p:cNvSpPr/>
            <p:nvPr/>
          </p:nvSpPr>
          <p:spPr>
            <a:xfrm>
              <a:off x="979050" y="930650"/>
              <a:ext cx="519900" cy="419400"/>
            </a:xfrm>
            <a:prstGeom prst="round2SameRect">
              <a:avLst>
                <a:gd fmla="val 27945" name="adj1"/>
                <a:gd fmla="val 0" name="adj2"/>
              </a:avLst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67"/>
            <p:cNvSpPr/>
            <p:nvPr/>
          </p:nvSpPr>
          <p:spPr>
            <a:xfrm>
              <a:off x="11016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67"/>
            <p:cNvSpPr/>
            <p:nvPr/>
          </p:nvSpPr>
          <p:spPr>
            <a:xfrm>
              <a:off x="1271500" y="1417900"/>
              <a:ext cx="115500" cy="3156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67"/>
            <p:cNvSpPr/>
            <p:nvPr/>
          </p:nvSpPr>
          <p:spPr>
            <a:xfrm>
              <a:off x="1101600" y="1059300"/>
              <a:ext cx="285300" cy="358500"/>
            </a:xfrm>
            <a:prstGeom prst="rect">
              <a:avLst/>
            </a:prstGeom>
            <a:solidFill>
              <a:srgbClr val="FFFFFF"/>
            </a:solidFill>
            <a:ln cap="flat" cmpd="sng" w="121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67"/>
            <p:cNvSpPr/>
            <p:nvPr/>
          </p:nvSpPr>
          <p:spPr>
            <a:xfrm>
              <a:off x="1107125" y="1032900"/>
              <a:ext cx="274200" cy="378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67"/>
            <p:cNvSpPr/>
            <p:nvPr/>
          </p:nvSpPr>
          <p:spPr>
            <a:xfrm>
              <a:off x="1107125" y="1390900"/>
              <a:ext cx="1044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67"/>
            <p:cNvSpPr/>
            <p:nvPr/>
          </p:nvSpPr>
          <p:spPr>
            <a:xfrm>
              <a:off x="1276425" y="1390900"/>
              <a:ext cx="105000" cy="33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8200" lIns="58200" spcFirstLastPara="1" rIns="58200" wrap="square" tIns="5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4" name="Google Shape;1444;p67"/>
          <p:cNvSpPr txBox="1"/>
          <p:nvPr/>
        </p:nvSpPr>
        <p:spPr>
          <a:xfrm>
            <a:off x="3177275" y="1469484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1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1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1445" name="Google Shape;1445;p67"/>
          <p:cNvSpPr txBox="1"/>
          <p:nvPr/>
        </p:nvSpPr>
        <p:spPr>
          <a:xfrm>
            <a:off x="3177275" y="1931184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2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2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1446" name="Google Shape;1446;p67"/>
          <p:cNvSpPr txBox="1"/>
          <p:nvPr/>
        </p:nvSpPr>
        <p:spPr>
          <a:xfrm>
            <a:off x="3177275" y="2522421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3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3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1447" name="Google Shape;1447;p67"/>
          <p:cNvSpPr txBox="1"/>
          <p:nvPr/>
        </p:nvSpPr>
        <p:spPr>
          <a:xfrm>
            <a:off x="3177275" y="3534051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4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4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1448" name="Google Shape;1448;p67"/>
          <p:cNvSpPr txBox="1"/>
          <p:nvPr/>
        </p:nvSpPr>
        <p:spPr>
          <a:xfrm>
            <a:off x="3177275" y="3995751"/>
            <a:ext cx="75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(𝒙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5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, 𝑦</a:t>
            </a:r>
            <a:r>
              <a:rPr baseline="-25000"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5</a:t>
            </a:r>
            <a:r>
              <a:rPr lang="en" sz="1800">
                <a:solidFill>
                  <a:schemeClr val="dk2"/>
                </a:solidFill>
                <a:latin typeface="Droid Serif"/>
                <a:ea typeface="Droid Serif"/>
                <a:cs typeface="Droid Serif"/>
                <a:sym typeface="Droid Serif"/>
              </a:rPr>
              <a:t>)</a:t>
            </a:r>
            <a:endParaRPr sz="1800">
              <a:solidFill>
                <a:schemeClr val="dk2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1449" name="Google Shape;1449;p67"/>
          <p:cNvSpPr/>
          <p:nvPr/>
        </p:nvSpPr>
        <p:spPr>
          <a:xfrm>
            <a:off x="2353088" y="1511784"/>
            <a:ext cx="518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50" name="Google Shape;1450;p67"/>
          <p:cNvSpPr/>
          <p:nvPr/>
        </p:nvSpPr>
        <p:spPr>
          <a:xfrm>
            <a:off x="2353075" y="2333859"/>
            <a:ext cx="518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51" name="Google Shape;1451;p67"/>
          <p:cNvSpPr/>
          <p:nvPr/>
        </p:nvSpPr>
        <p:spPr>
          <a:xfrm>
            <a:off x="2353088" y="3576338"/>
            <a:ext cx="518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452" name="Google Shape;1452;p67"/>
          <p:cNvCxnSpPr>
            <a:stCxn id="1379" idx="3"/>
            <a:endCxn id="1449" idx="1"/>
          </p:cNvCxnSpPr>
          <p:nvPr/>
        </p:nvCxnSpPr>
        <p:spPr>
          <a:xfrm flipH="1" rot="10800000">
            <a:off x="1986338" y="1931248"/>
            <a:ext cx="366600" cy="41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3" name="Google Shape;1453;p67"/>
          <p:cNvCxnSpPr>
            <a:stCxn id="1379" idx="3"/>
            <a:endCxn id="1450" idx="1"/>
          </p:cNvCxnSpPr>
          <p:nvPr/>
        </p:nvCxnSpPr>
        <p:spPr>
          <a:xfrm>
            <a:off x="1986338" y="2350948"/>
            <a:ext cx="366600" cy="4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4" name="Google Shape;1454;p67"/>
          <p:cNvCxnSpPr>
            <a:stCxn id="1399" idx="3"/>
            <a:endCxn id="1451" idx="1"/>
          </p:cNvCxnSpPr>
          <p:nvPr/>
        </p:nvCxnSpPr>
        <p:spPr>
          <a:xfrm>
            <a:off x="1986338" y="3995123"/>
            <a:ext cx="3666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5" name="Google Shape;1455;p67"/>
          <p:cNvCxnSpPr>
            <a:stCxn id="1449" idx="3"/>
            <a:endCxn id="1444" idx="1"/>
          </p:cNvCxnSpPr>
          <p:nvPr/>
        </p:nvCxnSpPr>
        <p:spPr>
          <a:xfrm flipH="1" rot="10800000">
            <a:off x="2871788" y="1700484"/>
            <a:ext cx="305400" cy="23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6" name="Google Shape;1456;p67"/>
          <p:cNvCxnSpPr>
            <a:stCxn id="1449" idx="3"/>
            <a:endCxn id="1445" idx="1"/>
          </p:cNvCxnSpPr>
          <p:nvPr/>
        </p:nvCxnSpPr>
        <p:spPr>
          <a:xfrm>
            <a:off x="2871788" y="1931184"/>
            <a:ext cx="305400" cy="23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7" name="Google Shape;1457;p67"/>
          <p:cNvCxnSpPr>
            <a:stCxn id="1450" idx="3"/>
            <a:endCxn id="1446" idx="1"/>
          </p:cNvCxnSpPr>
          <p:nvPr/>
        </p:nvCxnSpPr>
        <p:spPr>
          <a:xfrm>
            <a:off x="2871775" y="2753259"/>
            <a:ext cx="30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8" name="Google Shape;1458;p67"/>
          <p:cNvCxnSpPr>
            <a:stCxn id="1451" idx="3"/>
            <a:endCxn id="1447" idx="1"/>
          </p:cNvCxnSpPr>
          <p:nvPr/>
        </p:nvCxnSpPr>
        <p:spPr>
          <a:xfrm flipH="1" rot="10800000">
            <a:off x="2871788" y="3765038"/>
            <a:ext cx="305400" cy="23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9" name="Google Shape;1459;p67"/>
          <p:cNvCxnSpPr>
            <a:stCxn id="1451" idx="3"/>
            <a:endCxn id="1448" idx="1"/>
          </p:cNvCxnSpPr>
          <p:nvPr/>
        </p:nvCxnSpPr>
        <p:spPr>
          <a:xfrm>
            <a:off x="2871788" y="3995738"/>
            <a:ext cx="305400" cy="23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0" name="Google Shape;1460;p67"/>
          <p:cNvSpPr txBox="1"/>
          <p:nvPr/>
        </p:nvSpPr>
        <p:spPr>
          <a:xfrm>
            <a:off x="4001225" y="1050075"/>
            <a:ext cx="125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By Clinic?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61" name="Google Shape;1461;p67"/>
          <p:cNvSpPr txBox="1"/>
          <p:nvPr/>
        </p:nvSpPr>
        <p:spPr>
          <a:xfrm>
            <a:off x="5317475" y="1050075"/>
            <a:ext cx="13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By Patient?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62" name="Google Shape;1462;p67"/>
          <p:cNvSpPr txBox="1"/>
          <p:nvPr/>
        </p:nvSpPr>
        <p:spPr>
          <a:xfrm>
            <a:off x="6734825" y="1050075"/>
            <a:ext cx="13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By Sample?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63" name="Google Shape;1463;p67"/>
          <p:cNvSpPr/>
          <p:nvPr/>
        </p:nvSpPr>
        <p:spPr>
          <a:xfrm>
            <a:off x="4193425" y="1560875"/>
            <a:ext cx="861900" cy="14076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64" name="Google Shape;1464;p67"/>
          <p:cNvSpPr/>
          <p:nvPr/>
        </p:nvSpPr>
        <p:spPr>
          <a:xfrm>
            <a:off x="5563175" y="1544125"/>
            <a:ext cx="861900" cy="874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65" name="Google Shape;1465;p67"/>
          <p:cNvSpPr/>
          <p:nvPr/>
        </p:nvSpPr>
        <p:spPr>
          <a:xfrm>
            <a:off x="5563175" y="2548650"/>
            <a:ext cx="861900" cy="4197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66" name="Google Shape;1466;p67"/>
          <p:cNvSpPr/>
          <p:nvPr/>
        </p:nvSpPr>
        <p:spPr>
          <a:xfrm>
            <a:off x="6980525" y="2543400"/>
            <a:ext cx="861900" cy="4197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67" name="Google Shape;1467;p67"/>
          <p:cNvSpPr/>
          <p:nvPr/>
        </p:nvSpPr>
        <p:spPr>
          <a:xfrm>
            <a:off x="6980525" y="2006888"/>
            <a:ext cx="861900" cy="419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68" name="Google Shape;1468;p67"/>
          <p:cNvSpPr/>
          <p:nvPr/>
        </p:nvSpPr>
        <p:spPr>
          <a:xfrm>
            <a:off x="6980525" y="1516275"/>
            <a:ext cx="861900" cy="419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69" name="Google Shape;1469;p67"/>
          <p:cNvSpPr/>
          <p:nvPr/>
        </p:nvSpPr>
        <p:spPr>
          <a:xfrm>
            <a:off x="4193425" y="3623000"/>
            <a:ext cx="861900" cy="874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70" name="Google Shape;1470;p67"/>
          <p:cNvSpPr/>
          <p:nvPr/>
        </p:nvSpPr>
        <p:spPr>
          <a:xfrm>
            <a:off x="5563175" y="3623000"/>
            <a:ext cx="861900" cy="874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71" name="Google Shape;1471;p67"/>
          <p:cNvSpPr/>
          <p:nvPr/>
        </p:nvSpPr>
        <p:spPr>
          <a:xfrm>
            <a:off x="6980525" y="4095850"/>
            <a:ext cx="861900" cy="4197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72" name="Google Shape;1472;p67"/>
          <p:cNvSpPr/>
          <p:nvPr/>
        </p:nvSpPr>
        <p:spPr>
          <a:xfrm>
            <a:off x="6980525" y="3605238"/>
            <a:ext cx="861900" cy="419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may need to repeat our split many times</a:t>
            </a:r>
            <a:endParaRPr/>
          </a:p>
        </p:txBody>
      </p:sp>
      <p:pic>
        <p:nvPicPr>
          <p:cNvPr id="1478" name="Google Shape;147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843" y="1972475"/>
            <a:ext cx="4018326" cy="20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error draws from three sources</a:t>
            </a:r>
            <a:endParaRPr/>
          </a:p>
        </p:txBody>
      </p:sp>
      <p:pic>
        <p:nvPicPr>
          <p:cNvPr id="1488" name="Google Shape;148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04875"/>
            <a:ext cx="8839199" cy="3237648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WARNING: Not mathematically same objects as MSE.</a:t>
            </a:r>
            <a:endParaRPr/>
          </a:p>
        </p:txBody>
      </p:sp>
      <p:pic>
        <p:nvPicPr>
          <p:cNvPr id="1494" name="Google Shape;149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060416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72"/>
          <p:cNvSpPr/>
          <p:nvPr/>
        </p:nvSpPr>
        <p:spPr>
          <a:xfrm>
            <a:off x="-123025" y="1012025"/>
            <a:ext cx="9747300" cy="4421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00" name="Google Shape;1500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</a:t>
            </a:r>
            <a:r>
              <a:rPr lang="en"/>
              <a:t> General</a:t>
            </a:r>
            <a:endParaRPr/>
          </a:p>
        </p:txBody>
      </p:sp>
      <p:pic>
        <p:nvPicPr>
          <p:cNvPr id="1501" name="Google Shape;150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436275"/>
            <a:ext cx="8839204" cy="1135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2" name="Google Shape;1502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832925"/>
            <a:ext cx="8839197" cy="1041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7" name="Google Shape;150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825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thew McDermott Research Slid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9BAEBC"/>
      </a:lt2>
      <a:accent1>
        <a:srgbClr val="87B0CD"/>
      </a:accent1>
      <a:accent2>
        <a:srgbClr val="1B303D"/>
      </a:accent2>
      <a:accent3>
        <a:srgbClr val="677987"/>
      </a:accent3>
      <a:accent4>
        <a:srgbClr val="3C2734"/>
      </a:accent4>
      <a:accent5>
        <a:srgbClr val="6C5563"/>
      </a:accent5>
      <a:accent6>
        <a:srgbClr val="EB9928"/>
      </a:accent6>
      <a:hlink>
        <a:srgbClr val="00A3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